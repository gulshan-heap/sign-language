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72" r:id="rId12"/>
    <p:sldId id="271" r:id="rId13"/>
    <p:sldId id="266" r:id="rId14"/>
    <p:sldId id="267" r:id="rId15"/>
    <p:sldId id="268" r:id="rId16"/>
    <p:sldId id="269" r:id="rId17"/>
    <p:sldId id="270"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1970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and introduce the team. This project recognises a limited vocabulary of ASL and ISL signs from a webcam or an uploaded video and turns them into words, letters and a spoken sentence. Fill in the bracketed placeholders on this slide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motivation: interpreters are not always available. Our approach uses only a webcam and runs locally on a laptop CPU. Walk through the three boxes: input, processing, output.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Emphasise that the system is intentionally small and runs locally: the word classifier is a transformer of roughly 1.7 MB and needs no GPU for inference.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scope. We trained on a limited set of signs: 23 ASL words, 51 ISL words and the ASL alphabet with space and delete keys. The system does not translate arbitrary sentences; unknown signs are matched to the nearest known sign.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out a few of the ASL words and a few of the ISL examples. The complete ISL list of 51 signs is in the repository file models/isl_words.json, so add more examples here if the panel asks.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MediaPipe gives 67 keypoints per frame (pose points 0 to 24 plus 21 points on each hand); missing parts are stored as NaN. The WordSegmenter decides when a sign starts and ends. Words and letters then follow separate paths. The browser sends about 13 frames per second to a Flask server that does the tracking and decoding.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word transformer is trained with PyTorch but exported to plain numpy for inference. The outputs match to about 1e-7 and use roughly 175 MB less memory, which is why the hosted version does not need PyTorch.</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public datasets. The ISL model uses only the INCLUDE-50 subset, about 955 videos, so each sign has roughly 14 clips. The extraction script downloads only those videos (about 12 GB, never the full 56 GB archive), extracts keypoints and deletes each video. Datasets are credited on the final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Top-1 means the correct word is the first prediction; top-3 means it is among the three suggestions shown to the user. Be honest about the caveat: these numbers come from held-out clips of the same controlled datasets used for training, so live webcam accuracy will usually be lower. ISL is trained on only about 14 clips per sign.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slide to switch to a live demo. Show the language and mode toggles at the top, sign one word in auto mode, then show the top-3 suggestions and the sentence builder. The dashboard runs locally at http://localhost:5001.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is done on Kaggle or Colab and only small keypoint files are involved. After retraining, run tools/export_words_np.py to convert the weights for the server. Running locally is more reliable for demos because the hosted version sends every frame to the server.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Presenting limitations openly shows an understanding of the system. The word model measures hand positions relative to the shoulders, which is why the shoulders must stay in view. The hosted server keeps a single shared detection session, so concurrent visitors would interfere with each other.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proposed next steps that follow from the limitations on the previous slide. Edit this list to match what your team actually plans to do.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one breath: two languages, a deliberately limited vocabulary, a lightweight CPU-only design, strong offline accuracy and an honest view of the limits. Then move to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credit the datasets and tools, and invite questions. The repository link is in the footer.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2202E"/>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12202E"/>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12202E"/>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12202E"/>
                </a:solidFill>
                <a:latin typeface="Inter" pitchFamily="34" charset="0"/>
                <a:ea typeface="Inter" pitchFamily="34" charset="-122"/>
                <a:cs typeface="Inter"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4.jpg"/><Relationship Id="rId3" Type="http://schemas.microsoft.com/office/2007/relationships/media" Target="../media/media2.mp4"/><Relationship Id="rId7" Type="http://schemas.openxmlformats.org/officeDocument/2006/relationships/image" Target="../media/image3.jp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12.xml.rels><?xml version="1.0" encoding="UTF-8" standalone="yes"?>
<Relationships xmlns="http://schemas.openxmlformats.org/package/2006/relationships"><Relationship Id="rId8" Type="http://schemas.openxmlformats.org/officeDocument/2006/relationships/image" Target="../media/image6.jpg"/><Relationship Id="rId3" Type="http://schemas.microsoft.com/office/2007/relationships/media" Target="../media/media4.mp4"/><Relationship Id="rId7" Type="http://schemas.openxmlformats.org/officeDocument/2006/relationships/image" Target="../media/image5.jpg"/><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video" Target="../media/media4.mp4"/></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kern="0" spc="200" dirty="0">
                <a:solidFill>
                  <a:srgbClr val="E8A93B"/>
                </a:solidFill>
                <a:latin typeface="Inter" pitchFamily="34" charset="0"/>
                <a:ea typeface="Inter" pitchFamily="34" charset="-122"/>
                <a:cs typeface="Inter" pitchFamily="34" charset="-120"/>
              </a:rPr>
              <a:t>PROJECT PRESENTATION</a:t>
            </a:r>
            <a:endParaRPr lang="en-US" sz="1400" dirty="0"/>
          </a:p>
        </p:txBody>
      </p:sp>
      <p:sp>
        <p:nvSpPr>
          <p:cNvPr id="3" name="Text 1"/>
          <p:cNvSpPr>
            <a:spLocks noGrp="1"/>
          </p:cNvSpPr>
          <p:nvPr>
            <p:ph type="title"/>
          </p:nvPr>
        </p:nvSpPr>
        <p:spPr>
          <a:xfrm>
            <a:off x="812800" y="2045970"/>
            <a:ext cx="10883392" cy="1813560"/>
          </a:xfrm>
          <a:prstGeom prst="rect">
            <a:avLst/>
          </a:prstGeom>
          <a:noFill/>
          <a:ln/>
        </p:spPr>
        <p:txBody>
          <a:bodyPr wrap="square" lIns="0" tIns="0" rIns="0" bIns="0" rtlCol="0" anchor="t">
            <a:normAutofit/>
          </a:bodyPr>
          <a:lstStyle/>
          <a:p>
            <a:pPr marL="0" indent="0" algn="l">
              <a:lnSpc>
                <a:spcPts val="7040"/>
              </a:lnSpc>
              <a:buNone/>
            </a:pPr>
            <a:r>
              <a:rPr lang="en-US" sz="6000" b="0" i="0" dirty="0">
                <a:solidFill>
                  <a:srgbClr val="F6F4EF"/>
                </a:solidFill>
                <a:latin typeface="Source Serif 4" pitchFamily="18" charset="0"/>
                <a:ea typeface="Source Serif 4" pitchFamily="18" charset="-122"/>
                <a:cs typeface="Source Serif 4" pitchFamily="18" charset="-120"/>
              </a:rPr>
              <a:t>Real-Time Sign Language Recognition</a:t>
            </a:r>
            <a:endParaRPr lang="en-US" sz="6000" dirty="0"/>
          </a:p>
        </p:txBody>
      </p:sp>
      <p:sp>
        <p:nvSpPr>
          <p:cNvPr id="4" name="Text 2"/>
          <p:cNvSpPr/>
          <p:nvPr/>
        </p:nvSpPr>
        <p:spPr>
          <a:xfrm>
            <a:off x="812800" y="408813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B9C3CC"/>
                </a:solidFill>
                <a:latin typeface="Inter" pitchFamily="34" charset="0"/>
                <a:ea typeface="Inter" pitchFamily="34" charset="-122"/>
                <a:cs typeface="Inter" pitchFamily="34" charset="-120"/>
              </a:rPr>
              <a:t>American (ASL) and Indian (ISL) Sign Language to text and speech, in the browser</a:t>
            </a:r>
            <a:endParaRPr lang="en-US" sz="2000" dirty="0"/>
          </a:p>
        </p:txBody>
      </p:sp>
      <p:pic>
        <p:nvPicPr>
          <p:cNvPr id="5" name="Image 0" descr="line"/>
          <p:cNvPicPr>
            <a:picLocks noChangeAspect="1"/>
          </p:cNvPicPr>
          <p:nvPr/>
        </p:nvPicPr>
        <p:blipFill>
          <a:blip r:embed="rId3"/>
          <a:srcRect/>
          <a:stretch/>
        </p:blipFill>
        <p:spPr>
          <a:xfrm>
            <a:off x="812800" y="5427980"/>
            <a:ext cx="1016000" cy="12700"/>
          </a:xfrm>
          <a:prstGeom prst="rect">
            <a:avLst/>
          </a:prstGeom>
        </p:spPr>
      </p:pic>
      <p:sp>
        <p:nvSpPr>
          <p:cNvPr id="6" name="Text 3"/>
          <p:cNvSpPr/>
          <p:nvPr/>
        </p:nvSpPr>
        <p:spPr>
          <a:xfrm>
            <a:off x="812800" y="4917233"/>
            <a:ext cx="10883392" cy="1418253"/>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3CC"/>
                </a:solidFill>
                <a:latin typeface="Inter" pitchFamily="34" charset="0"/>
                <a:ea typeface="Inter" pitchFamily="34" charset="-122"/>
                <a:cs typeface="Inter" pitchFamily="34" charset="-120"/>
              </a:rPr>
              <a:t>Animesh raj – 24126004</a:t>
            </a:r>
          </a:p>
          <a:p>
            <a:pPr>
              <a:lnSpc>
                <a:spcPts val="1960"/>
              </a:lnSpc>
            </a:pPr>
            <a:r>
              <a:rPr lang="en-US" sz="1400" dirty="0">
                <a:solidFill>
                  <a:srgbClr val="B9C3CC"/>
                </a:solidFill>
                <a:latin typeface="Inter" pitchFamily="34" charset="0"/>
                <a:ea typeface="Inter" pitchFamily="34" charset="-122"/>
                <a:cs typeface="Inter" pitchFamily="34" charset="-120"/>
              </a:rPr>
              <a:t>Gulshan </a:t>
            </a:r>
            <a:r>
              <a:rPr lang="en-US" sz="1400" dirty="0" err="1">
                <a:solidFill>
                  <a:srgbClr val="B9C3CC"/>
                </a:solidFill>
                <a:latin typeface="Inter" pitchFamily="34" charset="0"/>
                <a:ea typeface="Inter" pitchFamily="34" charset="-122"/>
                <a:cs typeface="Inter" pitchFamily="34" charset="-120"/>
              </a:rPr>
              <a:t>kumar</a:t>
            </a:r>
            <a:r>
              <a:rPr lang="en-US" sz="1400" dirty="0">
                <a:solidFill>
                  <a:srgbClr val="B9C3CC"/>
                </a:solidFill>
                <a:latin typeface="Inter" pitchFamily="34" charset="0"/>
                <a:ea typeface="Inter" pitchFamily="34" charset="-122"/>
                <a:cs typeface="Inter" pitchFamily="34" charset="-120"/>
              </a:rPr>
              <a:t>  - 24126011</a:t>
            </a:r>
          </a:p>
          <a:p>
            <a:pPr marL="0" indent="0" algn="l">
              <a:lnSpc>
                <a:spcPts val="1960"/>
              </a:lnSpc>
              <a:buNone/>
            </a:pPr>
            <a:r>
              <a:rPr lang="en-US" sz="1400" dirty="0">
                <a:solidFill>
                  <a:srgbClr val="B9C3CC"/>
                </a:solidFill>
                <a:latin typeface="Inter" pitchFamily="34" charset="0"/>
                <a:ea typeface="Inter" pitchFamily="34" charset="-122"/>
                <a:cs typeface="Inter" pitchFamily="34" charset="-120"/>
              </a:rPr>
              <a:t>Mangalarapu sumanth - 24126026</a:t>
            </a:r>
          </a:p>
          <a:p>
            <a:pPr marL="0" indent="0" algn="l">
              <a:lnSpc>
                <a:spcPts val="1960"/>
              </a:lnSpc>
              <a:buNone/>
            </a:pPr>
            <a:r>
              <a:rPr lang="en-US" sz="1400" dirty="0">
                <a:solidFill>
                  <a:srgbClr val="B9C3CC"/>
                </a:solidFill>
                <a:latin typeface="Inter" pitchFamily="34" charset="0"/>
                <a:ea typeface="Inter" pitchFamily="34" charset="-122"/>
                <a:cs typeface="Inter" pitchFamily="34" charset="-120"/>
              </a:rPr>
              <a:t>[ELECTRICAL ENGINEERING ] </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202E"/>
                </a:solidFill>
                <a:latin typeface="Source Serif 4" pitchFamily="18" charset="0"/>
                <a:ea typeface="Source Serif 4" pitchFamily="18" charset="-122"/>
                <a:cs typeface="Source Serif 4" pitchFamily="18" charset="-120"/>
              </a:rPr>
              <a:t>Problem Statement</a:t>
            </a:r>
            <a:endParaRPr lang="en-US" sz="3600" dirty="0"/>
          </a:p>
        </p:txBody>
      </p:sp>
      <p:sp>
        <p:nvSpPr>
          <p:cNvPr id="3" name="Text 1"/>
          <p:cNvSpPr/>
          <p:nvPr/>
        </p:nvSpPr>
        <p:spPr>
          <a:xfrm>
            <a:off x="812800" y="1554480"/>
            <a:ext cx="9810750" cy="1721744"/>
          </a:xfrm>
          <a:prstGeom prst="rect">
            <a:avLst/>
          </a:prstGeom>
          <a:noFill/>
          <a:ln/>
        </p:spPr>
        <p:txBody>
          <a:bodyPr wrap="square" lIns="0" tIns="0" rIns="0" bIns="0" rtlCol="0" anchor="t"/>
          <a:lstStyle/>
          <a:p>
            <a:pPr marL="0" indent="0" algn="l">
              <a:lnSpc>
                <a:spcPts val="3360"/>
              </a:lnSpc>
              <a:buNone/>
            </a:pPr>
            <a:r>
              <a:rPr lang="en-US" sz="2400" dirty="0">
                <a:solidFill>
                  <a:srgbClr val="12202E"/>
                </a:solidFill>
                <a:latin typeface="Inter" pitchFamily="34" charset="0"/>
                <a:ea typeface="Inter" pitchFamily="34" charset="-122"/>
                <a:cs typeface="Inter" pitchFamily="34" charset="-120"/>
              </a:rPr>
              <a:t>Communication between sign language users and people who do not sign usually depends on a human interpreter. This project tests whether a webcam and an ordinary laptop are enough to translate signs into text and speech.</a:t>
            </a:r>
            <a:endParaRPr lang="en-US" sz="2400" dirty="0"/>
          </a:p>
        </p:txBody>
      </p:sp>
      <p:sp>
        <p:nvSpPr>
          <p:cNvPr id="4" name="Shape 2"/>
          <p:cNvSpPr/>
          <p:nvPr/>
        </p:nvSpPr>
        <p:spPr>
          <a:xfrm>
            <a:off x="741330" y="3798815"/>
            <a:ext cx="3380264" cy="2096123"/>
          </a:xfrm>
          <a:prstGeom prst="roundRect">
            <a:avLst>
              <a:gd name="adj" fmla="val 7402"/>
            </a:avLst>
          </a:prstGeom>
          <a:solidFill>
            <a:srgbClr val="FBFAF6"/>
          </a:solidFill>
          <a:ln w="6350">
            <a:solidFill>
              <a:srgbClr val="DCD8CC"/>
            </a:solidFill>
            <a:prstDash val="solid"/>
          </a:ln>
        </p:spPr>
        <p:txBody>
          <a:bodyPr/>
          <a:lstStyle/>
          <a:p>
            <a:endParaRPr/>
          </a:p>
        </p:txBody>
      </p:sp>
      <p:sp>
        <p:nvSpPr>
          <p:cNvPr id="5" name="Text 3"/>
          <p:cNvSpPr/>
          <p:nvPr/>
        </p:nvSpPr>
        <p:spPr>
          <a:xfrm>
            <a:off x="1071880" y="4205165"/>
            <a:ext cx="2954507" cy="1509834"/>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Input</a:t>
            </a:r>
            <a:endParaRPr lang="en-US" sz="1900" dirty="0"/>
          </a:p>
        </p:txBody>
      </p:sp>
      <p:sp>
        <p:nvSpPr>
          <p:cNvPr id="6" name="Text 4"/>
          <p:cNvSpPr/>
          <p:nvPr/>
        </p:nvSpPr>
        <p:spPr>
          <a:xfrm>
            <a:off x="1071880" y="4709676"/>
            <a:ext cx="2954507" cy="1005323"/>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Live webcam or an uploaded video clip</a:t>
            </a:r>
            <a:endParaRPr lang="en-US" sz="1700" dirty="0"/>
          </a:p>
        </p:txBody>
      </p:sp>
      <p:sp>
        <p:nvSpPr>
          <p:cNvPr id="7" name="Shape 5"/>
          <p:cNvSpPr/>
          <p:nvPr/>
        </p:nvSpPr>
        <p:spPr>
          <a:xfrm>
            <a:off x="4405789" y="3801756"/>
            <a:ext cx="3380343" cy="2096123"/>
          </a:xfrm>
          <a:prstGeom prst="roundRect">
            <a:avLst>
              <a:gd name="adj" fmla="val 7402"/>
            </a:avLst>
          </a:prstGeom>
          <a:solidFill>
            <a:srgbClr val="FBFAF6"/>
          </a:solidFill>
          <a:ln w="6350">
            <a:solidFill>
              <a:srgbClr val="DCD8CC"/>
            </a:solidFill>
            <a:prstDash val="solid"/>
          </a:ln>
        </p:spPr>
        <p:txBody>
          <a:bodyPr/>
          <a:lstStyle/>
          <a:p>
            <a:endParaRPr/>
          </a:p>
        </p:txBody>
      </p:sp>
      <p:sp>
        <p:nvSpPr>
          <p:cNvPr id="8" name="Text 6"/>
          <p:cNvSpPr/>
          <p:nvPr/>
        </p:nvSpPr>
        <p:spPr>
          <a:xfrm>
            <a:off x="4661694" y="4205165"/>
            <a:ext cx="2954589" cy="1509834"/>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Processing</a:t>
            </a:r>
            <a:endParaRPr lang="en-US" sz="1900" dirty="0"/>
          </a:p>
        </p:txBody>
      </p:sp>
      <p:sp>
        <p:nvSpPr>
          <p:cNvPr id="9" name="Text 7"/>
          <p:cNvSpPr/>
          <p:nvPr/>
        </p:nvSpPr>
        <p:spPr>
          <a:xfrm>
            <a:off x="4661694" y="4709676"/>
            <a:ext cx="2954589" cy="1005323"/>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Hand and body landmarks, decoded on the CPU</a:t>
            </a:r>
            <a:endParaRPr lang="en-US" sz="1700" dirty="0"/>
          </a:p>
        </p:txBody>
      </p:sp>
      <p:sp>
        <p:nvSpPr>
          <p:cNvPr id="10" name="Shape 8"/>
          <p:cNvSpPr/>
          <p:nvPr/>
        </p:nvSpPr>
        <p:spPr>
          <a:xfrm>
            <a:off x="7995682" y="3801756"/>
            <a:ext cx="3380343" cy="2096123"/>
          </a:xfrm>
          <a:prstGeom prst="roundRect">
            <a:avLst>
              <a:gd name="adj" fmla="val 7402"/>
            </a:avLst>
          </a:prstGeom>
          <a:solidFill>
            <a:srgbClr val="FBFAF6"/>
          </a:solidFill>
          <a:ln w="6350">
            <a:solidFill>
              <a:srgbClr val="DCD8CC"/>
            </a:solidFill>
            <a:prstDash val="solid"/>
          </a:ln>
        </p:spPr>
        <p:txBody>
          <a:bodyPr/>
          <a:lstStyle/>
          <a:p>
            <a:endParaRPr/>
          </a:p>
        </p:txBody>
      </p:sp>
      <p:sp>
        <p:nvSpPr>
          <p:cNvPr id="11" name="Text 9"/>
          <p:cNvSpPr/>
          <p:nvPr/>
        </p:nvSpPr>
        <p:spPr>
          <a:xfrm>
            <a:off x="8251587" y="4205165"/>
            <a:ext cx="2954589" cy="1509834"/>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Output</a:t>
            </a:r>
            <a:endParaRPr lang="en-US" sz="1900" dirty="0"/>
          </a:p>
        </p:txBody>
      </p:sp>
      <p:sp>
        <p:nvSpPr>
          <p:cNvPr id="12" name="Text 10"/>
          <p:cNvSpPr/>
          <p:nvPr/>
        </p:nvSpPr>
        <p:spPr>
          <a:xfrm>
            <a:off x="8251587" y="4709676"/>
            <a:ext cx="2954589" cy="1005323"/>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Words, letters, a sentence and speech</a:t>
            </a:r>
            <a:endParaRPr lang="en-US" sz="1700" dirty="0"/>
          </a:p>
        </p:txBody>
      </p:sp>
      <p:sp>
        <p:nvSpPr>
          <p:cNvPr id="13" name="Text 11"/>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Inter" pitchFamily="34" charset="0"/>
                <a:ea typeface="Inter" pitchFamily="34" charset="-122"/>
                <a:cs typeface="Inter" pitchFamily="34" charset="-120"/>
              </a:rPr>
              <a:t>Sign Language Recognition (ASL + ISL)</a:t>
            </a:r>
            <a:endParaRPr lang="en-US" sz="1200" dirty="0"/>
          </a:p>
        </p:txBody>
      </p:sp>
      <p:sp>
        <p:nvSpPr>
          <p:cNvPr id="14" name="Text 12"/>
          <p:cNvSpPr/>
          <p:nvPr/>
        </p:nvSpPr>
        <p:spPr>
          <a:xfrm>
            <a:off x="10566400" y="62382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202E"/>
                </a:solidFill>
                <a:latin typeface="Source Serif 4" pitchFamily="18" charset="0"/>
                <a:ea typeface="Source Serif 4" pitchFamily="18" charset="-122"/>
                <a:cs typeface="Source Serif 4" pitchFamily="18" charset="-120"/>
              </a:rPr>
              <a:t>Objectives</a:t>
            </a:r>
            <a:endParaRPr lang="en-US" sz="3600" dirty="0"/>
          </a:p>
        </p:txBody>
      </p:sp>
      <p:sp>
        <p:nvSpPr>
          <p:cNvPr id="3" name="Shape 1"/>
          <p:cNvSpPr/>
          <p:nvPr/>
        </p:nvSpPr>
        <p:spPr>
          <a:xfrm>
            <a:off x="815975" y="1554480"/>
            <a:ext cx="5175250" cy="2016376"/>
          </a:xfrm>
          <a:prstGeom prst="roundRect">
            <a:avLst>
              <a:gd name="adj" fmla="val 7236"/>
            </a:avLst>
          </a:prstGeom>
          <a:solidFill>
            <a:srgbClr val="FBFAF6"/>
          </a:solidFill>
          <a:ln w="6350">
            <a:solidFill>
              <a:srgbClr val="DCD8CC"/>
            </a:solidFill>
            <a:prstDash val="solid"/>
          </a:ln>
        </p:spPr>
        <p:txBody>
          <a:bodyPr/>
          <a:lstStyle/>
          <a:p>
            <a:endParaRPr/>
          </a:p>
        </p:txBody>
      </p:sp>
      <p:sp>
        <p:nvSpPr>
          <p:cNvPr id="4" name="Text 2"/>
          <p:cNvSpPr/>
          <p:nvPr/>
        </p:nvSpPr>
        <p:spPr>
          <a:xfrm>
            <a:off x="1071880" y="1933844"/>
            <a:ext cx="4803343" cy="1454132"/>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1. Recognise two languages</a:t>
            </a:r>
            <a:endParaRPr lang="en-US" sz="2200" dirty="0"/>
          </a:p>
        </p:txBody>
      </p:sp>
      <p:sp>
        <p:nvSpPr>
          <p:cNvPr id="5" name="Text 3"/>
          <p:cNvSpPr/>
          <p:nvPr/>
        </p:nvSpPr>
        <p:spPr>
          <a:xfrm>
            <a:off x="1071880" y="2453471"/>
            <a:ext cx="4803343" cy="934505"/>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Decode ASL and ISL words in a single dashboard, plus ASL fingerspelling.</a:t>
            </a:r>
            <a:endParaRPr lang="en-US" sz="1700" dirty="0"/>
          </a:p>
        </p:txBody>
      </p:sp>
      <p:sp>
        <p:nvSpPr>
          <p:cNvPr id="6" name="Shape 4"/>
          <p:cNvSpPr/>
          <p:nvPr/>
        </p:nvSpPr>
        <p:spPr>
          <a:xfrm>
            <a:off x="6200775" y="1554480"/>
            <a:ext cx="5175250" cy="2016376"/>
          </a:xfrm>
          <a:prstGeom prst="roundRect">
            <a:avLst>
              <a:gd name="adj" fmla="val 7236"/>
            </a:avLst>
          </a:prstGeom>
          <a:solidFill>
            <a:srgbClr val="FBFAF6"/>
          </a:solidFill>
          <a:ln w="6350">
            <a:solidFill>
              <a:srgbClr val="DCD8CC"/>
            </a:solidFill>
            <a:prstDash val="solid"/>
          </a:ln>
        </p:spPr>
        <p:txBody>
          <a:bodyPr/>
          <a:lstStyle/>
          <a:p>
            <a:endParaRPr/>
          </a:p>
        </p:txBody>
      </p:sp>
      <p:sp>
        <p:nvSpPr>
          <p:cNvPr id="7" name="Text 5"/>
          <p:cNvSpPr/>
          <p:nvPr/>
        </p:nvSpPr>
        <p:spPr>
          <a:xfrm>
            <a:off x="6456680" y="1933844"/>
            <a:ext cx="4803343" cy="1454132"/>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2. Work in real time</a:t>
            </a:r>
            <a:endParaRPr lang="en-US" sz="2200" dirty="0"/>
          </a:p>
        </p:txBody>
      </p:sp>
      <p:sp>
        <p:nvSpPr>
          <p:cNvPr id="8" name="Text 6"/>
          <p:cNvSpPr/>
          <p:nvPr/>
        </p:nvSpPr>
        <p:spPr>
          <a:xfrm>
            <a:off x="6456680" y="2453471"/>
            <a:ext cx="4803343" cy="934505"/>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Detect where a sign starts and ends automatically from the live camera feed.</a:t>
            </a:r>
            <a:endParaRPr lang="en-US" sz="1700" dirty="0"/>
          </a:p>
        </p:txBody>
      </p:sp>
      <p:sp>
        <p:nvSpPr>
          <p:cNvPr id="9" name="Shape 7"/>
          <p:cNvSpPr/>
          <p:nvPr/>
        </p:nvSpPr>
        <p:spPr>
          <a:xfrm>
            <a:off x="815975" y="3881503"/>
            <a:ext cx="5175250" cy="2016376"/>
          </a:xfrm>
          <a:prstGeom prst="roundRect">
            <a:avLst>
              <a:gd name="adj" fmla="val 7236"/>
            </a:avLst>
          </a:prstGeom>
          <a:solidFill>
            <a:srgbClr val="FBFAF6"/>
          </a:solidFill>
          <a:ln w="6350">
            <a:solidFill>
              <a:srgbClr val="DCD8CC"/>
            </a:solidFill>
            <a:prstDash val="solid"/>
          </a:ln>
        </p:spPr>
        <p:txBody>
          <a:bodyPr/>
          <a:lstStyle/>
          <a:p>
            <a:endParaRPr/>
          </a:p>
        </p:txBody>
      </p:sp>
      <p:sp>
        <p:nvSpPr>
          <p:cNvPr id="10" name="Text 8"/>
          <p:cNvSpPr/>
          <p:nvPr/>
        </p:nvSpPr>
        <p:spPr>
          <a:xfrm>
            <a:off x="1071880" y="4260867"/>
            <a:ext cx="4803343" cy="1454132"/>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3. Stay lightweight</a:t>
            </a:r>
            <a:endParaRPr lang="en-US" sz="2200" dirty="0"/>
          </a:p>
        </p:txBody>
      </p:sp>
      <p:sp>
        <p:nvSpPr>
          <p:cNvPr id="11" name="Text 9"/>
          <p:cNvSpPr/>
          <p:nvPr/>
        </p:nvSpPr>
        <p:spPr>
          <a:xfrm>
            <a:off x="1071880" y="4780495"/>
            <a:ext cx="4803343" cy="934504"/>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Run on a CPU with no GPU at inference time, using a word model of about 1.7 MB.</a:t>
            </a:r>
            <a:endParaRPr lang="en-US" sz="1700" dirty="0"/>
          </a:p>
        </p:txBody>
      </p:sp>
      <p:sp>
        <p:nvSpPr>
          <p:cNvPr id="12" name="Shape 10"/>
          <p:cNvSpPr/>
          <p:nvPr/>
        </p:nvSpPr>
        <p:spPr>
          <a:xfrm>
            <a:off x="6200775" y="3881503"/>
            <a:ext cx="5175250" cy="2016376"/>
          </a:xfrm>
          <a:prstGeom prst="roundRect">
            <a:avLst>
              <a:gd name="adj" fmla="val 7236"/>
            </a:avLst>
          </a:prstGeom>
          <a:solidFill>
            <a:srgbClr val="FBFAF6"/>
          </a:solidFill>
          <a:ln w="6350">
            <a:solidFill>
              <a:srgbClr val="DCD8CC"/>
            </a:solidFill>
            <a:prstDash val="solid"/>
          </a:ln>
        </p:spPr>
        <p:txBody>
          <a:bodyPr/>
          <a:lstStyle/>
          <a:p>
            <a:endParaRPr/>
          </a:p>
        </p:txBody>
      </p:sp>
      <p:sp>
        <p:nvSpPr>
          <p:cNvPr id="13" name="Text 11"/>
          <p:cNvSpPr/>
          <p:nvPr/>
        </p:nvSpPr>
        <p:spPr>
          <a:xfrm>
            <a:off x="6456680" y="4260867"/>
            <a:ext cx="4803343" cy="1454132"/>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4. Produce usable output</a:t>
            </a:r>
            <a:endParaRPr lang="en-US" sz="2200" dirty="0"/>
          </a:p>
        </p:txBody>
      </p:sp>
      <p:sp>
        <p:nvSpPr>
          <p:cNvPr id="14" name="Text 12"/>
          <p:cNvSpPr/>
          <p:nvPr/>
        </p:nvSpPr>
        <p:spPr>
          <a:xfrm>
            <a:off x="6456680" y="4780495"/>
            <a:ext cx="4803343" cy="934504"/>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Build a sentence that can be copied or read aloud with text-to-speech.</a:t>
            </a:r>
            <a:endParaRPr lang="en-US" sz="1700" dirty="0"/>
          </a:p>
        </p:txBody>
      </p:sp>
      <p:sp>
        <p:nvSpPr>
          <p:cNvPr id="15" name="Text 13"/>
          <p:cNvSpPr/>
          <p:nvPr/>
        </p:nvSpPr>
        <p:spPr>
          <a:xfrm>
            <a:off x="812800" y="6238241"/>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Inter" pitchFamily="34" charset="0"/>
                <a:ea typeface="Inter" pitchFamily="34" charset="-122"/>
                <a:cs typeface="Inter" pitchFamily="34" charset="-120"/>
              </a:rPr>
              <a:t>Sign Language Recognition (ASL + ISL)</a:t>
            </a:r>
            <a:endParaRPr lang="en-US" sz="1200" dirty="0"/>
          </a:p>
        </p:txBody>
      </p:sp>
      <p:sp>
        <p:nvSpPr>
          <p:cNvPr id="16" name="Text 14"/>
          <p:cNvSpPr/>
          <p:nvPr/>
        </p:nvSpPr>
        <p:spPr>
          <a:xfrm>
            <a:off x="10566400" y="6238241"/>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Inter" pitchFamily="34" charset="0"/>
                <a:ea typeface="Inter" pitchFamily="34" charset="-122"/>
                <a:cs typeface="Inte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02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F6F4EF"/>
                </a:solidFill>
                <a:latin typeface="Source Serif 4" pitchFamily="18" charset="0"/>
                <a:ea typeface="Source Serif 4" pitchFamily="18" charset="-122"/>
                <a:cs typeface="Source Serif 4" pitchFamily="18" charset="-120"/>
              </a:rPr>
              <a:t>Scope: A Limited Vocabulary</a:t>
            </a:r>
            <a:endParaRPr lang="en-US" sz="3600" dirty="0"/>
          </a:p>
        </p:txBody>
      </p:sp>
      <p:sp>
        <p:nvSpPr>
          <p:cNvPr id="3" name="Shape 1"/>
          <p:cNvSpPr/>
          <p:nvPr/>
        </p:nvSpPr>
        <p:spPr>
          <a:xfrm>
            <a:off x="812800" y="1671320"/>
            <a:ext cx="3386614" cy="2540000"/>
          </a:xfrm>
          <a:prstGeom prst="roundRect">
            <a:avLst>
              <a:gd name="adj" fmla="val 4000"/>
            </a:avLst>
          </a:prstGeom>
          <a:solidFill>
            <a:srgbClr val="1B2F42"/>
          </a:solidFill>
          <a:ln/>
        </p:spPr>
      </p:sp>
      <p:sp>
        <p:nvSpPr>
          <p:cNvPr id="4" name="Text 2"/>
          <p:cNvSpPr/>
          <p:nvPr/>
        </p:nvSpPr>
        <p:spPr>
          <a:xfrm>
            <a:off x="1117600" y="1976120"/>
            <a:ext cx="2860324" cy="1031240"/>
          </a:xfrm>
          <a:prstGeom prst="rect">
            <a:avLst/>
          </a:prstGeom>
          <a:noFill/>
          <a:ln/>
        </p:spPr>
        <p:txBody>
          <a:bodyPr wrap="square" lIns="0" tIns="0" rIns="0" bIns="0" rtlCol="0" anchor="t">
            <a:normAutofit/>
          </a:bodyPr>
          <a:lstStyle/>
          <a:p>
            <a:pPr marL="0" indent="0" algn="l">
              <a:lnSpc>
                <a:spcPts val="7920"/>
              </a:lnSpc>
              <a:buNone/>
            </a:pPr>
            <a:r>
              <a:rPr lang="en-US" sz="7200" dirty="0">
                <a:solidFill>
                  <a:srgbClr val="E8A93B"/>
                </a:solidFill>
                <a:latin typeface="Source Serif 4" pitchFamily="18" charset="0"/>
                <a:ea typeface="Source Serif 4" pitchFamily="18" charset="-122"/>
                <a:cs typeface="Source Serif 4" pitchFamily="18" charset="-120"/>
              </a:rPr>
              <a:t>23</a:t>
            </a:r>
            <a:endParaRPr lang="en-US" sz="7200" dirty="0"/>
          </a:p>
        </p:txBody>
      </p:sp>
      <p:sp>
        <p:nvSpPr>
          <p:cNvPr id="5" name="Text 3"/>
          <p:cNvSpPr/>
          <p:nvPr/>
        </p:nvSpPr>
        <p:spPr>
          <a:xfrm>
            <a:off x="1117600" y="3058161"/>
            <a:ext cx="2860324"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Inter" pitchFamily="34" charset="0"/>
                <a:ea typeface="Inter" pitchFamily="34" charset="-122"/>
                <a:cs typeface="Inter" pitchFamily="34" charset="-120"/>
              </a:rPr>
              <a:t>ASL words</a:t>
            </a:r>
            <a:endParaRPr lang="en-US" sz="1800" dirty="0"/>
          </a:p>
        </p:txBody>
      </p:sp>
      <p:sp>
        <p:nvSpPr>
          <p:cNvPr id="6" name="Text 4"/>
          <p:cNvSpPr/>
          <p:nvPr/>
        </p:nvSpPr>
        <p:spPr>
          <a:xfrm>
            <a:off x="1117600" y="3408680"/>
            <a:ext cx="2860324"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3CC"/>
                </a:solidFill>
                <a:latin typeface="Inter" pitchFamily="34" charset="0"/>
                <a:ea typeface="Inter" pitchFamily="34" charset="-122"/>
                <a:cs typeface="Inter" pitchFamily="34" charset="-120"/>
              </a:rPr>
              <a:t>Signs the ASL word model knows</a:t>
            </a:r>
            <a:endParaRPr lang="en-US" sz="1400" dirty="0"/>
          </a:p>
        </p:txBody>
      </p:sp>
      <p:sp>
        <p:nvSpPr>
          <p:cNvPr id="7" name="Shape 5"/>
          <p:cNvSpPr/>
          <p:nvPr/>
        </p:nvSpPr>
        <p:spPr>
          <a:xfrm>
            <a:off x="4402614" y="1671320"/>
            <a:ext cx="3386693" cy="2540000"/>
          </a:xfrm>
          <a:prstGeom prst="roundRect">
            <a:avLst>
              <a:gd name="adj" fmla="val 4000"/>
            </a:avLst>
          </a:prstGeom>
          <a:solidFill>
            <a:srgbClr val="1B2F42"/>
          </a:solidFill>
          <a:ln/>
        </p:spPr>
      </p:sp>
      <p:sp>
        <p:nvSpPr>
          <p:cNvPr id="8" name="Text 6"/>
          <p:cNvSpPr/>
          <p:nvPr/>
        </p:nvSpPr>
        <p:spPr>
          <a:xfrm>
            <a:off x="4707414" y="1976120"/>
            <a:ext cx="2860406" cy="1031240"/>
          </a:xfrm>
          <a:prstGeom prst="rect">
            <a:avLst/>
          </a:prstGeom>
          <a:noFill/>
          <a:ln/>
        </p:spPr>
        <p:txBody>
          <a:bodyPr wrap="square" lIns="0" tIns="0" rIns="0" bIns="0" rtlCol="0" anchor="t">
            <a:normAutofit/>
          </a:bodyPr>
          <a:lstStyle/>
          <a:p>
            <a:pPr marL="0" indent="0" algn="l">
              <a:lnSpc>
                <a:spcPts val="7920"/>
              </a:lnSpc>
              <a:buNone/>
            </a:pPr>
            <a:r>
              <a:rPr lang="en-US" sz="7200" dirty="0">
                <a:solidFill>
                  <a:srgbClr val="E8A93B"/>
                </a:solidFill>
                <a:latin typeface="Source Serif 4" pitchFamily="18" charset="0"/>
                <a:ea typeface="Source Serif 4" pitchFamily="18" charset="-122"/>
                <a:cs typeface="Source Serif 4" pitchFamily="18" charset="-120"/>
              </a:rPr>
              <a:t>51</a:t>
            </a:r>
            <a:endParaRPr lang="en-US" sz="7200" dirty="0"/>
          </a:p>
        </p:txBody>
      </p:sp>
      <p:sp>
        <p:nvSpPr>
          <p:cNvPr id="9" name="Text 7"/>
          <p:cNvSpPr/>
          <p:nvPr/>
        </p:nvSpPr>
        <p:spPr>
          <a:xfrm>
            <a:off x="4707414" y="3058161"/>
            <a:ext cx="286040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Inter" pitchFamily="34" charset="0"/>
                <a:ea typeface="Inter" pitchFamily="34" charset="-122"/>
                <a:cs typeface="Inter" pitchFamily="34" charset="-120"/>
              </a:rPr>
              <a:t>ISL words</a:t>
            </a:r>
            <a:endParaRPr lang="en-US" sz="1800" dirty="0"/>
          </a:p>
        </p:txBody>
      </p:sp>
      <p:sp>
        <p:nvSpPr>
          <p:cNvPr id="10" name="Text 8"/>
          <p:cNvSpPr/>
          <p:nvPr/>
        </p:nvSpPr>
        <p:spPr>
          <a:xfrm>
            <a:off x="4707414" y="3408680"/>
            <a:ext cx="308189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3CC"/>
                </a:solidFill>
                <a:latin typeface="Inter" pitchFamily="34" charset="0"/>
                <a:ea typeface="Inter" pitchFamily="34" charset="-122"/>
                <a:cs typeface="Inter" pitchFamily="34" charset="-120"/>
              </a:rPr>
              <a:t>Signs the ISL word model knows</a:t>
            </a:r>
            <a:endParaRPr lang="en-US" sz="1400" dirty="0"/>
          </a:p>
        </p:txBody>
      </p:sp>
      <p:sp>
        <p:nvSpPr>
          <p:cNvPr id="11" name="Shape 9"/>
          <p:cNvSpPr/>
          <p:nvPr/>
        </p:nvSpPr>
        <p:spPr>
          <a:xfrm>
            <a:off x="7992507" y="1671320"/>
            <a:ext cx="3386693" cy="2540000"/>
          </a:xfrm>
          <a:prstGeom prst="roundRect">
            <a:avLst>
              <a:gd name="adj" fmla="val 4000"/>
            </a:avLst>
          </a:prstGeom>
          <a:solidFill>
            <a:srgbClr val="1B2F42"/>
          </a:solidFill>
          <a:ln/>
        </p:spPr>
      </p:sp>
      <p:sp>
        <p:nvSpPr>
          <p:cNvPr id="12" name="Text 10"/>
          <p:cNvSpPr/>
          <p:nvPr/>
        </p:nvSpPr>
        <p:spPr>
          <a:xfrm>
            <a:off x="8297307" y="1976120"/>
            <a:ext cx="2860406" cy="1031240"/>
          </a:xfrm>
          <a:prstGeom prst="rect">
            <a:avLst/>
          </a:prstGeom>
          <a:noFill/>
          <a:ln/>
        </p:spPr>
        <p:txBody>
          <a:bodyPr wrap="square" lIns="0" tIns="0" rIns="0" bIns="0" rtlCol="0" anchor="t">
            <a:normAutofit/>
          </a:bodyPr>
          <a:lstStyle/>
          <a:p>
            <a:pPr marL="0" indent="0" algn="l">
              <a:lnSpc>
                <a:spcPts val="7920"/>
              </a:lnSpc>
              <a:buNone/>
            </a:pPr>
            <a:r>
              <a:rPr lang="en-US" sz="7200" dirty="0">
                <a:solidFill>
                  <a:srgbClr val="E8A93B"/>
                </a:solidFill>
                <a:latin typeface="Source Serif 4" pitchFamily="18" charset="0"/>
                <a:ea typeface="Source Serif 4" pitchFamily="18" charset="-122"/>
                <a:cs typeface="Source Serif 4" pitchFamily="18" charset="-120"/>
              </a:rPr>
              <a:t>28</a:t>
            </a:r>
            <a:endParaRPr lang="en-US" sz="7200" dirty="0"/>
          </a:p>
        </p:txBody>
      </p:sp>
      <p:sp>
        <p:nvSpPr>
          <p:cNvPr id="13" name="Text 11"/>
          <p:cNvSpPr/>
          <p:nvPr/>
        </p:nvSpPr>
        <p:spPr>
          <a:xfrm>
            <a:off x="8297307" y="3058161"/>
            <a:ext cx="2860406"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4EF"/>
                </a:solidFill>
                <a:latin typeface="Inter" pitchFamily="34" charset="0"/>
                <a:ea typeface="Inter" pitchFamily="34" charset="-122"/>
                <a:cs typeface="Inter" pitchFamily="34" charset="-120"/>
              </a:rPr>
              <a:t>ASL letter classes</a:t>
            </a:r>
            <a:endParaRPr lang="en-US" sz="1800" dirty="0"/>
          </a:p>
        </p:txBody>
      </p:sp>
      <p:sp>
        <p:nvSpPr>
          <p:cNvPr id="14" name="Text 12"/>
          <p:cNvSpPr/>
          <p:nvPr/>
        </p:nvSpPr>
        <p:spPr>
          <a:xfrm>
            <a:off x="8297307" y="3408680"/>
            <a:ext cx="2860406"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3CC"/>
                </a:solidFill>
                <a:latin typeface="Inter" pitchFamily="34" charset="0"/>
                <a:ea typeface="Inter" pitchFamily="34" charset="-122"/>
                <a:cs typeface="Inter" pitchFamily="34" charset="-120"/>
              </a:rPr>
              <a:t>A to Z, plus space and delete</a:t>
            </a:r>
            <a:endParaRPr lang="en-US" sz="1400" dirty="0"/>
          </a:p>
        </p:txBody>
      </p:sp>
      <p:sp>
        <p:nvSpPr>
          <p:cNvPr id="15" name="Text 13"/>
          <p:cNvSpPr/>
          <p:nvPr/>
        </p:nvSpPr>
        <p:spPr>
          <a:xfrm>
            <a:off x="812800" y="4566920"/>
            <a:ext cx="981075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3CC"/>
                </a:solidFill>
                <a:latin typeface="Inter" pitchFamily="34" charset="0"/>
                <a:ea typeface="Inter" pitchFamily="34" charset="-122"/>
                <a:cs typeface="Inter" pitchFamily="34" charset="-120"/>
              </a:rPr>
              <a:t>Any sign outside these vocabularies is mapped to the closest known sign. No ISL letter model is included.</a:t>
            </a:r>
            <a:endParaRPr lang="en-US" sz="1600" dirty="0"/>
          </a:p>
        </p:txBody>
      </p:sp>
      <p:sp>
        <p:nvSpPr>
          <p:cNvPr id="16" name="Text 14"/>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CC"/>
                </a:solidFill>
                <a:latin typeface="Inter" pitchFamily="34" charset="0"/>
                <a:ea typeface="Inter" pitchFamily="34" charset="-122"/>
                <a:cs typeface="Inter" pitchFamily="34" charset="-120"/>
              </a:rPr>
              <a:t>Sign Language Recognition (ASL + ISL)</a:t>
            </a:r>
            <a:endParaRPr lang="en-US" sz="1200" dirty="0"/>
          </a:p>
        </p:txBody>
      </p:sp>
      <p:sp>
        <p:nvSpPr>
          <p:cNvPr id="17" name="Text 15"/>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3CC"/>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202E"/>
                </a:solidFill>
                <a:latin typeface="Source Serif 4" pitchFamily="18" charset="0"/>
                <a:ea typeface="Source Serif 4" pitchFamily="18" charset="-122"/>
                <a:cs typeface="Source Serif 4" pitchFamily="18" charset="-120"/>
              </a:rPr>
              <a:t>Vocabulary</a:t>
            </a:r>
            <a:endParaRPr lang="en-US" sz="3600" dirty="0"/>
          </a:p>
        </p:txBody>
      </p:sp>
      <p:sp>
        <p:nvSpPr>
          <p:cNvPr id="3" name="Shape 1"/>
          <p:cNvSpPr/>
          <p:nvPr/>
        </p:nvSpPr>
        <p:spPr>
          <a:xfrm>
            <a:off x="815975" y="1554480"/>
            <a:ext cx="5175250" cy="3761422"/>
          </a:xfrm>
          <a:prstGeom prst="roundRect">
            <a:avLst>
              <a:gd name="adj" fmla="val 4318"/>
            </a:avLst>
          </a:prstGeom>
          <a:solidFill>
            <a:srgbClr val="FBFAF6"/>
          </a:solidFill>
          <a:ln w="6350">
            <a:solidFill>
              <a:srgbClr val="DCD8CC"/>
            </a:solidFill>
            <a:prstDash val="solid"/>
          </a:ln>
        </p:spPr>
        <p:txBody>
          <a:bodyPr/>
          <a:lstStyle/>
          <a:p>
            <a:endParaRPr/>
          </a:p>
        </p:txBody>
      </p:sp>
      <p:sp>
        <p:nvSpPr>
          <p:cNvPr id="4" name="Text 2"/>
          <p:cNvSpPr/>
          <p:nvPr/>
        </p:nvSpPr>
        <p:spPr>
          <a:xfrm>
            <a:off x="1122680" y="2060541"/>
            <a:ext cx="4698695" cy="3072481"/>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ASL words (23)</a:t>
            </a:r>
            <a:endParaRPr lang="en-US" sz="2200" dirty="0"/>
          </a:p>
        </p:txBody>
      </p:sp>
      <p:sp>
        <p:nvSpPr>
          <p:cNvPr id="5" name="Text 3"/>
          <p:cNvSpPr/>
          <p:nvPr/>
        </p:nvSpPr>
        <p:spPr>
          <a:xfrm>
            <a:off x="1122680" y="2722721"/>
            <a:ext cx="4698695" cy="2410301"/>
          </a:xfrm>
          <a:prstGeom prst="rect">
            <a:avLst/>
          </a:prstGeom>
          <a:noFill/>
          <a:ln/>
        </p:spPr>
        <p:txBody>
          <a:bodyPr wrap="square" lIns="0" tIns="0" rIns="0" bIns="0" rtlCol="0" anchor="t"/>
          <a:lstStyle/>
          <a:p>
            <a:pPr marL="0" indent="0" algn="l">
              <a:lnSpc>
                <a:spcPts val="2688"/>
              </a:lnSpc>
              <a:buNone/>
            </a:pPr>
            <a:r>
              <a:rPr lang="en-US" sz="1700" dirty="0">
                <a:solidFill>
                  <a:srgbClr val="12202E"/>
                </a:solidFill>
                <a:latin typeface="Inter" pitchFamily="34" charset="0"/>
                <a:ea typeface="Inter" pitchFamily="34" charset="-122"/>
                <a:cs typeface="Inter" pitchFamily="34" charset="-120"/>
              </a:rPr>
              <a:t>bird, blue, cat, dad, dog, drink, go, green, happy, hello, home, hungry, like, mom, no, please, red, sad, sick, sleep, thankyou, water, yes</a:t>
            </a:r>
            <a:endParaRPr lang="en-US" sz="1700" dirty="0"/>
          </a:p>
        </p:txBody>
      </p:sp>
      <p:sp>
        <p:nvSpPr>
          <p:cNvPr id="6" name="Shape 4"/>
          <p:cNvSpPr/>
          <p:nvPr/>
        </p:nvSpPr>
        <p:spPr>
          <a:xfrm>
            <a:off x="6200775" y="1554480"/>
            <a:ext cx="5175250" cy="3761422"/>
          </a:xfrm>
          <a:prstGeom prst="roundRect">
            <a:avLst>
              <a:gd name="adj" fmla="val 4318"/>
            </a:avLst>
          </a:prstGeom>
          <a:solidFill>
            <a:srgbClr val="FBFAF6"/>
          </a:solidFill>
          <a:ln w="6350">
            <a:solidFill>
              <a:srgbClr val="DCD8CC"/>
            </a:solidFill>
            <a:prstDash val="solid"/>
          </a:ln>
        </p:spPr>
        <p:txBody>
          <a:bodyPr/>
          <a:lstStyle/>
          <a:p>
            <a:endParaRPr/>
          </a:p>
        </p:txBody>
      </p:sp>
      <p:sp>
        <p:nvSpPr>
          <p:cNvPr id="7" name="Text 5"/>
          <p:cNvSpPr/>
          <p:nvPr/>
        </p:nvSpPr>
        <p:spPr>
          <a:xfrm>
            <a:off x="6507480" y="2060541"/>
            <a:ext cx="4698695" cy="3072481"/>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ISL words (51)</a:t>
            </a:r>
            <a:endParaRPr lang="en-US" sz="2200" dirty="0"/>
          </a:p>
        </p:txBody>
      </p:sp>
      <p:sp>
        <p:nvSpPr>
          <p:cNvPr id="8" name="Text 6"/>
          <p:cNvSpPr/>
          <p:nvPr/>
        </p:nvSpPr>
        <p:spPr>
          <a:xfrm>
            <a:off x="6507480" y="2722721"/>
            <a:ext cx="4698695" cy="2410301"/>
          </a:xfrm>
          <a:prstGeom prst="rect">
            <a:avLst/>
          </a:prstGeom>
          <a:noFill/>
          <a:ln/>
        </p:spPr>
        <p:txBody>
          <a:bodyPr wrap="square" lIns="0" tIns="0" rIns="0" bIns="0" rtlCol="0" anchor="t"/>
          <a:lstStyle/>
          <a:p>
            <a:pPr marL="0" indent="0" algn="l">
              <a:lnSpc>
                <a:spcPts val="2688"/>
              </a:lnSpc>
              <a:buNone/>
            </a:pPr>
            <a:r>
              <a:rPr lang="en-US" sz="1700" dirty="0">
                <a:solidFill>
                  <a:srgbClr val="12202E"/>
                </a:solidFill>
                <a:latin typeface="Inter" pitchFamily="34" charset="0"/>
                <a:ea typeface="Inter" pitchFamily="34" charset="-122"/>
                <a:cs typeface="Inter" pitchFamily="34" charset="-120"/>
              </a:rPr>
              <a:t>Examples: hello, thankyou, good, goodmorning, house, car, teacher, white</a:t>
            </a:r>
            <a:endParaRPr lang="en-US" sz="1700" dirty="0"/>
          </a:p>
        </p:txBody>
      </p:sp>
      <p:sp>
        <p:nvSpPr>
          <p:cNvPr id="9" name="Text 7"/>
          <p:cNvSpPr/>
          <p:nvPr/>
        </p:nvSpPr>
        <p:spPr>
          <a:xfrm>
            <a:off x="6507480" y="3871056"/>
            <a:ext cx="4698695" cy="1261966"/>
          </a:xfrm>
          <a:prstGeom prst="rect">
            <a:avLst/>
          </a:prstGeom>
          <a:noFill/>
          <a:ln/>
        </p:spPr>
        <p:txBody>
          <a:bodyPr wrap="square" lIns="0" tIns="0" rIns="0" bIns="0" rtlCol="0" anchor="t"/>
          <a:lstStyle/>
          <a:p>
            <a:pPr marL="0" indent="0" algn="l">
              <a:lnSpc>
                <a:spcPts val="2688"/>
              </a:lnSpc>
              <a:buNone/>
            </a:pPr>
            <a:r>
              <a:rPr lang="en-US" sz="1700" dirty="0">
                <a:solidFill>
                  <a:srgbClr val="55606B"/>
                </a:solidFill>
                <a:latin typeface="Inter" pitchFamily="34" charset="0"/>
                <a:ea typeface="Inter" pitchFamily="34" charset="-122"/>
                <a:cs typeface="Inter" pitchFamily="34" charset="-120"/>
              </a:rPr>
              <a:t>The full list of 51 signs is stored in models/isl_words.json.</a:t>
            </a:r>
            <a:endParaRPr lang="en-US" sz="1700" dirty="0"/>
          </a:p>
        </p:txBody>
      </p:sp>
      <p:sp>
        <p:nvSpPr>
          <p:cNvPr id="10" name="Text 8"/>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Inter" pitchFamily="34" charset="0"/>
                <a:ea typeface="Inter" pitchFamily="34" charset="-122"/>
                <a:cs typeface="Inter" pitchFamily="34" charset="-120"/>
              </a:rPr>
              <a:t>Sign Language Recognition (ASL + ISL)</a:t>
            </a:r>
            <a:endParaRPr lang="en-US" sz="1200" dirty="0"/>
          </a:p>
        </p:txBody>
      </p:sp>
      <p:sp>
        <p:nvSpPr>
          <p:cNvPr id="11" name="Text 9"/>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202E"/>
                </a:solidFill>
                <a:latin typeface="Source Serif 4" pitchFamily="18" charset="0"/>
                <a:ea typeface="Source Serif 4" pitchFamily="18" charset="-122"/>
                <a:cs typeface="Source Serif 4" pitchFamily="18" charset="-120"/>
              </a:rPr>
              <a:t>System Architecture</a:t>
            </a:r>
            <a:endParaRPr lang="en-US" sz="3600" dirty="0"/>
          </a:p>
        </p:txBody>
      </p:sp>
      <p:sp>
        <p:nvSpPr>
          <p:cNvPr id="3" name="Shape 1"/>
          <p:cNvSpPr/>
          <p:nvPr/>
        </p:nvSpPr>
        <p:spPr>
          <a:xfrm>
            <a:off x="815975" y="1709507"/>
            <a:ext cx="1700530" cy="1841621"/>
          </a:xfrm>
          <a:prstGeom prst="roundRect">
            <a:avLst>
              <a:gd name="adj" fmla="val 7169"/>
            </a:avLst>
          </a:prstGeom>
          <a:solidFill>
            <a:srgbClr val="FBFAF6"/>
          </a:solidFill>
          <a:ln w="6350">
            <a:solidFill>
              <a:srgbClr val="DCD8CC"/>
            </a:solidFill>
            <a:prstDash val="solid"/>
          </a:ln>
        </p:spPr>
        <p:txBody>
          <a:bodyPr/>
          <a:lstStyle/>
          <a:p>
            <a:endParaRPr/>
          </a:p>
        </p:txBody>
      </p:sp>
      <p:sp>
        <p:nvSpPr>
          <p:cNvPr id="4" name="Text 2"/>
          <p:cNvSpPr/>
          <p:nvPr/>
        </p:nvSpPr>
        <p:spPr>
          <a:xfrm>
            <a:off x="995680" y="1950573"/>
            <a:ext cx="1391920" cy="1417675"/>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Input</a:t>
            </a:r>
            <a:endParaRPr lang="en-US" sz="1900" dirty="0"/>
          </a:p>
        </p:txBody>
      </p:sp>
      <p:sp>
        <p:nvSpPr>
          <p:cNvPr id="5" name="Text 3"/>
          <p:cNvSpPr/>
          <p:nvPr/>
        </p:nvSpPr>
        <p:spPr>
          <a:xfrm>
            <a:off x="995680" y="2379887"/>
            <a:ext cx="1391920" cy="988361"/>
          </a:xfrm>
          <a:prstGeom prst="rect">
            <a:avLst/>
          </a:prstGeom>
          <a:noFill/>
          <a:ln/>
        </p:spPr>
        <p:txBody>
          <a:bodyPr wrap="square" lIns="0" tIns="0" rIns="0" bIns="0" rtlCol="0" anchor="t"/>
          <a:lstStyle/>
          <a:p>
            <a:pPr marL="0" indent="0" algn="l">
              <a:lnSpc>
                <a:spcPts val="2184"/>
              </a:lnSpc>
              <a:buNone/>
            </a:pPr>
            <a:r>
              <a:rPr lang="en-US" sz="1600" dirty="0">
                <a:solidFill>
                  <a:srgbClr val="55606B"/>
                </a:solidFill>
                <a:latin typeface="Inter" pitchFamily="34" charset="0"/>
                <a:ea typeface="Inter" pitchFamily="34" charset="-122"/>
                <a:cs typeface="Inter" pitchFamily="34" charset="-120"/>
              </a:rPr>
              <a:t>Webcam frame or uploaded video</a:t>
            </a:r>
            <a:endParaRPr lang="en-US" sz="1600" dirty="0"/>
          </a:p>
        </p:txBody>
      </p:sp>
      <p:pic>
        <p:nvPicPr>
          <p:cNvPr id="6" name="Image 0" descr="arrow-right"/>
          <p:cNvPicPr>
            <a:picLocks noChangeAspect="1"/>
          </p:cNvPicPr>
          <p:nvPr/>
        </p:nvPicPr>
        <p:blipFill>
          <a:blip r:embed="rId3"/>
          <a:srcRect/>
          <a:stretch/>
        </p:blipFill>
        <p:spPr>
          <a:xfrm>
            <a:off x="2621280" y="2554119"/>
            <a:ext cx="304800" cy="152400"/>
          </a:xfrm>
          <a:prstGeom prst="rect">
            <a:avLst/>
          </a:prstGeom>
        </p:spPr>
      </p:pic>
      <p:sp>
        <p:nvSpPr>
          <p:cNvPr id="7" name="Shape 4"/>
          <p:cNvSpPr/>
          <p:nvPr/>
        </p:nvSpPr>
        <p:spPr>
          <a:xfrm>
            <a:off x="3030855" y="1554480"/>
            <a:ext cx="1700530" cy="2151681"/>
          </a:xfrm>
          <a:prstGeom prst="roundRect">
            <a:avLst>
              <a:gd name="adj" fmla="val 6136"/>
            </a:avLst>
          </a:prstGeom>
          <a:solidFill>
            <a:srgbClr val="FBFAF6"/>
          </a:solidFill>
          <a:ln w="6350">
            <a:solidFill>
              <a:srgbClr val="DCD8CC"/>
            </a:solidFill>
            <a:prstDash val="solid"/>
          </a:ln>
        </p:spPr>
        <p:txBody>
          <a:bodyPr/>
          <a:lstStyle/>
          <a:p>
            <a:endParaRPr/>
          </a:p>
        </p:txBody>
      </p:sp>
      <p:sp>
        <p:nvSpPr>
          <p:cNvPr id="8" name="Text 5"/>
          <p:cNvSpPr/>
          <p:nvPr/>
        </p:nvSpPr>
        <p:spPr>
          <a:xfrm>
            <a:off x="3210560" y="1795541"/>
            <a:ext cx="1391920" cy="1727740"/>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Landmarks</a:t>
            </a:r>
            <a:endParaRPr lang="en-US" sz="1900" dirty="0"/>
          </a:p>
        </p:txBody>
      </p:sp>
      <p:sp>
        <p:nvSpPr>
          <p:cNvPr id="9" name="Text 6"/>
          <p:cNvSpPr/>
          <p:nvPr/>
        </p:nvSpPr>
        <p:spPr>
          <a:xfrm>
            <a:off x="3210560" y="2224854"/>
            <a:ext cx="1391920" cy="1298427"/>
          </a:xfrm>
          <a:prstGeom prst="rect">
            <a:avLst/>
          </a:prstGeom>
          <a:noFill/>
          <a:ln/>
        </p:spPr>
        <p:txBody>
          <a:bodyPr wrap="square" lIns="0" tIns="0" rIns="0" bIns="0" rtlCol="0" anchor="t"/>
          <a:lstStyle/>
          <a:p>
            <a:pPr marL="0" indent="0" algn="l">
              <a:lnSpc>
                <a:spcPts val="2184"/>
              </a:lnSpc>
              <a:buNone/>
            </a:pPr>
            <a:r>
              <a:rPr lang="en-US" sz="1600" dirty="0">
                <a:solidFill>
                  <a:srgbClr val="55606B"/>
                </a:solidFill>
                <a:latin typeface="Inter" pitchFamily="34" charset="0"/>
                <a:ea typeface="Inter" pitchFamily="34" charset="-122"/>
                <a:cs typeface="Inter" pitchFamily="34" charset="-120"/>
              </a:rPr>
              <a:t>MediaPipe hands and pose, 67 points per frame</a:t>
            </a:r>
            <a:endParaRPr lang="en-US" sz="1600" dirty="0"/>
          </a:p>
        </p:txBody>
      </p:sp>
      <p:pic>
        <p:nvPicPr>
          <p:cNvPr id="10" name="Image 1" descr="arrow-right"/>
          <p:cNvPicPr>
            <a:picLocks noChangeAspect="1"/>
          </p:cNvPicPr>
          <p:nvPr/>
        </p:nvPicPr>
        <p:blipFill>
          <a:blip r:embed="rId3"/>
          <a:srcRect/>
          <a:stretch/>
        </p:blipFill>
        <p:spPr>
          <a:xfrm>
            <a:off x="4836160" y="2554119"/>
            <a:ext cx="304800" cy="152400"/>
          </a:xfrm>
          <a:prstGeom prst="rect">
            <a:avLst/>
          </a:prstGeom>
        </p:spPr>
      </p:pic>
      <p:sp>
        <p:nvSpPr>
          <p:cNvPr id="11" name="Shape 7"/>
          <p:cNvSpPr/>
          <p:nvPr/>
        </p:nvSpPr>
        <p:spPr>
          <a:xfrm>
            <a:off x="5245735" y="1709507"/>
            <a:ext cx="1700530" cy="1841621"/>
          </a:xfrm>
          <a:prstGeom prst="roundRect">
            <a:avLst>
              <a:gd name="adj" fmla="val 7169"/>
            </a:avLst>
          </a:prstGeom>
          <a:solidFill>
            <a:srgbClr val="FBFAF6"/>
          </a:solidFill>
          <a:ln w="6350">
            <a:solidFill>
              <a:srgbClr val="DCD8CC"/>
            </a:solidFill>
            <a:prstDash val="solid"/>
          </a:ln>
        </p:spPr>
        <p:txBody>
          <a:bodyPr/>
          <a:lstStyle/>
          <a:p>
            <a:endParaRPr/>
          </a:p>
        </p:txBody>
      </p:sp>
      <p:sp>
        <p:nvSpPr>
          <p:cNvPr id="12" name="Text 8"/>
          <p:cNvSpPr/>
          <p:nvPr/>
        </p:nvSpPr>
        <p:spPr>
          <a:xfrm>
            <a:off x="5425440" y="1950573"/>
            <a:ext cx="1391920" cy="1417675"/>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Segmenter</a:t>
            </a:r>
            <a:endParaRPr lang="en-US" sz="1900" dirty="0"/>
          </a:p>
        </p:txBody>
      </p:sp>
      <p:sp>
        <p:nvSpPr>
          <p:cNvPr id="13" name="Text 9"/>
          <p:cNvSpPr/>
          <p:nvPr/>
        </p:nvSpPr>
        <p:spPr>
          <a:xfrm>
            <a:off x="5425440" y="2379887"/>
            <a:ext cx="1391920" cy="988361"/>
          </a:xfrm>
          <a:prstGeom prst="rect">
            <a:avLst/>
          </a:prstGeom>
          <a:noFill/>
          <a:ln/>
        </p:spPr>
        <p:txBody>
          <a:bodyPr wrap="square" lIns="0" tIns="0" rIns="0" bIns="0" rtlCol="0" anchor="t"/>
          <a:lstStyle/>
          <a:p>
            <a:pPr marL="0" indent="0" algn="l">
              <a:lnSpc>
                <a:spcPts val="2184"/>
              </a:lnSpc>
              <a:buNone/>
            </a:pPr>
            <a:r>
              <a:rPr lang="en-US" sz="1600" dirty="0">
                <a:solidFill>
                  <a:srgbClr val="55606B"/>
                </a:solidFill>
                <a:latin typeface="Inter" pitchFamily="34" charset="0"/>
                <a:ea typeface="Inter" pitchFamily="34" charset="-122"/>
                <a:cs typeface="Inter" pitchFamily="34" charset="-120"/>
              </a:rPr>
              <a:t>Cuts the stream into individual signs</a:t>
            </a:r>
            <a:endParaRPr lang="en-US" sz="1600" dirty="0"/>
          </a:p>
        </p:txBody>
      </p:sp>
      <p:pic>
        <p:nvPicPr>
          <p:cNvPr id="14" name="Image 2" descr="arrow-right"/>
          <p:cNvPicPr>
            <a:picLocks noChangeAspect="1"/>
          </p:cNvPicPr>
          <p:nvPr/>
        </p:nvPicPr>
        <p:blipFill>
          <a:blip r:embed="rId3"/>
          <a:srcRect/>
          <a:stretch/>
        </p:blipFill>
        <p:spPr>
          <a:xfrm>
            <a:off x="7051040" y="2554119"/>
            <a:ext cx="304800" cy="152400"/>
          </a:xfrm>
          <a:prstGeom prst="rect">
            <a:avLst/>
          </a:prstGeom>
        </p:spPr>
      </p:pic>
      <p:sp>
        <p:nvSpPr>
          <p:cNvPr id="15" name="Shape 10"/>
          <p:cNvSpPr/>
          <p:nvPr/>
        </p:nvSpPr>
        <p:spPr>
          <a:xfrm>
            <a:off x="7460615" y="1709507"/>
            <a:ext cx="1700530" cy="1841621"/>
          </a:xfrm>
          <a:prstGeom prst="roundRect">
            <a:avLst>
              <a:gd name="adj" fmla="val 7169"/>
            </a:avLst>
          </a:prstGeom>
          <a:solidFill>
            <a:srgbClr val="FBFAF6"/>
          </a:solidFill>
          <a:ln w="6350">
            <a:solidFill>
              <a:srgbClr val="DCD8CC"/>
            </a:solidFill>
            <a:prstDash val="solid"/>
          </a:ln>
        </p:spPr>
        <p:txBody>
          <a:bodyPr/>
          <a:lstStyle/>
          <a:p>
            <a:endParaRPr/>
          </a:p>
        </p:txBody>
      </p:sp>
      <p:sp>
        <p:nvSpPr>
          <p:cNvPr id="16" name="Text 11"/>
          <p:cNvSpPr/>
          <p:nvPr/>
        </p:nvSpPr>
        <p:spPr>
          <a:xfrm>
            <a:off x="7640320" y="1950573"/>
            <a:ext cx="1391920" cy="1417675"/>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Classifier</a:t>
            </a:r>
            <a:endParaRPr lang="en-US" sz="1900" dirty="0"/>
          </a:p>
        </p:txBody>
      </p:sp>
      <p:sp>
        <p:nvSpPr>
          <p:cNvPr id="17" name="Text 12"/>
          <p:cNvSpPr/>
          <p:nvPr/>
        </p:nvSpPr>
        <p:spPr>
          <a:xfrm>
            <a:off x="7640320" y="2379887"/>
            <a:ext cx="1391920" cy="988361"/>
          </a:xfrm>
          <a:prstGeom prst="rect">
            <a:avLst/>
          </a:prstGeom>
          <a:noFill/>
          <a:ln/>
        </p:spPr>
        <p:txBody>
          <a:bodyPr wrap="square" lIns="0" tIns="0" rIns="0" bIns="0" rtlCol="0" anchor="t"/>
          <a:lstStyle/>
          <a:p>
            <a:pPr marL="0" indent="0" algn="l">
              <a:lnSpc>
                <a:spcPts val="2184"/>
              </a:lnSpc>
              <a:buNone/>
            </a:pPr>
            <a:r>
              <a:rPr lang="en-US" sz="1600" dirty="0">
                <a:solidFill>
                  <a:srgbClr val="55606B"/>
                </a:solidFill>
                <a:latin typeface="Inter" pitchFamily="34" charset="0"/>
                <a:ea typeface="Inter" pitchFamily="34" charset="-122"/>
                <a:cs typeface="Inter" pitchFamily="34" charset="-120"/>
              </a:rPr>
              <a:t>Transformer for words, MLP for letters</a:t>
            </a:r>
            <a:endParaRPr lang="en-US" sz="1600" dirty="0"/>
          </a:p>
        </p:txBody>
      </p:sp>
      <p:pic>
        <p:nvPicPr>
          <p:cNvPr id="18" name="Image 3" descr="arrow-right"/>
          <p:cNvPicPr>
            <a:picLocks noChangeAspect="1"/>
          </p:cNvPicPr>
          <p:nvPr/>
        </p:nvPicPr>
        <p:blipFill>
          <a:blip r:embed="rId3"/>
          <a:srcRect/>
          <a:stretch/>
        </p:blipFill>
        <p:spPr>
          <a:xfrm>
            <a:off x="9265920" y="2554119"/>
            <a:ext cx="304800" cy="152400"/>
          </a:xfrm>
          <a:prstGeom prst="rect">
            <a:avLst/>
          </a:prstGeom>
        </p:spPr>
      </p:pic>
      <p:sp>
        <p:nvSpPr>
          <p:cNvPr id="19" name="Shape 13"/>
          <p:cNvSpPr/>
          <p:nvPr/>
        </p:nvSpPr>
        <p:spPr>
          <a:xfrm>
            <a:off x="9675495" y="1709507"/>
            <a:ext cx="1700530" cy="1841621"/>
          </a:xfrm>
          <a:prstGeom prst="roundRect">
            <a:avLst>
              <a:gd name="adj" fmla="val 7169"/>
            </a:avLst>
          </a:prstGeom>
          <a:solidFill>
            <a:srgbClr val="FBFAF6"/>
          </a:solidFill>
          <a:ln w="6350">
            <a:solidFill>
              <a:srgbClr val="DCD8CC"/>
            </a:solidFill>
            <a:prstDash val="solid"/>
          </a:ln>
        </p:spPr>
        <p:txBody>
          <a:bodyPr/>
          <a:lstStyle/>
          <a:p>
            <a:endParaRPr/>
          </a:p>
        </p:txBody>
      </p:sp>
      <p:sp>
        <p:nvSpPr>
          <p:cNvPr id="20" name="Text 14"/>
          <p:cNvSpPr/>
          <p:nvPr/>
        </p:nvSpPr>
        <p:spPr>
          <a:xfrm>
            <a:off x="9855200" y="1950573"/>
            <a:ext cx="1391920" cy="1417675"/>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Output</a:t>
            </a:r>
            <a:endParaRPr lang="en-US" sz="1900" dirty="0"/>
          </a:p>
        </p:txBody>
      </p:sp>
      <p:sp>
        <p:nvSpPr>
          <p:cNvPr id="21" name="Text 15"/>
          <p:cNvSpPr/>
          <p:nvPr/>
        </p:nvSpPr>
        <p:spPr>
          <a:xfrm>
            <a:off x="9855200" y="2379887"/>
            <a:ext cx="1391920" cy="988361"/>
          </a:xfrm>
          <a:prstGeom prst="rect">
            <a:avLst/>
          </a:prstGeom>
          <a:noFill/>
          <a:ln/>
        </p:spPr>
        <p:txBody>
          <a:bodyPr wrap="square" lIns="0" tIns="0" rIns="0" bIns="0" rtlCol="0" anchor="t"/>
          <a:lstStyle/>
          <a:p>
            <a:pPr marL="0" indent="0" algn="l">
              <a:lnSpc>
                <a:spcPts val="2184"/>
              </a:lnSpc>
              <a:buNone/>
            </a:pPr>
            <a:r>
              <a:rPr lang="en-US" sz="1600" dirty="0">
                <a:solidFill>
                  <a:srgbClr val="55606B"/>
                </a:solidFill>
                <a:latin typeface="Inter" pitchFamily="34" charset="0"/>
                <a:ea typeface="Inter" pitchFamily="34" charset="-122"/>
                <a:cs typeface="Inter" pitchFamily="34" charset="-120"/>
              </a:rPr>
              <a:t>Top-3 words, sentence, speech</a:t>
            </a:r>
            <a:endParaRPr lang="en-US" sz="1600" dirty="0"/>
          </a:p>
        </p:txBody>
      </p:sp>
      <p:sp>
        <p:nvSpPr>
          <p:cNvPr id="22" name="Shape 16"/>
          <p:cNvSpPr/>
          <p:nvPr/>
        </p:nvSpPr>
        <p:spPr>
          <a:xfrm>
            <a:off x="812800" y="4187437"/>
            <a:ext cx="5181600" cy="1710442"/>
          </a:xfrm>
          <a:prstGeom prst="roundRect">
            <a:avLst>
              <a:gd name="adj" fmla="val 7968"/>
            </a:avLst>
          </a:prstGeom>
          <a:solidFill>
            <a:srgbClr val="12202E"/>
          </a:solidFill>
          <a:ln/>
        </p:spPr>
        <p:txBody>
          <a:bodyPr/>
          <a:lstStyle/>
          <a:p>
            <a:endParaRPr/>
          </a:p>
        </p:txBody>
      </p:sp>
      <p:sp>
        <p:nvSpPr>
          <p:cNvPr id="23" name="Text 17"/>
          <p:cNvSpPr/>
          <p:nvPr/>
        </p:nvSpPr>
        <p:spPr>
          <a:xfrm>
            <a:off x="1041400" y="4494090"/>
            <a:ext cx="4866132" cy="1220909"/>
          </a:xfrm>
          <a:prstGeom prst="rect">
            <a:avLst/>
          </a:prstGeom>
          <a:noFill/>
          <a:ln/>
        </p:spPr>
        <p:txBody>
          <a:bodyPr wrap="square" lIns="0" tIns="0" rIns="0" bIns="0" rtlCol="0" anchor="t"/>
          <a:lstStyle/>
          <a:p>
            <a:pPr marL="0" indent="0" algn="l">
              <a:lnSpc>
                <a:spcPts val="2304"/>
              </a:lnSpc>
              <a:buNone/>
            </a:pPr>
            <a:r>
              <a:rPr lang="en-US" sz="1900" b="1" dirty="0">
                <a:solidFill>
                  <a:srgbClr val="E8A93B"/>
                </a:solidFill>
                <a:latin typeface="Inter" pitchFamily="34" charset="0"/>
                <a:ea typeface="Inter" pitchFamily="34" charset="-122"/>
                <a:cs typeface="Inter" pitchFamily="34" charset="-120"/>
              </a:rPr>
              <a:t>Word path</a:t>
            </a:r>
            <a:endParaRPr lang="en-US" sz="1900" dirty="0"/>
          </a:p>
        </p:txBody>
      </p:sp>
      <p:sp>
        <p:nvSpPr>
          <p:cNvPr id="24" name="Text 18"/>
          <p:cNvSpPr/>
          <p:nvPr/>
        </p:nvSpPr>
        <p:spPr>
          <a:xfrm>
            <a:off x="1041400" y="4923403"/>
            <a:ext cx="4866132" cy="791596"/>
          </a:xfrm>
          <a:prstGeom prst="rect">
            <a:avLst/>
          </a:prstGeom>
          <a:noFill/>
          <a:ln/>
        </p:spPr>
        <p:txBody>
          <a:bodyPr wrap="square" lIns="0" tIns="0" rIns="0" bIns="0" rtlCol="0" anchor="t"/>
          <a:lstStyle/>
          <a:p>
            <a:pPr marL="0" indent="0" algn="l">
              <a:lnSpc>
                <a:spcPts val="2352"/>
              </a:lnSpc>
              <a:buNone/>
            </a:pPr>
            <a:r>
              <a:rPr lang="en-US" sz="1700" dirty="0">
                <a:solidFill>
                  <a:srgbClr val="F6F4EF"/>
                </a:solidFill>
                <a:latin typeface="Inter" pitchFamily="34" charset="0"/>
                <a:ea typeface="Inter" pitchFamily="34" charset="-122"/>
                <a:cs typeface="Inter" pitchFamily="34" charset="-120"/>
              </a:rPr>
              <a:t>Resample to 32 frames, normalise to the shoulders, run the transformer, return the top-3 words.</a:t>
            </a:r>
            <a:endParaRPr lang="en-US" sz="1700" dirty="0"/>
          </a:p>
        </p:txBody>
      </p:sp>
      <p:sp>
        <p:nvSpPr>
          <p:cNvPr id="25" name="Shape 19"/>
          <p:cNvSpPr/>
          <p:nvPr/>
        </p:nvSpPr>
        <p:spPr>
          <a:xfrm>
            <a:off x="6197600" y="4187437"/>
            <a:ext cx="5181600" cy="1710442"/>
          </a:xfrm>
          <a:prstGeom prst="roundRect">
            <a:avLst>
              <a:gd name="adj" fmla="val 7968"/>
            </a:avLst>
          </a:prstGeom>
          <a:solidFill>
            <a:srgbClr val="12202E"/>
          </a:solidFill>
          <a:ln/>
        </p:spPr>
        <p:txBody>
          <a:bodyPr/>
          <a:lstStyle/>
          <a:p>
            <a:endParaRPr/>
          </a:p>
        </p:txBody>
      </p:sp>
      <p:sp>
        <p:nvSpPr>
          <p:cNvPr id="26" name="Text 20"/>
          <p:cNvSpPr/>
          <p:nvPr/>
        </p:nvSpPr>
        <p:spPr>
          <a:xfrm>
            <a:off x="6426200" y="4494090"/>
            <a:ext cx="4866132" cy="1220909"/>
          </a:xfrm>
          <a:prstGeom prst="rect">
            <a:avLst/>
          </a:prstGeom>
          <a:noFill/>
          <a:ln/>
        </p:spPr>
        <p:txBody>
          <a:bodyPr wrap="square" lIns="0" tIns="0" rIns="0" bIns="0" rtlCol="0" anchor="t"/>
          <a:lstStyle/>
          <a:p>
            <a:pPr marL="0" indent="0" algn="l">
              <a:lnSpc>
                <a:spcPts val="2304"/>
              </a:lnSpc>
              <a:buNone/>
            </a:pPr>
            <a:r>
              <a:rPr lang="en-US" sz="1900" b="1" dirty="0">
                <a:solidFill>
                  <a:srgbClr val="E8A93B"/>
                </a:solidFill>
                <a:latin typeface="Inter" pitchFamily="34" charset="0"/>
                <a:ea typeface="Inter" pitchFamily="34" charset="-122"/>
                <a:cs typeface="Inter" pitchFamily="34" charset="-120"/>
              </a:rPr>
              <a:t>Letter path</a:t>
            </a:r>
            <a:endParaRPr lang="en-US" sz="1900" dirty="0"/>
          </a:p>
        </p:txBody>
      </p:sp>
      <p:sp>
        <p:nvSpPr>
          <p:cNvPr id="27" name="Text 21"/>
          <p:cNvSpPr/>
          <p:nvPr/>
        </p:nvSpPr>
        <p:spPr>
          <a:xfrm>
            <a:off x="6426200" y="4923403"/>
            <a:ext cx="4866132" cy="791596"/>
          </a:xfrm>
          <a:prstGeom prst="rect">
            <a:avLst/>
          </a:prstGeom>
          <a:noFill/>
          <a:ln/>
        </p:spPr>
        <p:txBody>
          <a:bodyPr wrap="square" lIns="0" tIns="0" rIns="0" bIns="0" rtlCol="0" anchor="t"/>
          <a:lstStyle/>
          <a:p>
            <a:pPr marL="0" indent="0" algn="l">
              <a:lnSpc>
                <a:spcPts val="2352"/>
              </a:lnSpc>
              <a:buNone/>
            </a:pPr>
            <a:r>
              <a:rPr lang="en-US" sz="1700" dirty="0">
                <a:solidFill>
                  <a:srgbClr val="F6F4EF"/>
                </a:solidFill>
                <a:latin typeface="Inter" pitchFamily="34" charset="0"/>
                <a:ea typeface="Inter" pitchFamily="34" charset="-122"/>
                <a:cs typeface="Inter" pitchFamily="34" charset="-120"/>
              </a:rPr>
              <a:t>Track one hand, use wrist-centred features, run the MLP, type the letter once it is held steady.</a:t>
            </a:r>
            <a:endParaRPr lang="en-US" sz="1700" dirty="0"/>
          </a:p>
        </p:txBody>
      </p:sp>
      <p:sp>
        <p:nvSpPr>
          <p:cNvPr id="28" name="Text 22"/>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Inter" pitchFamily="34" charset="0"/>
                <a:ea typeface="Inter" pitchFamily="34" charset="-122"/>
                <a:cs typeface="Inter" pitchFamily="34" charset="-120"/>
              </a:rPr>
              <a:t>Sign Language Recognition (ASL + ISL)</a:t>
            </a:r>
            <a:endParaRPr lang="en-US" sz="1200" dirty="0"/>
          </a:p>
        </p:txBody>
      </p:sp>
      <p:sp>
        <p:nvSpPr>
          <p:cNvPr id="29" name="Text 23"/>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202E"/>
                </a:solidFill>
                <a:latin typeface="Source Serif 4" pitchFamily="18" charset="0"/>
                <a:ea typeface="Source Serif 4" pitchFamily="18" charset="-122"/>
                <a:cs typeface="Source Serif 4" pitchFamily="18" charset="-120"/>
              </a:rPr>
              <a:t>Technology Stack</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54480"/>
          <a:ext cx="10556240" cy="7026684"/>
        </p:xfrm>
        <a:graphic>
          <a:graphicData uri="http://schemas.openxmlformats.org/drawingml/2006/table">
            <a:tbl>
              <a:tblPr/>
              <a:tblGrid>
                <a:gridCol w="2744622">
                  <a:extLst>
                    <a:ext uri="{9D8B030D-6E8A-4147-A177-3AD203B41FA5}">
                      <a16:colId xmlns:a16="http://schemas.microsoft.com/office/drawing/2014/main" val="20000"/>
                    </a:ext>
                  </a:extLst>
                </a:gridCol>
                <a:gridCol w="3589122">
                  <a:extLst>
                    <a:ext uri="{9D8B030D-6E8A-4147-A177-3AD203B41FA5}">
                      <a16:colId xmlns:a16="http://schemas.microsoft.com/office/drawing/2014/main" val="20001"/>
                    </a:ext>
                  </a:extLst>
                </a:gridCol>
                <a:gridCol w="4222496">
                  <a:extLst>
                    <a:ext uri="{9D8B030D-6E8A-4147-A177-3AD203B41FA5}">
                      <a16:colId xmlns:a16="http://schemas.microsoft.com/office/drawing/2014/main" val="20002"/>
                    </a:ext>
                  </a:extLst>
                </a:gridCol>
              </a:tblGrid>
              <a:tr h="620485">
                <a:tc>
                  <a:txBody>
                    <a:bodyPr/>
                    <a:lstStyle/>
                    <a:p>
                      <a:pPr marL="0" indent="0">
                        <a:lnSpc>
                          <a:spcPts val="2352"/>
                        </a:lnSpc>
                        <a:buNone/>
                      </a:pPr>
                      <a:r>
                        <a:rPr lang="en-US" sz="1700" b="1" dirty="0">
                          <a:solidFill>
                            <a:srgbClr val="12202E"/>
                          </a:solidFill>
                          <a:latin typeface="Inter" pitchFamily="34" charset="0"/>
                          <a:ea typeface="Inter" pitchFamily="34" charset="-122"/>
                          <a:cs typeface="Inter" pitchFamily="34" charset="-120"/>
                        </a:rPr>
                        <a:t>Component</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2352"/>
                        </a:lnSpc>
                        <a:buNone/>
                      </a:pPr>
                      <a:r>
                        <a:rPr lang="en-US" sz="1700" b="1" dirty="0">
                          <a:solidFill>
                            <a:srgbClr val="12202E"/>
                          </a:solidFill>
                          <a:latin typeface="Inter" pitchFamily="34" charset="0"/>
                          <a:ea typeface="Inter" pitchFamily="34" charset="-122"/>
                          <a:cs typeface="Inter" pitchFamily="34" charset="-120"/>
                        </a:rPr>
                        <a:t>Technology</a:t>
                      </a:r>
                      <a:endParaRPr lang="en-US" sz="1700" dirty="0">
                        <a:latin typeface="Inter" charset="0"/>
                        <a:ea typeface="Inter" charset="0"/>
                        <a:cs typeface="Inter"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2352"/>
                        </a:lnSpc>
                        <a:buNone/>
                      </a:pPr>
                      <a:r>
                        <a:rPr lang="en-US" sz="1700" b="1" dirty="0">
                          <a:solidFill>
                            <a:srgbClr val="12202E"/>
                          </a:solidFill>
                          <a:latin typeface="Inter" pitchFamily="34" charset="0"/>
                          <a:ea typeface="Inter" pitchFamily="34" charset="-122"/>
                          <a:cs typeface="Inter" pitchFamily="34" charset="-120"/>
                        </a:rPr>
                        <a:t>Role</a:t>
                      </a:r>
                      <a:endParaRPr lang="en-US" sz="1700" dirty="0">
                        <a:latin typeface="Inter" charset="0"/>
                        <a:ea typeface="Inter" charset="0"/>
                        <a:cs typeface="Inter"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620485">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Tracking</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MediaPipe</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Hand and body landmarks</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620485">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Word model</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3-layer transformer</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Trained in PyTorch, run in numpy</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620485">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Letter model</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MLP</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Exported to numpy</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620485">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Web server</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Flask, Gunicorn</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Live dashboard and API</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620485">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Training</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Kaggle, Colab</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Keypoint files only</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r h="620485">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Hosting</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Render</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Optional web service</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Inter" pitchFamily="34" charset="0"/>
                <a:ea typeface="Inter" pitchFamily="34" charset="-122"/>
                <a:cs typeface="Inter" pitchFamily="34" charset="-120"/>
              </a:rPr>
              <a:t>Sign Language Recognition (ASL + ISL)</a:t>
            </a:r>
            <a:endParaRPr lang="en-US" sz="1200" dirty="0"/>
          </a:p>
        </p:txBody>
      </p:sp>
      <p:sp>
        <p:nvSpPr>
          <p:cNvPr id="5" name="Text 2"/>
          <p:cNvSpPr/>
          <p:nvPr/>
        </p:nvSpPr>
        <p:spPr>
          <a:xfrm>
            <a:off x="10566400" y="6238239"/>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202E"/>
                </a:solidFill>
                <a:latin typeface="Source Serif 4" pitchFamily="18" charset="0"/>
                <a:ea typeface="Source Serif 4" pitchFamily="18" charset="-122"/>
                <a:cs typeface="Source Serif 4" pitchFamily="18" charset="-120"/>
              </a:rPr>
              <a:t>Datasets</a:t>
            </a:r>
            <a:endParaRPr lang="en-US" sz="3600" dirty="0"/>
          </a:p>
        </p:txBody>
      </p:sp>
      <p:sp>
        <p:nvSpPr>
          <p:cNvPr id="3" name="Shape 1"/>
          <p:cNvSpPr/>
          <p:nvPr/>
        </p:nvSpPr>
        <p:spPr>
          <a:xfrm>
            <a:off x="815975" y="1554480"/>
            <a:ext cx="3380264" cy="2934401"/>
          </a:xfrm>
          <a:prstGeom prst="roundRect">
            <a:avLst>
              <a:gd name="adj" fmla="val 4958"/>
            </a:avLst>
          </a:prstGeom>
          <a:solidFill>
            <a:srgbClr val="FBFAF6"/>
          </a:solidFill>
          <a:ln w="6350">
            <a:solidFill>
              <a:srgbClr val="DCD8CC"/>
            </a:solidFill>
            <a:prstDash val="solid"/>
          </a:ln>
        </p:spPr>
        <p:txBody>
          <a:bodyPr/>
          <a:lstStyle/>
          <a:p>
            <a:endParaRPr/>
          </a:p>
        </p:txBody>
      </p:sp>
      <p:sp>
        <p:nvSpPr>
          <p:cNvPr id="4" name="Text 2"/>
          <p:cNvSpPr/>
          <p:nvPr/>
        </p:nvSpPr>
        <p:spPr>
          <a:xfrm>
            <a:off x="1071880" y="1932777"/>
            <a:ext cx="2954507" cy="2373224"/>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ASL words</a:t>
            </a:r>
            <a:endParaRPr lang="en-US" sz="2200" dirty="0"/>
          </a:p>
        </p:txBody>
      </p:sp>
      <p:sp>
        <p:nvSpPr>
          <p:cNvPr id="5" name="Text 3"/>
          <p:cNvSpPr/>
          <p:nvPr/>
        </p:nvSpPr>
        <p:spPr>
          <a:xfrm>
            <a:off x="1071880" y="2488494"/>
            <a:ext cx="2954507" cy="1817507"/>
          </a:xfrm>
          <a:prstGeom prst="rect">
            <a:avLst/>
          </a:prstGeom>
          <a:noFill/>
          <a:ln/>
        </p:spPr>
        <p:txBody>
          <a:bodyPr wrap="square" lIns="0" tIns="0" rIns="0" bIns="0" rtlCol="0" anchor="t"/>
          <a:lstStyle/>
          <a:p>
            <a:pPr marL="0" indent="0" algn="l">
              <a:lnSpc>
                <a:spcPts val="2352"/>
              </a:lnSpc>
              <a:buNone/>
            </a:pPr>
            <a:r>
              <a:rPr lang="en-US" sz="1700" dirty="0">
                <a:solidFill>
                  <a:srgbClr val="12202E"/>
                </a:solidFill>
                <a:latin typeface="Inter" pitchFamily="34" charset="0"/>
                <a:ea typeface="Inter" pitchFamily="34" charset="-122"/>
                <a:cs typeface="Inter" pitchFamily="34" charset="-120"/>
              </a:rPr>
              <a:t>Google Isolated Sign Language Recognition (asl-signs)</a:t>
            </a:r>
            <a:endParaRPr lang="en-US" sz="1700" dirty="0"/>
          </a:p>
        </p:txBody>
      </p:sp>
      <p:sp>
        <p:nvSpPr>
          <p:cNvPr id="6" name="Text 4"/>
          <p:cNvSpPr/>
          <p:nvPr/>
        </p:nvSpPr>
        <p:spPr>
          <a:xfrm>
            <a:off x="1071880" y="3374635"/>
            <a:ext cx="2954507" cy="931366"/>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23 signs selected for the model</a:t>
            </a:r>
            <a:endParaRPr lang="en-US" sz="1700" dirty="0"/>
          </a:p>
        </p:txBody>
      </p:sp>
      <p:sp>
        <p:nvSpPr>
          <p:cNvPr id="7" name="Shape 5"/>
          <p:cNvSpPr/>
          <p:nvPr/>
        </p:nvSpPr>
        <p:spPr>
          <a:xfrm>
            <a:off x="4405789" y="1554480"/>
            <a:ext cx="3380343" cy="2934401"/>
          </a:xfrm>
          <a:prstGeom prst="roundRect">
            <a:avLst>
              <a:gd name="adj" fmla="val 4958"/>
            </a:avLst>
          </a:prstGeom>
          <a:solidFill>
            <a:srgbClr val="FBFAF6"/>
          </a:solidFill>
          <a:ln w="6350">
            <a:solidFill>
              <a:srgbClr val="DCD8CC"/>
            </a:solidFill>
            <a:prstDash val="solid"/>
          </a:ln>
        </p:spPr>
        <p:txBody>
          <a:bodyPr/>
          <a:lstStyle/>
          <a:p>
            <a:endParaRPr/>
          </a:p>
        </p:txBody>
      </p:sp>
      <p:sp>
        <p:nvSpPr>
          <p:cNvPr id="8" name="Text 6"/>
          <p:cNvSpPr/>
          <p:nvPr/>
        </p:nvSpPr>
        <p:spPr>
          <a:xfrm>
            <a:off x="4661694" y="1932777"/>
            <a:ext cx="2954589" cy="2373224"/>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ISL words</a:t>
            </a:r>
            <a:endParaRPr lang="en-US" sz="2200" dirty="0"/>
          </a:p>
        </p:txBody>
      </p:sp>
      <p:sp>
        <p:nvSpPr>
          <p:cNvPr id="9" name="Text 7"/>
          <p:cNvSpPr/>
          <p:nvPr/>
        </p:nvSpPr>
        <p:spPr>
          <a:xfrm>
            <a:off x="4661694" y="2488494"/>
            <a:ext cx="2954589" cy="1817507"/>
          </a:xfrm>
          <a:prstGeom prst="rect">
            <a:avLst/>
          </a:prstGeom>
          <a:noFill/>
          <a:ln/>
        </p:spPr>
        <p:txBody>
          <a:bodyPr wrap="square" lIns="0" tIns="0" rIns="0" bIns="0" rtlCol="0" anchor="t"/>
          <a:lstStyle/>
          <a:p>
            <a:pPr marL="0" indent="0" algn="l">
              <a:lnSpc>
                <a:spcPts val="2352"/>
              </a:lnSpc>
              <a:buNone/>
            </a:pPr>
            <a:r>
              <a:rPr lang="en-US" sz="1700" dirty="0">
                <a:solidFill>
                  <a:srgbClr val="12202E"/>
                </a:solidFill>
                <a:latin typeface="Inter" pitchFamily="34" charset="0"/>
                <a:ea typeface="Inter" pitchFamily="34" charset="-122"/>
                <a:cs typeface="Inter" pitchFamily="34" charset="-120"/>
              </a:rPr>
              <a:t>INCLUDE-50 subset from AI4Bharat</a:t>
            </a:r>
            <a:endParaRPr lang="en-US" sz="1700" dirty="0"/>
          </a:p>
        </p:txBody>
      </p:sp>
      <p:sp>
        <p:nvSpPr>
          <p:cNvPr id="10" name="Text 8"/>
          <p:cNvSpPr/>
          <p:nvPr/>
        </p:nvSpPr>
        <p:spPr>
          <a:xfrm>
            <a:off x="4661694" y="3374635"/>
            <a:ext cx="2954589" cy="931366"/>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About 955 videos, roughly 14 clips per sign</a:t>
            </a:r>
            <a:endParaRPr lang="en-US" sz="1700" dirty="0"/>
          </a:p>
        </p:txBody>
      </p:sp>
      <p:sp>
        <p:nvSpPr>
          <p:cNvPr id="11" name="Shape 9"/>
          <p:cNvSpPr/>
          <p:nvPr/>
        </p:nvSpPr>
        <p:spPr>
          <a:xfrm>
            <a:off x="7995682" y="1554480"/>
            <a:ext cx="3380343" cy="2934401"/>
          </a:xfrm>
          <a:prstGeom prst="roundRect">
            <a:avLst>
              <a:gd name="adj" fmla="val 4958"/>
            </a:avLst>
          </a:prstGeom>
          <a:solidFill>
            <a:srgbClr val="FBFAF6"/>
          </a:solidFill>
          <a:ln w="6350">
            <a:solidFill>
              <a:srgbClr val="DCD8CC"/>
            </a:solidFill>
            <a:prstDash val="solid"/>
          </a:ln>
        </p:spPr>
        <p:txBody>
          <a:bodyPr/>
          <a:lstStyle/>
          <a:p>
            <a:endParaRPr/>
          </a:p>
        </p:txBody>
      </p:sp>
      <p:sp>
        <p:nvSpPr>
          <p:cNvPr id="12" name="Text 10"/>
          <p:cNvSpPr/>
          <p:nvPr/>
        </p:nvSpPr>
        <p:spPr>
          <a:xfrm>
            <a:off x="8251587" y="1932777"/>
            <a:ext cx="2954589" cy="2373224"/>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ASL letters</a:t>
            </a:r>
            <a:endParaRPr lang="en-US" sz="2200" dirty="0"/>
          </a:p>
        </p:txBody>
      </p:sp>
      <p:sp>
        <p:nvSpPr>
          <p:cNvPr id="13" name="Text 11"/>
          <p:cNvSpPr/>
          <p:nvPr/>
        </p:nvSpPr>
        <p:spPr>
          <a:xfrm>
            <a:off x="8251587" y="2488494"/>
            <a:ext cx="2954589" cy="1817507"/>
          </a:xfrm>
          <a:prstGeom prst="rect">
            <a:avLst/>
          </a:prstGeom>
          <a:noFill/>
          <a:ln/>
        </p:spPr>
        <p:txBody>
          <a:bodyPr wrap="square" lIns="0" tIns="0" rIns="0" bIns="0" rtlCol="0" anchor="t"/>
          <a:lstStyle/>
          <a:p>
            <a:pPr marL="0" indent="0" algn="l">
              <a:lnSpc>
                <a:spcPts val="2352"/>
              </a:lnSpc>
              <a:buNone/>
            </a:pPr>
            <a:r>
              <a:rPr lang="en-US" sz="1700" dirty="0">
                <a:solidFill>
                  <a:srgbClr val="12202E"/>
                </a:solidFill>
                <a:latin typeface="Inter" pitchFamily="34" charset="0"/>
                <a:ea typeface="Inter" pitchFamily="34" charset="-122"/>
                <a:cs typeface="Inter" pitchFamily="34" charset="-120"/>
              </a:rPr>
              <a:t>ASL Alphabet image dataset</a:t>
            </a:r>
            <a:endParaRPr lang="en-US" sz="1700" dirty="0"/>
          </a:p>
        </p:txBody>
      </p:sp>
      <p:sp>
        <p:nvSpPr>
          <p:cNvPr id="14" name="Text 12"/>
          <p:cNvSpPr/>
          <p:nvPr/>
        </p:nvSpPr>
        <p:spPr>
          <a:xfrm>
            <a:off x="8251587" y="3006658"/>
            <a:ext cx="2954589" cy="1299343"/>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28 classes, A to Z plus space and delete</a:t>
            </a:r>
            <a:endParaRPr lang="en-US" sz="1700" dirty="0"/>
          </a:p>
        </p:txBody>
      </p:sp>
      <p:sp>
        <p:nvSpPr>
          <p:cNvPr id="15" name="Text 13"/>
          <p:cNvSpPr/>
          <p:nvPr/>
        </p:nvSpPr>
        <p:spPr>
          <a:xfrm>
            <a:off x="812800" y="5019249"/>
            <a:ext cx="9810750" cy="878630"/>
          </a:xfrm>
          <a:prstGeom prst="rect">
            <a:avLst/>
          </a:prstGeom>
          <a:noFill/>
          <a:ln/>
        </p:spPr>
        <p:txBody>
          <a:bodyPr wrap="square" lIns="0" tIns="0" rIns="0" bIns="0" rtlCol="0" anchor="t"/>
          <a:lstStyle/>
          <a:p>
            <a:pPr marL="0" indent="0" algn="l">
              <a:lnSpc>
                <a:spcPts val="2688"/>
              </a:lnSpc>
              <a:buNone/>
            </a:pPr>
            <a:r>
              <a:rPr lang="en-US" sz="1900" dirty="0">
                <a:solidFill>
                  <a:srgbClr val="55606B"/>
                </a:solidFill>
                <a:latin typeface="Inter" pitchFamily="34" charset="0"/>
                <a:ea typeface="Inter" pitchFamily="34" charset="-122"/>
                <a:cs typeface="Inter" pitchFamily="34" charset="-120"/>
              </a:rPr>
              <a:t>Only keypoints are stored for training. Each video is converted to landmarks and then deleted, which keeps the data small.</a:t>
            </a:r>
            <a:endParaRPr lang="en-US" sz="1900" dirty="0"/>
          </a:p>
        </p:txBody>
      </p:sp>
      <p:sp>
        <p:nvSpPr>
          <p:cNvPr id="16" name="Text 1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Inter" pitchFamily="34" charset="0"/>
                <a:ea typeface="Inter" pitchFamily="34" charset="-122"/>
                <a:cs typeface="Inter" pitchFamily="34" charset="-120"/>
              </a:rPr>
              <a:t>Sign Language Recognition (ASL + ISL)</a:t>
            </a:r>
            <a:endParaRPr lang="en-US" sz="1200" dirty="0"/>
          </a:p>
        </p:txBody>
      </p:sp>
      <p:sp>
        <p:nvSpPr>
          <p:cNvPr id="17" name="Text 15"/>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Inter" pitchFamily="34" charset="0"/>
                <a:ea typeface="Inter" pitchFamily="34" charset="-122"/>
                <a:cs typeface="Inte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02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F6F4EF"/>
                </a:solidFill>
                <a:latin typeface="Source Serif 4" pitchFamily="18" charset="0"/>
                <a:ea typeface="Source Serif 4" pitchFamily="18" charset="-122"/>
                <a:cs typeface="Source Serif 4" pitchFamily="18" charset="-120"/>
              </a:rPr>
              <a:t>Models and Accuracy</a:t>
            </a:r>
            <a:endParaRPr lang="en-US" sz="3600" dirty="0"/>
          </a:p>
        </p:txBody>
      </p:sp>
      <p:sp>
        <p:nvSpPr>
          <p:cNvPr id="3" name="Shape 1"/>
          <p:cNvSpPr/>
          <p:nvPr/>
        </p:nvSpPr>
        <p:spPr>
          <a:xfrm>
            <a:off x="812800" y="1554480"/>
            <a:ext cx="5181600" cy="1702262"/>
          </a:xfrm>
          <a:prstGeom prst="roundRect">
            <a:avLst>
              <a:gd name="adj" fmla="val 6873"/>
            </a:avLst>
          </a:prstGeom>
          <a:solidFill>
            <a:srgbClr val="1B2F42"/>
          </a:solidFill>
          <a:ln/>
        </p:spPr>
        <p:txBody>
          <a:bodyPr/>
          <a:lstStyle/>
          <a:p>
            <a:endParaRPr/>
          </a:p>
        </p:txBody>
      </p:sp>
      <p:sp>
        <p:nvSpPr>
          <p:cNvPr id="4" name="Text 2"/>
          <p:cNvSpPr/>
          <p:nvPr/>
        </p:nvSpPr>
        <p:spPr>
          <a:xfrm>
            <a:off x="1066800" y="1846965"/>
            <a:ext cx="4813808" cy="1226897"/>
          </a:xfrm>
          <a:prstGeom prst="rect">
            <a:avLst/>
          </a:prstGeom>
          <a:noFill/>
          <a:ln/>
        </p:spPr>
        <p:txBody>
          <a:bodyPr wrap="square" lIns="0" tIns="0" rIns="0" bIns="0" rtlCol="0" anchor="t"/>
          <a:lstStyle/>
          <a:p>
            <a:pPr marL="0" indent="0" algn="l">
              <a:lnSpc>
                <a:spcPts val="5920"/>
              </a:lnSpc>
              <a:buNone/>
            </a:pPr>
            <a:r>
              <a:rPr lang="en-US" sz="5400" dirty="0">
                <a:solidFill>
                  <a:srgbClr val="E8A93B"/>
                </a:solidFill>
                <a:latin typeface="Source Serif 4" pitchFamily="18" charset="0"/>
                <a:ea typeface="Source Serif 4" pitchFamily="18" charset="-122"/>
                <a:cs typeface="Source Serif 4" pitchFamily="18" charset="-120"/>
              </a:rPr>
              <a:t>86.3%</a:t>
            </a:r>
            <a:endParaRPr lang="en-US" sz="5400" dirty="0"/>
          </a:p>
        </p:txBody>
      </p:sp>
      <p:sp>
        <p:nvSpPr>
          <p:cNvPr id="5" name="Text 3"/>
          <p:cNvSpPr/>
          <p:nvPr/>
        </p:nvSpPr>
        <p:spPr>
          <a:xfrm>
            <a:off x="1066800" y="2677620"/>
            <a:ext cx="4813808" cy="396242"/>
          </a:xfrm>
          <a:prstGeom prst="rect">
            <a:avLst/>
          </a:prstGeom>
          <a:noFill/>
          <a:ln/>
        </p:spPr>
        <p:txBody>
          <a:bodyPr wrap="square" lIns="0" tIns="0" rIns="0" bIns="0" rtlCol="0" anchor="t"/>
          <a:lstStyle/>
          <a:p>
            <a:pPr marL="0" indent="0" algn="l">
              <a:lnSpc>
                <a:spcPts val="2197"/>
              </a:lnSpc>
              <a:buNone/>
            </a:pPr>
            <a:r>
              <a:rPr lang="en-US" sz="1600" dirty="0">
                <a:solidFill>
                  <a:srgbClr val="F6F4EF"/>
                </a:solidFill>
                <a:latin typeface="Inter" pitchFamily="34" charset="0"/>
                <a:ea typeface="Inter" pitchFamily="34" charset="-122"/>
                <a:cs typeface="Inter" pitchFamily="34" charset="-120"/>
              </a:rPr>
              <a:t>ASL words, test top-1 (n=629)</a:t>
            </a:r>
            <a:endParaRPr lang="en-US" sz="1600" dirty="0"/>
          </a:p>
        </p:txBody>
      </p:sp>
      <p:sp>
        <p:nvSpPr>
          <p:cNvPr id="6" name="Shape 4"/>
          <p:cNvSpPr/>
          <p:nvPr/>
        </p:nvSpPr>
        <p:spPr>
          <a:xfrm>
            <a:off x="6197600" y="1554480"/>
            <a:ext cx="5181600" cy="1702262"/>
          </a:xfrm>
          <a:prstGeom prst="roundRect">
            <a:avLst>
              <a:gd name="adj" fmla="val 6873"/>
            </a:avLst>
          </a:prstGeom>
          <a:solidFill>
            <a:srgbClr val="1B2F42"/>
          </a:solidFill>
          <a:ln/>
        </p:spPr>
        <p:txBody>
          <a:bodyPr/>
          <a:lstStyle/>
          <a:p>
            <a:endParaRPr/>
          </a:p>
        </p:txBody>
      </p:sp>
      <p:sp>
        <p:nvSpPr>
          <p:cNvPr id="7" name="Text 5"/>
          <p:cNvSpPr/>
          <p:nvPr/>
        </p:nvSpPr>
        <p:spPr>
          <a:xfrm>
            <a:off x="6451600" y="1846965"/>
            <a:ext cx="4813808" cy="1226897"/>
          </a:xfrm>
          <a:prstGeom prst="rect">
            <a:avLst/>
          </a:prstGeom>
          <a:noFill/>
          <a:ln/>
        </p:spPr>
        <p:txBody>
          <a:bodyPr wrap="square" lIns="0" tIns="0" rIns="0" bIns="0" rtlCol="0" anchor="t"/>
          <a:lstStyle/>
          <a:p>
            <a:pPr marL="0" indent="0" algn="l">
              <a:lnSpc>
                <a:spcPts val="5920"/>
              </a:lnSpc>
              <a:buNone/>
            </a:pPr>
            <a:r>
              <a:rPr lang="en-US" sz="5400" dirty="0">
                <a:solidFill>
                  <a:srgbClr val="E8A93B"/>
                </a:solidFill>
                <a:latin typeface="Source Serif 4" pitchFamily="18" charset="0"/>
                <a:ea typeface="Source Serif 4" pitchFamily="18" charset="-122"/>
                <a:cs typeface="Source Serif 4" pitchFamily="18" charset="-120"/>
              </a:rPr>
              <a:t>94.6%</a:t>
            </a:r>
            <a:endParaRPr lang="en-US" sz="5400" dirty="0"/>
          </a:p>
        </p:txBody>
      </p:sp>
      <p:sp>
        <p:nvSpPr>
          <p:cNvPr id="8" name="Text 6"/>
          <p:cNvSpPr/>
          <p:nvPr/>
        </p:nvSpPr>
        <p:spPr>
          <a:xfrm>
            <a:off x="6451600" y="2677620"/>
            <a:ext cx="4813808" cy="396242"/>
          </a:xfrm>
          <a:prstGeom prst="rect">
            <a:avLst/>
          </a:prstGeom>
          <a:noFill/>
          <a:ln/>
        </p:spPr>
        <p:txBody>
          <a:bodyPr wrap="square" lIns="0" tIns="0" rIns="0" bIns="0" rtlCol="0" anchor="t"/>
          <a:lstStyle/>
          <a:p>
            <a:pPr marL="0" indent="0" algn="l">
              <a:lnSpc>
                <a:spcPts val="2197"/>
              </a:lnSpc>
              <a:buNone/>
            </a:pPr>
            <a:r>
              <a:rPr lang="en-US" sz="1600" dirty="0">
                <a:solidFill>
                  <a:srgbClr val="F6F4EF"/>
                </a:solidFill>
                <a:latin typeface="Inter" pitchFamily="34" charset="0"/>
                <a:ea typeface="Inter" pitchFamily="34" charset="-122"/>
                <a:cs typeface="Inter" pitchFamily="34" charset="-120"/>
              </a:rPr>
              <a:t>ISL words, test top-1 (n=167)</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3619422"/>
          <a:ext cx="10556241" cy="1525707"/>
        </p:xfrm>
        <a:graphic>
          <a:graphicData uri="http://schemas.openxmlformats.org/drawingml/2006/table">
            <a:tbl>
              <a:tblPr/>
              <a:tblGrid>
                <a:gridCol w="2322373">
                  <a:extLst>
                    <a:ext uri="{9D8B030D-6E8A-4147-A177-3AD203B41FA5}">
                      <a16:colId xmlns:a16="http://schemas.microsoft.com/office/drawing/2014/main" val="20000"/>
                    </a:ext>
                  </a:extLst>
                </a:gridCol>
                <a:gridCol w="1266749">
                  <a:extLst>
                    <a:ext uri="{9D8B030D-6E8A-4147-A177-3AD203B41FA5}">
                      <a16:colId xmlns:a16="http://schemas.microsoft.com/office/drawing/2014/main" val="20001"/>
                    </a:ext>
                  </a:extLst>
                </a:gridCol>
                <a:gridCol w="2322373">
                  <a:extLst>
                    <a:ext uri="{9D8B030D-6E8A-4147-A177-3AD203B41FA5}">
                      <a16:colId xmlns:a16="http://schemas.microsoft.com/office/drawing/2014/main" val="20002"/>
                    </a:ext>
                  </a:extLst>
                </a:gridCol>
                <a:gridCol w="2322373">
                  <a:extLst>
                    <a:ext uri="{9D8B030D-6E8A-4147-A177-3AD203B41FA5}">
                      <a16:colId xmlns:a16="http://schemas.microsoft.com/office/drawing/2014/main" val="20003"/>
                    </a:ext>
                  </a:extLst>
                </a:gridCol>
                <a:gridCol w="2322373">
                  <a:extLst>
                    <a:ext uri="{9D8B030D-6E8A-4147-A177-3AD203B41FA5}">
                      <a16:colId xmlns:a16="http://schemas.microsoft.com/office/drawing/2014/main" val="20004"/>
                    </a:ext>
                  </a:extLst>
                </a:gridCol>
              </a:tblGrid>
              <a:tr h="441652">
                <a:tc>
                  <a:txBody>
                    <a:bodyPr/>
                    <a:lstStyle/>
                    <a:p>
                      <a:pPr marL="0" indent="0">
                        <a:lnSpc>
                          <a:spcPts val="2197"/>
                        </a:lnSpc>
                        <a:buNone/>
                      </a:pPr>
                      <a:r>
                        <a:rPr lang="en-US" sz="1600" b="1" dirty="0">
                          <a:solidFill>
                            <a:srgbClr val="F6F4EF"/>
                          </a:solidFill>
                          <a:latin typeface="Inter" pitchFamily="34" charset="0"/>
                          <a:ea typeface="Inter" pitchFamily="34" charset="-122"/>
                          <a:cs typeface="Inter" pitchFamily="34" charset="-120"/>
                        </a:rPr>
                        <a:t>Model</a:t>
                      </a:r>
                      <a:endParaRPr lang="en-US" sz="1600" dirty="0">
                        <a:latin typeface="Inter" charset="0"/>
                        <a:ea typeface="Inter" charset="0"/>
                        <a:cs typeface="Inter" charset="0"/>
                      </a:endParaRPr>
                    </a:p>
                  </a:txBody>
                  <a:tcPr marL="62230" marR="62230" marT="62230" marB="62230">
                    <a:lnL w="12700" cap="flat" cmpd="sng" algn="ctr">
                      <a:solidFill>
                        <a:srgbClr val="45505A"/>
                      </a:solidFill>
                      <a:prstDash val="solid"/>
                      <a:round/>
                      <a:headEnd type="none" w="med" len="med"/>
                      <a:tailEnd type="none" w="med" len="med"/>
                    </a:lnL>
                    <a:lnR w="12700" cap="flat" cmpd="sng" algn="ctr">
                      <a:solidFill>
                        <a:srgbClr val="545D66"/>
                      </a:solidFill>
                      <a:prstDash val="solid"/>
                      <a:round/>
                      <a:headEnd type="none" w="med" len="med"/>
                      <a:tailEnd type="none" w="med" len="med"/>
                    </a:lnR>
                    <a:lnT w="12700" cap="flat" cmpd="sng" algn="ctr">
                      <a:solidFill>
                        <a:srgbClr val="45505A"/>
                      </a:solidFill>
                      <a:prstDash val="solid"/>
                      <a:round/>
                      <a:headEnd type="none" w="med" len="med"/>
                      <a:tailEnd type="none" w="med" len="med"/>
                    </a:lnT>
                    <a:lnB w="12700" cap="flat" cmpd="sng" algn="ctr">
                      <a:solidFill>
                        <a:srgbClr val="545D66"/>
                      </a:solidFill>
                      <a:prstDash val="solid"/>
                      <a:round/>
                      <a:headEnd type="none" w="med" len="med"/>
                      <a:tailEnd type="none" w="med" len="med"/>
                    </a:lnB>
                    <a:solidFill>
                      <a:srgbClr val="25313E"/>
                    </a:solidFill>
                  </a:tcPr>
                </a:tc>
                <a:tc>
                  <a:txBody>
                    <a:bodyPr/>
                    <a:lstStyle/>
                    <a:p>
                      <a:pPr marL="0" indent="0">
                        <a:lnSpc>
                          <a:spcPts val="2197"/>
                        </a:lnSpc>
                        <a:buNone/>
                      </a:pPr>
                      <a:r>
                        <a:rPr lang="en-US" sz="1600" b="1" dirty="0">
                          <a:solidFill>
                            <a:srgbClr val="F6F4EF"/>
                          </a:solidFill>
                          <a:latin typeface="Inter" pitchFamily="34" charset="0"/>
                          <a:ea typeface="Inter" pitchFamily="34" charset="-122"/>
                          <a:cs typeface="Inter" pitchFamily="34" charset="-120"/>
                        </a:rPr>
                        <a:t>Classes</a:t>
                      </a:r>
                      <a:endParaRPr lang="en-US" sz="1600" dirty="0">
                        <a:latin typeface="Inter" charset="0"/>
                        <a:ea typeface="Inter" charset="0"/>
                        <a:cs typeface="Inter" charset="0"/>
                      </a:endParaRPr>
                    </a:p>
                  </a:txBody>
                  <a:tcPr marL="62230" marR="62230" marT="62230" marB="62230">
                    <a:lnL w="12700" cap="flat" cmpd="sng" algn="ctr">
                      <a:solidFill>
                        <a:srgbClr val="545D66"/>
                      </a:solidFill>
                      <a:prstDash val="solid"/>
                      <a:round/>
                      <a:headEnd type="none" w="med" len="med"/>
                      <a:tailEnd type="none" w="med" len="med"/>
                    </a:lnL>
                    <a:lnR w="12700" cap="flat" cmpd="sng" algn="ctr">
                      <a:solidFill>
                        <a:srgbClr val="545D66"/>
                      </a:solidFill>
                      <a:prstDash val="solid"/>
                      <a:round/>
                      <a:headEnd type="none" w="med" len="med"/>
                      <a:tailEnd type="none" w="med" len="med"/>
                    </a:lnR>
                    <a:lnT w="12700" cap="flat" cmpd="sng" algn="ctr">
                      <a:solidFill>
                        <a:srgbClr val="45505A"/>
                      </a:solidFill>
                      <a:prstDash val="solid"/>
                      <a:round/>
                      <a:headEnd type="none" w="med" len="med"/>
                      <a:tailEnd type="none" w="med" len="med"/>
                    </a:lnT>
                    <a:lnB w="12700" cap="flat" cmpd="sng" algn="ctr">
                      <a:solidFill>
                        <a:srgbClr val="545D66"/>
                      </a:solidFill>
                      <a:prstDash val="solid"/>
                      <a:round/>
                      <a:headEnd type="none" w="med" len="med"/>
                      <a:tailEnd type="none" w="med" len="med"/>
                    </a:lnB>
                    <a:solidFill>
                      <a:srgbClr val="25313E"/>
                    </a:solidFill>
                  </a:tcPr>
                </a:tc>
                <a:tc>
                  <a:txBody>
                    <a:bodyPr/>
                    <a:lstStyle/>
                    <a:p>
                      <a:pPr marL="0" indent="0">
                        <a:lnSpc>
                          <a:spcPts val="2197"/>
                        </a:lnSpc>
                        <a:buNone/>
                      </a:pPr>
                      <a:r>
                        <a:rPr lang="en-US" sz="1600" b="1" dirty="0">
                          <a:solidFill>
                            <a:srgbClr val="F6F4EF"/>
                          </a:solidFill>
                          <a:latin typeface="Inter" pitchFamily="34" charset="0"/>
                          <a:ea typeface="Inter" pitchFamily="34" charset="-122"/>
                          <a:cs typeface="Inter" pitchFamily="34" charset="-120"/>
                        </a:rPr>
                        <a:t>Validation top-1</a:t>
                      </a:r>
                      <a:endParaRPr lang="en-US" sz="1600" dirty="0">
                        <a:latin typeface="Inter" charset="0"/>
                        <a:ea typeface="Inter" charset="0"/>
                        <a:cs typeface="Inter" charset="0"/>
                      </a:endParaRPr>
                    </a:p>
                  </a:txBody>
                  <a:tcPr marL="62230" marR="62230" marT="62230" marB="62230">
                    <a:lnL w="12700" cap="flat" cmpd="sng" algn="ctr">
                      <a:solidFill>
                        <a:srgbClr val="545D66"/>
                      </a:solidFill>
                      <a:prstDash val="solid"/>
                      <a:round/>
                      <a:headEnd type="none" w="med" len="med"/>
                      <a:tailEnd type="none" w="med" len="med"/>
                    </a:lnL>
                    <a:lnR w="12700" cap="flat" cmpd="sng" algn="ctr">
                      <a:solidFill>
                        <a:srgbClr val="545D66"/>
                      </a:solidFill>
                      <a:prstDash val="solid"/>
                      <a:round/>
                      <a:headEnd type="none" w="med" len="med"/>
                      <a:tailEnd type="none" w="med" len="med"/>
                    </a:lnR>
                    <a:lnT w="12700" cap="flat" cmpd="sng" algn="ctr">
                      <a:solidFill>
                        <a:srgbClr val="45505A"/>
                      </a:solidFill>
                      <a:prstDash val="solid"/>
                      <a:round/>
                      <a:headEnd type="none" w="med" len="med"/>
                      <a:tailEnd type="none" w="med" len="med"/>
                    </a:lnT>
                    <a:lnB w="12700" cap="flat" cmpd="sng" algn="ctr">
                      <a:solidFill>
                        <a:srgbClr val="545D66"/>
                      </a:solidFill>
                      <a:prstDash val="solid"/>
                      <a:round/>
                      <a:headEnd type="none" w="med" len="med"/>
                      <a:tailEnd type="none" w="med" len="med"/>
                    </a:lnB>
                    <a:solidFill>
                      <a:srgbClr val="25313E"/>
                    </a:solidFill>
                  </a:tcPr>
                </a:tc>
                <a:tc>
                  <a:txBody>
                    <a:bodyPr/>
                    <a:lstStyle/>
                    <a:p>
                      <a:pPr marL="0" indent="0">
                        <a:lnSpc>
                          <a:spcPts val="2197"/>
                        </a:lnSpc>
                        <a:buNone/>
                      </a:pPr>
                      <a:r>
                        <a:rPr lang="en-US" sz="1600" b="1" dirty="0">
                          <a:solidFill>
                            <a:srgbClr val="F6F4EF"/>
                          </a:solidFill>
                          <a:latin typeface="Inter" pitchFamily="34" charset="0"/>
                          <a:ea typeface="Inter" pitchFamily="34" charset="-122"/>
                          <a:cs typeface="Inter" pitchFamily="34" charset="-120"/>
                        </a:rPr>
                        <a:t>Test top-1</a:t>
                      </a:r>
                      <a:endParaRPr lang="en-US" sz="1600" dirty="0">
                        <a:latin typeface="Inter" charset="0"/>
                        <a:ea typeface="Inter" charset="0"/>
                        <a:cs typeface="Inter" charset="0"/>
                      </a:endParaRPr>
                    </a:p>
                  </a:txBody>
                  <a:tcPr marL="62230" marR="62230" marT="62230" marB="62230">
                    <a:lnL w="12700" cap="flat" cmpd="sng" algn="ctr">
                      <a:solidFill>
                        <a:srgbClr val="545D66"/>
                      </a:solidFill>
                      <a:prstDash val="solid"/>
                      <a:round/>
                      <a:headEnd type="none" w="med" len="med"/>
                      <a:tailEnd type="none" w="med" len="med"/>
                    </a:lnL>
                    <a:lnR w="12700" cap="flat" cmpd="sng" algn="ctr">
                      <a:solidFill>
                        <a:srgbClr val="545D66"/>
                      </a:solidFill>
                      <a:prstDash val="solid"/>
                      <a:round/>
                      <a:headEnd type="none" w="med" len="med"/>
                      <a:tailEnd type="none" w="med" len="med"/>
                    </a:lnR>
                    <a:lnT w="12700" cap="flat" cmpd="sng" algn="ctr">
                      <a:solidFill>
                        <a:srgbClr val="45505A"/>
                      </a:solidFill>
                      <a:prstDash val="solid"/>
                      <a:round/>
                      <a:headEnd type="none" w="med" len="med"/>
                      <a:tailEnd type="none" w="med" len="med"/>
                    </a:lnT>
                    <a:lnB w="12700" cap="flat" cmpd="sng" algn="ctr">
                      <a:solidFill>
                        <a:srgbClr val="545D66"/>
                      </a:solidFill>
                      <a:prstDash val="solid"/>
                      <a:round/>
                      <a:headEnd type="none" w="med" len="med"/>
                      <a:tailEnd type="none" w="med" len="med"/>
                    </a:lnB>
                    <a:solidFill>
                      <a:srgbClr val="25313E"/>
                    </a:solidFill>
                  </a:tcPr>
                </a:tc>
                <a:tc>
                  <a:txBody>
                    <a:bodyPr/>
                    <a:lstStyle/>
                    <a:p>
                      <a:pPr marL="0" indent="0">
                        <a:lnSpc>
                          <a:spcPts val="2197"/>
                        </a:lnSpc>
                        <a:buNone/>
                      </a:pPr>
                      <a:r>
                        <a:rPr lang="en-US" sz="1600" b="1" dirty="0">
                          <a:solidFill>
                            <a:srgbClr val="F6F4EF"/>
                          </a:solidFill>
                          <a:latin typeface="Inter" pitchFamily="34" charset="0"/>
                          <a:ea typeface="Inter" pitchFamily="34" charset="-122"/>
                          <a:cs typeface="Inter" pitchFamily="34" charset="-120"/>
                        </a:rPr>
                        <a:t>Test top-3</a:t>
                      </a:r>
                      <a:endParaRPr lang="en-US" sz="1600" dirty="0">
                        <a:latin typeface="Inter" charset="0"/>
                        <a:ea typeface="Inter" charset="0"/>
                        <a:cs typeface="Inter" charset="0"/>
                      </a:endParaRPr>
                    </a:p>
                  </a:txBody>
                  <a:tcPr marL="62230" marR="62230" marT="62230" marB="62230">
                    <a:lnL w="12700" cap="flat" cmpd="sng" algn="ctr">
                      <a:solidFill>
                        <a:srgbClr val="545D66"/>
                      </a:solidFill>
                      <a:prstDash val="solid"/>
                      <a:round/>
                      <a:headEnd type="none" w="med" len="med"/>
                      <a:tailEnd type="none" w="med" len="med"/>
                    </a:lnL>
                    <a:lnR w="12700" cap="flat" cmpd="sng" algn="ctr">
                      <a:solidFill>
                        <a:srgbClr val="545D66"/>
                      </a:solidFill>
                      <a:prstDash val="solid"/>
                      <a:round/>
                      <a:headEnd type="none" w="med" len="med"/>
                      <a:tailEnd type="none" w="med" len="med"/>
                    </a:lnR>
                    <a:lnT w="12700" cap="flat" cmpd="sng" algn="ctr">
                      <a:solidFill>
                        <a:srgbClr val="45505A"/>
                      </a:solidFill>
                      <a:prstDash val="solid"/>
                      <a:round/>
                      <a:headEnd type="none" w="med" len="med"/>
                      <a:tailEnd type="none" w="med" len="med"/>
                    </a:lnT>
                    <a:lnB w="12700" cap="flat" cmpd="sng" algn="ctr">
                      <a:solidFill>
                        <a:srgbClr val="545D66"/>
                      </a:solidFill>
                      <a:prstDash val="solid"/>
                      <a:round/>
                      <a:headEnd type="none" w="med" len="med"/>
                      <a:tailEnd type="none" w="med" len="med"/>
                    </a:lnB>
                    <a:solidFill>
                      <a:srgbClr val="25313E"/>
                    </a:solidFill>
                  </a:tcPr>
                </a:tc>
                <a:extLst>
                  <a:ext uri="{0D108BD9-81ED-4DB2-BD59-A6C34878D82A}">
                    <a16:rowId xmlns:a16="http://schemas.microsoft.com/office/drawing/2014/main" val="10000"/>
                  </a:ext>
                </a:extLst>
              </a:tr>
              <a:tr h="441652">
                <a:tc>
                  <a:txBody>
                    <a:bodyPr/>
                    <a:lstStyle/>
                    <a:p>
                      <a:pPr marL="0" indent="0">
                        <a:lnSpc>
                          <a:spcPts val="2197"/>
                        </a:lnSpc>
                        <a:buNone/>
                      </a:pPr>
                      <a:r>
                        <a:rPr lang="en-US" sz="1600" dirty="0">
                          <a:solidFill>
                            <a:srgbClr val="F6F4EF"/>
                          </a:solidFill>
                          <a:latin typeface="Inter" pitchFamily="34" charset="0"/>
                          <a:ea typeface="Inter" pitchFamily="34" charset="-122"/>
                          <a:cs typeface="Inter" pitchFamily="34" charset="-120"/>
                        </a:rPr>
                        <a:t>ASL words</a:t>
                      </a:r>
                      <a:endParaRPr lang="en-US" sz="1600" dirty="0">
                        <a:latin typeface="Inter" charset="0"/>
                        <a:ea typeface="Inter" charset="0"/>
                        <a:cs typeface="Inter" charset="0"/>
                      </a:endParaRPr>
                    </a:p>
                  </a:txBody>
                  <a:tcPr marL="62230" marR="62230" marT="62230" marB="62230">
                    <a:lnL w="12700" cap="flat" cmpd="sng" algn="ctr">
                      <a:solidFill>
                        <a:srgbClr val="45505A"/>
                      </a:solidFill>
                      <a:prstDash val="solid"/>
                      <a:round/>
                      <a:headEnd type="none" w="med" len="med"/>
                      <a:tailEnd type="none" w="med" len="med"/>
                    </a:lnL>
                    <a:lnR w="12700" cap="flat" cmpd="sng" algn="ctr">
                      <a:solidFill>
                        <a:srgbClr val="45505A"/>
                      </a:solidFill>
                      <a:prstDash val="solid"/>
                      <a:round/>
                      <a:headEnd type="none" w="med" len="med"/>
                      <a:tailEnd type="none" w="med" len="med"/>
                    </a:lnR>
                    <a:lnT w="12700" cap="flat" cmpd="sng" algn="ctr">
                      <a:solidFill>
                        <a:srgbClr val="545D66"/>
                      </a:solidFill>
                      <a:prstDash val="solid"/>
                      <a:round/>
                      <a:headEnd type="none" w="med" len="med"/>
                      <a:tailEnd type="none" w="med" len="med"/>
                    </a:lnT>
                    <a:lnB w="12700" cap="flat" cmpd="sng" algn="ctr">
                      <a:solidFill>
                        <a:srgbClr val="45505A"/>
                      </a:solidFill>
                      <a:prstDash val="solid"/>
                      <a:round/>
                      <a:headEnd type="none" w="med" len="med"/>
                      <a:tailEnd type="none" w="med" len="med"/>
                    </a:lnB>
                  </a:tcPr>
                </a:tc>
                <a:tc>
                  <a:txBody>
                    <a:bodyPr/>
                    <a:lstStyle/>
                    <a:p>
                      <a:pPr marL="0" indent="0">
                        <a:lnSpc>
                          <a:spcPts val="2197"/>
                        </a:lnSpc>
                        <a:buNone/>
                      </a:pPr>
                      <a:r>
                        <a:rPr lang="en-US" sz="1600" dirty="0">
                          <a:solidFill>
                            <a:srgbClr val="F6F4EF"/>
                          </a:solidFill>
                          <a:latin typeface="Inter" pitchFamily="34" charset="0"/>
                          <a:ea typeface="Inter" pitchFamily="34" charset="-122"/>
                          <a:cs typeface="Inter" pitchFamily="34" charset="-120"/>
                        </a:rPr>
                        <a:t>23</a:t>
                      </a:r>
                      <a:endParaRPr lang="en-US" sz="1600" dirty="0">
                        <a:latin typeface="Inter" charset="0"/>
                        <a:ea typeface="Inter" charset="0"/>
                        <a:cs typeface="Inter" charset="0"/>
                      </a:endParaRPr>
                    </a:p>
                  </a:txBody>
                  <a:tcPr marL="62230" marR="62230" marT="62230" marB="62230">
                    <a:lnL w="12700" cap="flat" cmpd="sng" algn="ctr">
                      <a:solidFill>
                        <a:srgbClr val="45505A"/>
                      </a:solidFill>
                      <a:prstDash val="solid"/>
                      <a:round/>
                      <a:headEnd type="none" w="med" len="med"/>
                      <a:tailEnd type="none" w="med" len="med"/>
                    </a:lnL>
                    <a:lnR w="12700" cap="flat" cmpd="sng" algn="ctr">
                      <a:solidFill>
                        <a:srgbClr val="45505A"/>
                      </a:solidFill>
                      <a:prstDash val="solid"/>
                      <a:round/>
                      <a:headEnd type="none" w="med" len="med"/>
                      <a:tailEnd type="none" w="med" len="med"/>
                    </a:lnR>
                    <a:lnT w="12700" cap="flat" cmpd="sng" algn="ctr">
                      <a:solidFill>
                        <a:srgbClr val="545D66"/>
                      </a:solidFill>
                      <a:prstDash val="solid"/>
                      <a:round/>
                      <a:headEnd type="none" w="med" len="med"/>
                      <a:tailEnd type="none" w="med" len="med"/>
                    </a:lnT>
                    <a:lnB w="12700" cap="flat" cmpd="sng" algn="ctr">
                      <a:solidFill>
                        <a:srgbClr val="45505A"/>
                      </a:solidFill>
                      <a:prstDash val="solid"/>
                      <a:round/>
                      <a:headEnd type="none" w="med" len="med"/>
                      <a:tailEnd type="none" w="med" len="med"/>
                    </a:lnB>
                  </a:tcPr>
                </a:tc>
                <a:tc>
                  <a:txBody>
                    <a:bodyPr/>
                    <a:lstStyle/>
                    <a:p>
                      <a:pPr marL="0" indent="0">
                        <a:lnSpc>
                          <a:spcPts val="2197"/>
                        </a:lnSpc>
                        <a:buNone/>
                      </a:pPr>
                      <a:r>
                        <a:rPr lang="en-US" sz="1600" dirty="0">
                          <a:solidFill>
                            <a:srgbClr val="F6F4EF"/>
                          </a:solidFill>
                          <a:latin typeface="Inter" pitchFamily="34" charset="0"/>
                          <a:ea typeface="Inter" pitchFamily="34" charset="-122"/>
                          <a:cs typeface="Inter" pitchFamily="34" charset="-120"/>
                        </a:rPr>
                        <a:t>92.2%</a:t>
                      </a:r>
                      <a:endParaRPr lang="en-US" sz="1600" dirty="0">
                        <a:latin typeface="Inter" charset="0"/>
                        <a:ea typeface="Inter" charset="0"/>
                        <a:cs typeface="Inter" charset="0"/>
                      </a:endParaRPr>
                    </a:p>
                  </a:txBody>
                  <a:tcPr marL="62230" marR="62230" marT="62230" marB="62230">
                    <a:lnL w="12700" cap="flat" cmpd="sng" algn="ctr">
                      <a:solidFill>
                        <a:srgbClr val="45505A"/>
                      </a:solidFill>
                      <a:prstDash val="solid"/>
                      <a:round/>
                      <a:headEnd type="none" w="med" len="med"/>
                      <a:tailEnd type="none" w="med" len="med"/>
                    </a:lnL>
                    <a:lnR w="12700" cap="flat" cmpd="sng" algn="ctr">
                      <a:solidFill>
                        <a:srgbClr val="45505A"/>
                      </a:solidFill>
                      <a:prstDash val="solid"/>
                      <a:round/>
                      <a:headEnd type="none" w="med" len="med"/>
                      <a:tailEnd type="none" w="med" len="med"/>
                    </a:lnR>
                    <a:lnT w="12700" cap="flat" cmpd="sng" algn="ctr">
                      <a:solidFill>
                        <a:srgbClr val="545D66"/>
                      </a:solidFill>
                      <a:prstDash val="solid"/>
                      <a:round/>
                      <a:headEnd type="none" w="med" len="med"/>
                      <a:tailEnd type="none" w="med" len="med"/>
                    </a:lnT>
                    <a:lnB w="12700" cap="flat" cmpd="sng" algn="ctr">
                      <a:solidFill>
                        <a:srgbClr val="45505A"/>
                      </a:solidFill>
                      <a:prstDash val="solid"/>
                      <a:round/>
                      <a:headEnd type="none" w="med" len="med"/>
                      <a:tailEnd type="none" w="med" len="med"/>
                    </a:lnB>
                  </a:tcPr>
                </a:tc>
                <a:tc>
                  <a:txBody>
                    <a:bodyPr/>
                    <a:lstStyle/>
                    <a:p>
                      <a:pPr marL="0" indent="0">
                        <a:lnSpc>
                          <a:spcPts val="2197"/>
                        </a:lnSpc>
                        <a:buNone/>
                      </a:pPr>
                      <a:r>
                        <a:rPr lang="en-US" sz="1600" dirty="0">
                          <a:solidFill>
                            <a:srgbClr val="F6F4EF"/>
                          </a:solidFill>
                          <a:latin typeface="Inter" pitchFamily="34" charset="0"/>
                          <a:ea typeface="Inter" pitchFamily="34" charset="-122"/>
                          <a:cs typeface="Inter" pitchFamily="34" charset="-120"/>
                        </a:rPr>
                        <a:t>86.3%</a:t>
                      </a:r>
                      <a:endParaRPr lang="en-US" sz="1600" dirty="0">
                        <a:latin typeface="Inter" charset="0"/>
                        <a:ea typeface="Inter" charset="0"/>
                        <a:cs typeface="Inter" charset="0"/>
                      </a:endParaRPr>
                    </a:p>
                  </a:txBody>
                  <a:tcPr marL="62230" marR="62230" marT="62230" marB="62230">
                    <a:lnL w="12700" cap="flat" cmpd="sng" algn="ctr">
                      <a:solidFill>
                        <a:srgbClr val="45505A"/>
                      </a:solidFill>
                      <a:prstDash val="solid"/>
                      <a:round/>
                      <a:headEnd type="none" w="med" len="med"/>
                      <a:tailEnd type="none" w="med" len="med"/>
                    </a:lnL>
                    <a:lnR w="12700" cap="flat" cmpd="sng" algn="ctr">
                      <a:solidFill>
                        <a:srgbClr val="45505A"/>
                      </a:solidFill>
                      <a:prstDash val="solid"/>
                      <a:round/>
                      <a:headEnd type="none" w="med" len="med"/>
                      <a:tailEnd type="none" w="med" len="med"/>
                    </a:lnR>
                    <a:lnT w="12700" cap="flat" cmpd="sng" algn="ctr">
                      <a:solidFill>
                        <a:srgbClr val="545D66"/>
                      </a:solidFill>
                      <a:prstDash val="solid"/>
                      <a:round/>
                      <a:headEnd type="none" w="med" len="med"/>
                      <a:tailEnd type="none" w="med" len="med"/>
                    </a:lnT>
                    <a:lnB w="12700" cap="flat" cmpd="sng" algn="ctr">
                      <a:solidFill>
                        <a:srgbClr val="45505A"/>
                      </a:solidFill>
                      <a:prstDash val="solid"/>
                      <a:round/>
                      <a:headEnd type="none" w="med" len="med"/>
                      <a:tailEnd type="none" w="med" len="med"/>
                    </a:lnB>
                  </a:tcPr>
                </a:tc>
                <a:tc>
                  <a:txBody>
                    <a:bodyPr/>
                    <a:lstStyle/>
                    <a:p>
                      <a:pPr marL="0" indent="0">
                        <a:lnSpc>
                          <a:spcPts val="2197"/>
                        </a:lnSpc>
                        <a:buNone/>
                      </a:pPr>
                      <a:r>
                        <a:rPr lang="en-US" sz="1600" dirty="0">
                          <a:solidFill>
                            <a:srgbClr val="F6F4EF"/>
                          </a:solidFill>
                          <a:latin typeface="Inter" pitchFamily="34" charset="0"/>
                          <a:ea typeface="Inter" pitchFamily="34" charset="-122"/>
                          <a:cs typeface="Inter" pitchFamily="34" charset="-120"/>
                        </a:rPr>
                        <a:t>95.4%</a:t>
                      </a:r>
                      <a:endParaRPr lang="en-US" sz="1600" dirty="0">
                        <a:latin typeface="Inter" charset="0"/>
                        <a:ea typeface="Inter" charset="0"/>
                        <a:cs typeface="Inter" charset="0"/>
                      </a:endParaRPr>
                    </a:p>
                  </a:txBody>
                  <a:tcPr marL="62230" marR="62230" marT="62230" marB="62230">
                    <a:lnL w="12700" cap="flat" cmpd="sng" algn="ctr">
                      <a:solidFill>
                        <a:srgbClr val="45505A"/>
                      </a:solidFill>
                      <a:prstDash val="solid"/>
                      <a:round/>
                      <a:headEnd type="none" w="med" len="med"/>
                      <a:tailEnd type="none" w="med" len="med"/>
                    </a:lnL>
                    <a:lnR w="12700" cap="flat" cmpd="sng" algn="ctr">
                      <a:solidFill>
                        <a:srgbClr val="45505A"/>
                      </a:solidFill>
                      <a:prstDash val="solid"/>
                      <a:round/>
                      <a:headEnd type="none" w="med" len="med"/>
                      <a:tailEnd type="none" w="med" len="med"/>
                    </a:lnR>
                    <a:lnT w="12700" cap="flat" cmpd="sng" algn="ctr">
                      <a:solidFill>
                        <a:srgbClr val="545D66"/>
                      </a:solidFill>
                      <a:prstDash val="solid"/>
                      <a:round/>
                      <a:headEnd type="none" w="med" len="med"/>
                      <a:tailEnd type="none" w="med" len="med"/>
                    </a:lnT>
                    <a:lnB w="12700" cap="flat" cmpd="sng" algn="ctr">
                      <a:solidFill>
                        <a:srgbClr val="45505A"/>
                      </a:solidFill>
                      <a:prstDash val="solid"/>
                      <a:round/>
                      <a:headEnd type="none" w="med" len="med"/>
                      <a:tailEnd type="none" w="med" len="med"/>
                    </a:lnB>
                  </a:tcPr>
                </a:tc>
                <a:extLst>
                  <a:ext uri="{0D108BD9-81ED-4DB2-BD59-A6C34878D82A}">
                    <a16:rowId xmlns:a16="http://schemas.microsoft.com/office/drawing/2014/main" val="10001"/>
                  </a:ext>
                </a:extLst>
              </a:tr>
              <a:tr h="441652">
                <a:tc>
                  <a:txBody>
                    <a:bodyPr/>
                    <a:lstStyle/>
                    <a:p>
                      <a:pPr marL="0" indent="0">
                        <a:lnSpc>
                          <a:spcPts val="2197"/>
                        </a:lnSpc>
                        <a:buNone/>
                      </a:pPr>
                      <a:r>
                        <a:rPr lang="en-US" sz="1600" dirty="0">
                          <a:solidFill>
                            <a:srgbClr val="F6F4EF"/>
                          </a:solidFill>
                          <a:latin typeface="Inter" pitchFamily="34" charset="0"/>
                          <a:ea typeface="Inter" pitchFamily="34" charset="-122"/>
                          <a:cs typeface="Inter" pitchFamily="34" charset="-120"/>
                        </a:rPr>
                        <a:t>ISL words</a:t>
                      </a:r>
                      <a:endParaRPr lang="en-US" sz="1600" dirty="0">
                        <a:latin typeface="Inter" charset="0"/>
                        <a:ea typeface="Inter" charset="0"/>
                        <a:cs typeface="Inter" charset="0"/>
                      </a:endParaRPr>
                    </a:p>
                  </a:txBody>
                  <a:tcPr marL="62230" marR="62230" marT="62230" marB="62230">
                    <a:lnL w="12700" cap="flat" cmpd="sng" algn="ctr">
                      <a:solidFill>
                        <a:srgbClr val="45505A"/>
                      </a:solidFill>
                      <a:prstDash val="solid"/>
                      <a:round/>
                      <a:headEnd type="none" w="med" len="med"/>
                      <a:tailEnd type="none" w="med" len="med"/>
                    </a:lnL>
                    <a:lnR w="12700" cap="flat" cmpd="sng" algn="ctr">
                      <a:solidFill>
                        <a:srgbClr val="45505A"/>
                      </a:solidFill>
                      <a:prstDash val="solid"/>
                      <a:round/>
                      <a:headEnd type="none" w="med" len="med"/>
                      <a:tailEnd type="none" w="med" len="med"/>
                    </a:lnR>
                    <a:lnT w="12700" cap="flat" cmpd="sng" algn="ctr">
                      <a:solidFill>
                        <a:srgbClr val="45505A"/>
                      </a:solidFill>
                      <a:prstDash val="solid"/>
                      <a:round/>
                      <a:headEnd type="none" w="med" len="med"/>
                      <a:tailEnd type="none" w="med" len="med"/>
                    </a:lnT>
                    <a:lnB w="12700" cap="flat" cmpd="sng" algn="ctr">
                      <a:solidFill>
                        <a:srgbClr val="45505A"/>
                      </a:solidFill>
                      <a:prstDash val="solid"/>
                      <a:round/>
                      <a:headEnd type="none" w="med" len="med"/>
                      <a:tailEnd type="none" w="med" len="med"/>
                    </a:lnB>
                  </a:tcPr>
                </a:tc>
                <a:tc>
                  <a:txBody>
                    <a:bodyPr/>
                    <a:lstStyle/>
                    <a:p>
                      <a:pPr marL="0" indent="0">
                        <a:lnSpc>
                          <a:spcPts val="2197"/>
                        </a:lnSpc>
                        <a:buNone/>
                      </a:pPr>
                      <a:r>
                        <a:rPr lang="en-US" sz="1600" dirty="0">
                          <a:solidFill>
                            <a:srgbClr val="F6F4EF"/>
                          </a:solidFill>
                          <a:latin typeface="Inter" pitchFamily="34" charset="0"/>
                          <a:ea typeface="Inter" pitchFamily="34" charset="-122"/>
                          <a:cs typeface="Inter" pitchFamily="34" charset="-120"/>
                        </a:rPr>
                        <a:t>51</a:t>
                      </a:r>
                      <a:endParaRPr lang="en-US" sz="1600" dirty="0">
                        <a:latin typeface="Inter" charset="0"/>
                        <a:ea typeface="Inter" charset="0"/>
                        <a:cs typeface="Inter" charset="0"/>
                      </a:endParaRPr>
                    </a:p>
                  </a:txBody>
                  <a:tcPr marL="62230" marR="62230" marT="62230" marB="62230">
                    <a:lnL w="12700" cap="flat" cmpd="sng" algn="ctr">
                      <a:solidFill>
                        <a:srgbClr val="45505A"/>
                      </a:solidFill>
                      <a:prstDash val="solid"/>
                      <a:round/>
                      <a:headEnd type="none" w="med" len="med"/>
                      <a:tailEnd type="none" w="med" len="med"/>
                    </a:lnL>
                    <a:lnR w="12700" cap="flat" cmpd="sng" algn="ctr">
                      <a:solidFill>
                        <a:srgbClr val="45505A"/>
                      </a:solidFill>
                      <a:prstDash val="solid"/>
                      <a:round/>
                      <a:headEnd type="none" w="med" len="med"/>
                      <a:tailEnd type="none" w="med" len="med"/>
                    </a:lnR>
                    <a:lnT w="12700" cap="flat" cmpd="sng" algn="ctr">
                      <a:solidFill>
                        <a:srgbClr val="45505A"/>
                      </a:solidFill>
                      <a:prstDash val="solid"/>
                      <a:round/>
                      <a:headEnd type="none" w="med" len="med"/>
                      <a:tailEnd type="none" w="med" len="med"/>
                    </a:lnT>
                    <a:lnB w="12700" cap="flat" cmpd="sng" algn="ctr">
                      <a:solidFill>
                        <a:srgbClr val="45505A"/>
                      </a:solidFill>
                      <a:prstDash val="solid"/>
                      <a:round/>
                      <a:headEnd type="none" w="med" len="med"/>
                      <a:tailEnd type="none" w="med" len="med"/>
                    </a:lnB>
                  </a:tcPr>
                </a:tc>
                <a:tc>
                  <a:txBody>
                    <a:bodyPr/>
                    <a:lstStyle/>
                    <a:p>
                      <a:pPr marL="0" indent="0">
                        <a:lnSpc>
                          <a:spcPts val="2197"/>
                        </a:lnSpc>
                        <a:buNone/>
                      </a:pPr>
                      <a:r>
                        <a:rPr lang="en-US" sz="1600" dirty="0">
                          <a:solidFill>
                            <a:srgbClr val="F6F4EF"/>
                          </a:solidFill>
                          <a:latin typeface="Inter" pitchFamily="34" charset="0"/>
                          <a:ea typeface="Inter" pitchFamily="34" charset="-122"/>
                          <a:cs typeface="Inter" pitchFamily="34" charset="-120"/>
                        </a:rPr>
                        <a:t>98.5%</a:t>
                      </a:r>
                      <a:endParaRPr lang="en-US" sz="1600" dirty="0">
                        <a:latin typeface="Inter" charset="0"/>
                        <a:ea typeface="Inter" charset="0"/>
                        <a:cs typeface="Inter" charset="0"/>
                      </a:endParaRPr>
                    </a:p>
                  </a:txBody>
                  <a:tcPr marL="62230" marR="62230" marT="62230" marB="62230">
                    <a:lnL w="12700" cap="flat" cmpd="sng" algn="ctr">
                      <a:solidFill>
                        <a:srgbClr val="45505A"/>
                      </a:solidFill>
                      <a:prstDash val="solid"/>
                      <a:round/>
                      <a:headEnd type="none" w="med" len="med"/>
                      <a:tailEnd type="none" w="med" len="med"/>
                    </a:lnL>
                    <a:lnR w="12700" cap="flat" cmpd="sng" algn="ctr">
                      <a:solidFill>
                        <a:srgbClr val="45505A"/>
                      </a:solidFill>
                      <a:prstDash val="solid"/>
                      <a:round/>
                      <a:headEnd type="none" w="med" len="med"/>
                      <a:tailEnd type="none" w="med" len="med"/>
                    </a:lnR>
                    <a:lnT w="12700" cap="flat" cmpd="sng" algn="ctr">
                      <a:solidFill>
                        <a:srgbClr val="45505A"/>
                      </a:solidFill>
                      <a:prstDash val="solid"/>
                      <a:round/>
                      <a:headEnd type="none" w="med" len="med"/>
                      <a:tailEnd type="none" w="med" len="med"/>
                    </a:lnT>
                    <a:lnB w="12700" cap="flat" cmpd="sng" algn="ctr">
                      <a:solidFill>
                        <a:srgbClr val="45505A"/>
                      </a:solidFill>
                      <a:prstDash val="solid"/>
                      <a:round/>
                      <a:headEnd type="none" w="med" len="med"/>
                      <a:tailEnd type="none" w="med" len="med"/>
                    </a:lnB>
                  </a:tcPr>
                </a:tc>
                <a:tc>
                  <a:txBody>
                    <a:bodyPr/>
                    <a:lstStyle/>
                    <a:p>
                      <a:pPr marL="0" indent="0">
                        <a:lnSpc>
                          <a:spcPts val="2197"/>
                        </a:lnSpc>
                        <a:buNone/>
                      </a:pPr>
                      <a:r>
                        <a:rPr lang="en-US" sz="1600" dirty="0">
                          <a:solidFill>
                            <a:srgbClr val="F6F4EF"/>
                          </a:solidFill>
                          <a:latin typeface="Inter" pitchFamily="34" charset="0"/>
                          <a:ea typeface="Inter" pitchFamily="34" charset="-122"/>
                          <a:cs typeface="Inter" pitchFamily="34" charset="-120"/>
                        </a:rPr>
                        <a:t>94.6%</a:t>
                      </a:r>
                      <a:endParaRPr lang="en-US" sz="1600" dirty="0">
                        <a:latin typeface="Inter" charset="0"/>
                        <a:ea typeface="Inter" charset="0"/>
                        <a:cs typeface="Inter" charset="0"/>
                      </a:endParaRPr>
                    </a:p>
                  </a:txBody>
                  <a:tcPr marL="62230" marR="62230" marT="62230" marB="62230">
                    <a:lnL w="12700" cap="flat" cmpd="sng" algn="ctr">
                      <a:solidFill>
                        <a:srgbClr val="45505A"/>
                      </a:solidFill>
                      <a:prstDash val="solid"/>
                      <a:round/>
                      <a:headEnd type="none" w="med" len="med"/>
                      <a:tailEnd type="none" w="med" len="med"/>
                    </a:lnL>
                    <a:lnR w="12700" cap="flat" cmpd="sng" algn="ctr">
                      <a:solidFill>
                        <a:srgbClr val="45505A"/>
                      </a:solidFill>
                      <a:prstDash val="solid"/>
                      <a:round/>
                      <a:headEnd type="none" w="med" len="med"/>
                      <a:tailEnd type="none" w="med" len="med"/>
                    </a:lnR>
                    <a:lnT w="12700" cap="flat" cmpd="sng" algn="ctr">
                      <a:solidFill>
                        <a:srgbClr val="45505A"/>
                      </a:solidFill>
                      <a:prstDash val="solid"/>
                      <a:round/>
                      <a:headEnd type="none" w="med" len="med"/>
                      <a:tailEnd type="none" w="med" len="med"/>
                    </a:lnT>
                    <a:lnB w="12700" cap="flat" cmpd="sng" algn="ctr">
                      <a:solidFill>
                        <a:srgbClr val="45505A"/>
                      </a:solidFill>
                      <a:prstDash val="solid"/>
                      <a:round/>
                      <a:headEnd type="none" w="med" len="med"/>
                      <a:tailEnd type="none" w="med" len="med"/>
                    </a:lnB>
                  </a:tcPr>
                </a:tc>
                <a:tc>
                  <a:txBody>
                    <a:bodyPr/>
                    <a:lstStyle/>
                    <a:p>
                      <a:pPr marL="0" indent="0">
                        <a:lnSpc>
                          <a:spcPts val="2197"/>
                        </a:lnSpc>
                        <a:buNone/>
                      </a:pPr>
                      <a:r>
                        <a:rPr lang="en-US" sz="1600" dirty="0">
                          <a:solidFill>
                            <a:srgbClr val="F6F4EF"/>
                          </a:solidFill>
                          <a:latin typeface="Inter" pitchFamily="34" charset="0"/>
                          <a:ea typeface="Inter" pitchFamily="34" charset="-122"/>
                          <a:cs typeface="Inter" pitchFamily="34" charset="-120"/>
                        </a:rPr>
                        <a:t>99.4%</a:t>
                      </a:r>
                      <a:endParaRPr lang="en-US" sz="1600" dirty="0">
                        <a:latin typeface="Inter" charset="0"/>
                        <a:ea typeface="Inter" charset="0"/>
                        <a:cs typeface="Inter" charset="0"/>
                      </a:endParaRPr>
                    </a:p>
                  </a:txBody>
                  <a:tcPr marL="62230" marR="62230" marT="62230" marB="62230">
                    <a:lnL w="12700" cap="flat" cmpd="sng" algn="ctr">
                      <a:solidFill>
                        <a:srgbClr val="45505A"/>
                      </a:solidFill>
                      <a:prstDash val="solid"/>
                      <a:round/>
                      <a:headEnd type="none" w="med" len="med"/>
                      <a:tailEnd type="none" w="med" len="med"/>
                    </a:lnL>
                    <a:lnR w="12700" cap="flat" cmpd="sng" algn="ctr">
                      <a:solidFill>
                        <a:srgbClr val="45505A"/>
                      </a:solidFill>
                      <a:prstDash val="solid"/>
                      <a:round/>
                      <a:headEnd type="none" w="med" len="med"/>
                      <a:tailEnd type="none" w="med" len="med"/>
                    </a:lnR>
                    <a:lnT w="12700" cap="flat" cmpd="sng" algn="ctr">
                      <a:solidFill>
                        <a:srgbClr val="45505A"/>
                      </a:solidFill>
                      <a:prstDash val="solid"/>
                      <a:round/>
                      <a:headEnd type="none" w="med" len="med"/>
                      <a:tailEnd type="none" w="med" len="med"/>
                    </a:lnT>
                    <a:lnB w="12700" cap="flat" cmpd="sng" algn="ctr">
                      <a:solidFill>
                        <a:srgbClr val="45505A"/>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Text 7"/>
          <p:cNvSpPr/>
          <p:nvPr/>
        </p:nvSpPr>
        <p:spPr>
          <a:xfrm>
            <a:off x="812800" y="5295360"/>
            <a:ext cx="9810750" cy="602519"/>
          </a:xfrm>
          <a:prstGeom prst="rect">
            <a:avLst/>
          </a:prstGeom>
          <a:noFill/>
          <a:ln/>
        </p:spPr>
        <p:txBody>
          <a:bodyPr wrap="square" lIns="0" tIns="0" rIns="0" bIns="0" rtlCol="0" anchor="t"/>
          <a:lstStyle/>
          <a:p>
            <a:pPr marL="0" indent="0" algn="l">
              <a:lnSpc>
                <a:spcPts val="2197"/>
              </a:lnSpc>
              <a:buNone/>
            </a:pPr>
            <a:r>
              <a:rPr lang="en-US" sz="1600" dirty="0">
                <a:solidFill>
                  <a:srgbClr val="B9C3CC"/>
                </a:solidFill>
                <a:latin typeface="Inter" pitchFamily="34" charset="0"/>
                <a:ea typeface="Inter" pitchFamily="34" charset="-122"/>
                <a:cs typeface="Inter" pitchFamily="34" charset="-120"/>
              </a:rPr>
              <a:t>Offline results on held-out clips from controlled datasets. Expect lower accuracy on a personal webcam, especially for ISL. No accuracy figure is reported for the letter model.</a:t>
            </a:r>
            <a:endParaRPr lang="en-US" sz="1600" dirty="0"/>
          </a:p>
        </p:txBody>
      </p:sp>
      <p:sp>
        <p:nvSpPr>
          <p:cNvPr id="11" name="Text 8"/>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CC"/>
                </a:solidFill>
                <a:latin typeface="Inter" pitchFamily="34" charset="0"/>
                <a:ea typeface="Inter" pitchFamily="34" charset="-122"/>
                <a:cs typeface="Inter" pitchFamily="34" charset="-120"/>
              </a:rPr>
              <a:t>Sign Language Recognition (ASL + ISL)</a:t>
            </a:r>
            <a:endParaRPr lang="en-US" sz="1200" dirty="0"/>
          </a:p>
        </p:txBody>
      </p:sp>
      <p:sp>
        <p:nvSpPr>
          <p:cNvPr id="12" name="Text 9"/>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3CC"/>
                </a:solidFill>
                <a:latin typeface="Inter" pitchFamily="34" charset="0"/>
                <a:ea typeface="Inter" pitchFamily="34" charset="-122"/>
                <a:cs typeface="Inte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202E"/>
                </a:solidFill>
                <a:latin typeface="Source Serif 4" pitchFamily="18" charset="0"/>
                <a:ea typeface="Source Serif 4" pitchFamily="18" charset="-122"/>
                <a:cs typeface="Source Serif 4" pitchFamily="18" charset="-120"/>
              </a:rPr>
              <a:t>Dashboard Features</a:t>
            </a:r>
            <a:endParaRPr lang="en-US" sz="3600" dirty="0"/>
          </a:p>
        </p:txBody>
      </p:sp>
      <p:sp>
        <p:nvSpPr>
          <p:cNvPr id="3" name="Shape 1"/>
          <p:cNvSpPr/>
          <p:nvPr/>
        </p:nvSpPr>
        <p:spPr>
          <a:xfrm>
            <a:off x="815975" y="1554480"/>
            <a:ext cx="3380264" cy="2027617"/>
          </a:xfrm>
          <a:prstGeom prst="roundRect">
            <a:avLst>
              <a:gd name="adj" fmla="val 6675"/>
            </a:avLst>
          </a:prstGeom>
          <a:solidFill>
            <a:srgbClr val="FBFAF6"/>
          </a:solidFill>
          <a:ln w="6350">
            <a:solidFill>
              <a:srgbClr val="DCD8CC"/>
            </a:solidFill>
            <a:prstDash val="solid"/>
          </a:ln>
        </p:spPr>
        <p:txBody>
          <a:bodyPr/>
          <a:lstStyle/>
          <a:p>
            <a:endParaRPr/>
          </a:p>
        </p:txBody>
      </p:sp>
      <p:sp>
        <p:nvSpPr>
          <p:cNvPr id="4" name="Text 2"/>
          <p:cNvSpPr/>
          <p:nvPr/>
        </p:nvSpPr>
        <p:spPr>
          <a:xfrm>
            <a:off x="1046480" y="1871457"/>
            <a:ext cx="3006831" cy="1527760"/>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Live decoding</a:t>
            </a:r>
            <a:endParaRPr lang="en-US" sz="1900" dirty="0"/>
          </a:p>
        </p:txBody>
      </p:sp>
      <p:sp>
        <p:nvSpPr>
          <p:cNvPr id="5" name="Text 3"/>
          <p:cNvSpPr/>
          <p:nvPr/>
        </p:nvSpPr>
        <p:spPr>
          <a:xfrm>
            <a:off x="1046480" y="2311563"/>
            <a:ext cx="3006831" cy="1087654"/>
          </a:xfrm>
          <a:prstGeom prst="rect">
            <a:avLst/>
          </a:prstGeom>
          <a:noFill/>
          <a:ln/>
        </p:spPr>
        <p:txBody>
          <a:bodyPr wrap="square" lIns="0" tIns="0" rIns="0" bIns="0" rtlCol="0" anchor="t"/>
          <a:lstStyle/>
          <a:p>
            <a:pPr marL="0" indent="0" algn="l">
              <a:lnSpc>
                <a:spcPts val="2184"/>
              </a:lnSpc>
              <a:buNone/>
            </a:pPr>
            <a:r>
              <a:rPr lang="en-US" sz="1600" dirty="0">
                <a:solidFill>
                  <a:srgbClr val="55606B"/>
                </a:solidFill>
                <a:latin typeface="Inter" pitchFamily="34" charset="0"/>
                <a:ea typeface="Inter" pitchFamily="34" charset="-122"/>
                <a:cs typeface="Inter" pitchFamily="34" charset="-120"/>
              </a:rPr>
              <a:t>A sign starts when the hands appear and ends when they leave the picture.</a:t>
            </a:r>
            <a:endParaRPr lang="en-US" sz="1600" dirty="0"/>
          </a:p>
        </p:txBody>
      </p:sp>
      <p:sp>
        <p:nvSpPr>
          <p:cNvPr id="6" name="Shape 4"/>
          <p:cNvSpPr/>
          <p:nvPr/>
        </p:nvSpPr>
        <p:spPr>
          <a:xfrm>
            <a:off x="4405789" y="1554480"/>
            <a:ext cx="3380343" cy="2027617"/>
          </a:xfrm>
          <a:prstGeom prst="roundRect">
            <a:avLst>
              <a:gd name="adj" fmla="val 6675"/>
            </a:avLst>
          </a:prstGeom>
          <a:solidFill>
            <a:srgbClr val="FBFAF6"/>
          </a:solidFill>
          <a:ln w="6350">
            <a:solidFill>
              <a:srgbClr val="DCD8CC"/>
            </a:solidFill>
            <a:prstDash val="solid"/>
          </a:ln>
        </p:spPr>
        <p:txBody>
          <a:bodyPr/>
          <a:lstStyle/>
          <a:p>
            <a:endParaRPr/>
          </a:p>
        </p:txBody>
      </p:sp>
      <p:sp>
        <p:nvSpPr>
          <p:cNvPr id="7" name="Text 5"/>
          <p:cNvSpPr/>
          <p:nvPr/>
        </p:nvSpPr>
        <p:spPr>
          <a:xfrm>
            <a:off x="4636294" y="1871457"/>
            <a:ext cx="3006913" cy="1527760"/>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Video upload</a:t>
            </a:r>
            <a:endParaRPr lang="en-US" sz="1900" dirty="0"/>
          </a:p>
        </p:txBody>
      </p:sp>
      <p:sp>
        <p:nvSpPr>
          <p:cNvPr id="8" name="Text 6"/>
          <p:cNvSpPr/>
          <p:nvPr/>
        </p:nvSpPr>
        <p:spPr>
          <a:xfrm>
            <a:off x="4636294" y="2311563"/>
            <a:ext cx="3006913" cy="1087654"/>
          </a:xfrm>
          <a:prstGeom prst="rect">
            <a:avLst/>
          </a:prstGeom>
          <a:noFill/>
          <a:ln/>
        </p:spPr>
        <p:txBody>
          <a:bodyPr wrap="square" lIns="0" tIns="0" rIns="0" bIns="0" rtlCol="0" anchor="t"/>
          <a:lstStyle/>
          <a:p>
            <a:pPr marL="0" indent="0" algn="l">
              <a:lnSpc>
                <a:spcPts val="2184"/>
              </a:lnSpc>
              <a:buNone/>
            </a:pPr>
            <a:r>
              <a:rPr lang="en-US" sz="1600" dirty="0">
                <a:solidFill>
                  <a:srgbClr val="55606B"/>
                </a:solidFill>
                <a:latin typeface="Inter" pitchFamily="34" charset="0"/>
                <a:ea typeface="Inter" pitchFamily="34" charset="-122"/>
                <a:cs typeface="Inter" pitchFamily="34" charset="-120"/>
              </a:rPr>
              <a:t>Decode a recorded clip as one sign or split it into several words.</a:t>
            </a:r>
            <a:endParaRPr lang="en-US" sz="1600" dirty="0"/>
          </a:p>
        </p:txBody>
      </p:sp>
      <p:sp>
        <p:nvSpPr>
          <p:cNvPr id="9" name="Shape 7"/>
          <p:cNvSpPr/>
          <p:nvPr/>
        </p:nvSpPr>
        <p:spPr>
          <a:xfrm>
            <a:off x="7995682" y="1554480"/>
            <a:ext cx="3380343" cy="2027617"/>
          </a:xfrm>
          <a:prstGeom prst="roundRect">
            <a:avLst>
              <a:gd name="adj" fmla="val 6675"/>
            </a:avLst>
          </a:prstGeom>
          <a:solidFill>
            <a:srgbClr val="FBFAF6"/>
          </a:solidFill>
          <a:ln w="6350">
            <a:solidFill>
              <a:srgbClr val="DCD8CC"/>
            </a:solidFill>
            <a:prstDash val="solid"/>
          </a:ln>
        </p:spPr>
        <p:txBody>
          <a:bodyPr/>
          <a:lstStyle/>
          <a:p>
            <a:endParaRPr/>
          </a:p>
        </p:txBody>
      </p:sp>
      <p:sp>
        <p:nvSpPr>
          <p:cNvPr id="10" name="Text 8"/>
          <p:cNvSpPr/>
          <p:nvPr/>
        </p:nvSpPr>
        <p:spPr>
          <a:xfrm>
            <a:off x="8226187" y="1871457"/>
            <a:ext cx="3006913" cy="1527760"/>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Fingerspelling</a:t>
            </a:r>
            <a:endParaRPr lang="en-US" sz="1900" dirty="0"/>
          </a:p>
        </p:txBody>
      </p:sp>
      <p:sp>
        <p:nvSpPr>
          <p:cNvPr id="11" name="Text 9"/>
          <p:cNvSpPr/>
          <p:nvPr/>
        </p:nvSpPr>
        <p:spPr>
          <a:xfrm>
            <a:off x="8226187" y="2311563"/>
            <a:ext cx="3006913" cy="1087654"/>
          </a:xfrm>
          <a:prstGeom prst="rect">
            <a:avLst/>
          </a:prstGeom>
          <a:noFill/>
          <a:ln/>
        </p:spPr>
        <p:txBody>
          <a:bodyPr wrap="square" lIns="0" tIns="0" rIns="0" bIns="0" rtlCol="0" anchor="t"/>
          <a:lstStyle/>
          <a:p>
            <a:pPr marL="0" indent="0" algn="l">
              <a:lnSpc>
                <a:spcPts val="2184"/>
              </a:lnSpc>
              <a:buNone/>
            </a:pPr>
            <a:r>
              <a:rPr lang="en-US" sz="1600" dirty="0">
                <a:solidFill>
                  <a:srgbClr val="55606B"/>
                </a:solidFill>
                <a:latin typeface="Inter" pitchFamily="34" charset="0"/>
                <a:ea typeface="Inter" pitchFamily="34" charset="-122"/>
                <a:cs typeface="Inter" pitchFamily="34" charset="-120"/>
              </a:rPr>
              <a:t>Hold an ASL letter steady to type it.</a:t>
            </a:r>
            <a:endParaRPr lang="en-US" sz="1600" dirty="0"/>
          </a:p>
        </p:txBody>
      </p:sp>
      <p:sp>
        <p:nvSpPr>
          <p:cNvPr id="12" name="Shape 10"/>
          <p:cNvSpPr/>
          <p:nvPr/>
        </p:nvSpPr>
        <p:spPr>
          <a:xfrm>
            <a:off x="815975" y="3870262"/>
            <a:ext cx="3380264" cy="2027617"/>
          </a:xfrm>
          <a:prstGeom prst="roundRect">
            <a:avLst>
              <a:gd name="adj" fmla="val 6675"/>
            </a:avLst>
          </a:prstGeom>
          <a:solidFill>
            <a:srgbClr val="FBFAF6"/>
          </a:solidFill>
          <a:ln w="6350">
            <a:solidFill>
              <a:srgbClr val="DCD8CC"/>
            </a:solidFill>
            <a:prstDash val="solid"/>
          </a:ln>
        </p:spPr>
        <p:txBody>
          <a:bodyPr/>
          <a:lstStyle/>
          <a:p>
            <a:endParaRPr/>
          </a:p>
        </p:txBody>
      </p:sp>
      <p:sp>
        <p:nvSpPr>
          <p:cNvPr id="13" name="Text 11"/>
          <p:cNvSpPr/>
          <p:nvPr/>
        </p:nvSpPr>
        <p:spPr>
          <a:xfrm>
            <a:off x="1046480" y="4187239"/>
            <a:ext cx="3006831" cy="1527760"/>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Sentence builder</a:t>
            </a:r>
            <a:endParaRPr lang="en-US" sz="1900" dirty="0"/>
          </a:p>
        </p:txBody>
      </p:sp>
      <p:sp>
        <p:nvSpPr>
          <p:cNvPr id="14" name="Text 12"/>
          <p:cNvSpPr/>
          <p:nvPr/>
        </p:nvSpPr>
        <p:spPr>
          <a:xfrm>
            <a:off x="1046480" y="4627346"/>
            <a:ext cx="3006831" cy="1087653"/>
          </a:xfrm>
          <a:prstGeom prst="rect">
            <a:avLst/>
          </a:prstGeom>
          <a:noFill/>
          <a:ln/>
        </p:spPr>
        <p:txBody>
          <a:bodyPr wrap="square" lIns="0" tIns="0" rIns="0" bIns="0" rtlCol="0" anchor="t"/>
          <a:lstStyle/>
          <a:p>
            <a:pPr marL="0" indent="0" algn="l">
              <a:lnSpc>
                <a:spcPts val="2184"/>
              </a:lnSpc>
              <a:buNone/>
            </a:pPr>
            <a:r>
              <a:rPr lang="en-US" sz="1600" dirty="0">
                <a:solidFill>
                  <a:srgbClr val="55606B"/>
                </a:solidFill>
                <a:latin typeface="Inter" pitchFamily="34" charset="0"/>
                <a:ea typeface="Inter" pitchFamily="34" charset="-122"/>
                <a:cs typeface="Inter" pitchFamily="34" charset="-120"/>
              </a:rPr>
              <a:t>Confidence threshold, top-3 suggestions, undo, clear, copy and text-to-speech.</a:t>
            </a:r>
            <a:endParaRPr lang="en-US" sz="1600" dirty="0"/>
          </a:p>
        </p:txBody>
      </p:sp>
      <p:sp>
        <p:nvSpPr>
          <p:cNvPr id="15" name="Shape 13"/>
          <p:cNvSpPr/>
          <p:nvPr/>
        </p:nvSpPr>
        <p:spPr>
          <a:xfrm>
            <a:off x="4405789" y="3870262"/>
            <a:ext cx="3380343" cy="2027617"/>
          </a:xfrm>
          <a:prstGeom prst="roundRect">
            <a:avLst>
              <a:gd name="adj" fmla="val 6675"/>
            </a:avLst>
          </a:prstGeom>
          <a:solidFill>
            <a:srgbClr val="FBFAF6"/>
          </a:solidFill>
          <a:ln w="6350">
            <a:solidFill>
              <a:srgbClr val="DCD8CC"/>
            </a:solidFill>
            <a:prstDash val="solid"/>
          </a:ln>
        </p:spPr>
        <p:txBody>
          <a:bodyPr/>
          <a:lstStyle/>
          <a:p>
            <a:endParaRPr/>
          </a:p>
        </p:txBody>
      </p:sp>
      <p:sp>
        <p:nvSpPr>
          <p:cNvPr id="16" name="Text 14"/>
          <p:cNvSpPr/>
          <p:nvPr/>
        </p:nvSpPr>
        <p:spPr>
          <a:xfrm>
            <a:off x="4636294" y="4187239"/>
            <a:ext cx="3006913" cy="1527760"/>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Framing check</a:t>
            </a:r>
            <a:endParaRPr lang="en-US" sz="1900" dirty="0"/>
          </a:p>
        </p:txBody>
      </p:sp>
      <p:sp>
        <p:nvSpPr>
          <p:cNvPr id="17" name="Text 15"/>
          <p:cNvSpPr/>
          <p:nvPr/>
        </p:nvSpPr>
        <p:spPr>
          <a:xfrm>
            <a:off x="4636294" y="4627346"/>
            <a:ext cx="3006913" cy="1087653"/>
          </a:xfrm>
          <a:prstGeom prst="rect">
            <a:avLst/>
          </a:prstGeom>
          <a:noFill/>
          <a:ln/>
        </p:spPr>
        <p:txBody>
          <a:bodyPr wrap="square" lIns="0" tIns="0" rIns="0" bIns="0" rtlCol="0" anchor="t"/>
          <a:lstStyle/>
          <a:p>
            <a:pPr marL="0" indent="0" algn="l">
              <a:lnSpc>
                <a:spcPts val="2184"/>
              </a:lnSpc>
              <a:buNone/>
            </a:pPr>
            <a:r>
              <a:rPr lang="en-US" sz="1600" dirty="0">
                <a:solidFill>
                  <a:srgbClr val="55606B"/>
                </a:solidFill>
                <a:latin typeface="Inter" pitchFamily="34" charset="0"/>
                <a:ea typeface="Inter" pitchFamily="34" charset="-122"/>
                <a:cs typeface="Inter" pitchFamily="34" charset="-120"/>
              </a:rPr>
              <a:t>A landmark overlay and a warning when the shoulders are out of view.</a:t>
            </a:r>
            <a:endParaRPr lang="en-US" sz="1600" dirty="0"/>
          </a:p>
        </p:txBody>
      </p:sp>
      <p:sp>
        <p:nvSpPr>
          <p:cNvPr id="18" name="Shape 16"/>
          <p:cNvSpPr/>
          <p:nvPr/>
        </p:nvSpPr>
        <p:spPr>
          <a:xfrm>
            <a:off x="7995682" y="3870262"/>
            <a:ext cx="3380343" cy="2027617"/>
          </a:xfrm>
          <a:prstGeom prst="roundRect">
            <a:avLst>
              <a:gd name="adj" fmla="val 6675"/>
            </a:avLst>
          </a:prstGeom>
          <a:solidFill>
            <a:srgbClr val="FBFAF6"/>
          </a:solidFill>
          <a:ln w="6350">
            <a:solidFill>
              <a:srgbClr val="DCD8CC"/>
            </a:solidFill>
            <a:prstDash val="solid"/>
          </a:ln>
        </p:spPr>
        <p:txBody>
          <a:bodyPr/>
          <a:lstStyle/>
          <a:p>
            <a:endParaRPr/>
          </a:p>
        </p:txBody>
      </p:sp>
      <p:sp>
        <p:nvSpPr>
          <p:cNvPr id="19" name="Text 17"/>
          <p:cNvSpPr/>
          <p:nvPr/>
        </p:nvSpPr>
        <p:spPr>
          <a:xfrm>
            <a:off x="8226187" y="4187239"/>
            <a:ext cx="3006913" cy="1527760"/>
          </a:xfrm>
          <a:prstGeom prst="rect">
            <a:avLst/>
          </a:prstGeom>
          <a:noFill/>
          <a:ln/>
        </p:spPr>
        <p:txBody>
          <a:bodyPr wrap="square" lIns="0" tIns="0" rIns="0" bIns="0" rtlCol="0" anchor="t"/>
          <a:lstStyle/>
          <a:p>
            <a:pPr marL="0" indent="0" algn="l">
              <a:lnSpc>
                <a:spcPts val="2304"/>
              </a:lnSpc>
              <a:buNone/>
            </a:pPr>
            <a:r>
              <a:rPr lang="en-US" sz="1900" b="1" dirty="0">
                <a:solidFill>
                  <a:srgbClr val="17766F"/>
                </a:solidFill>
                <a:latin typeface="Inter" pitchFamily="34" charset="0"/>
                <a:ea typeface="Inter" pitchFamily="34" charset="-122"/>
                <a:cs typeface="Inter" pitchFamily="34" charset="-120"/>
              </a:rPr>
              <a:t>Privacy</a:t>
            </a:r>
            <a:endParaRPr lang="en-US" sz="1900" dirty="0"/>
          </a:p>
        </p:txBody>
      </p:sp>
      <p:sp>
        <p:nvSpPr>
          <p:cNvPr id="20" name="Text 18"/>
          <p:cNvSpPr/>
          <p:nvPr/>
        </p:nvSpPr>
        <p:spPr>
          <a:xfrm>
            <a:off x="8226187" y="4627346"/>
            <a:ext cx="3006913" cy="1087653"/>
          </a:xfrm>
          <a:prstGeom prst="rect">
            <a:avLst/>
          </a:prstGeom>
          <a:noFill/>
          <a:ln/>
        </p:spPr>
        <p:txBody>
          <a:bodyPr wrap="square" lIns="0" tIns="0" rIns="0" bIns="0" rtlCol="0" anchor="t"/>
          <a:lstStyle/>
          <a:p>
            <a:pPr marL="0" indent="0" algn="l">
              <a:lnSpc>
                <a:spcPts val="2184"/>
              </a:lnSpc>
              <a:buNone/>
            </a:pPr>
            <a:r>
              <a:rPr lang="en-US" sz="1600" dirty="0">
                <a:solidFill>
                  <a:srgbClr val="55606B"/>
                </a:solidFill>
                <a:latin typeface="Inter" pitchFamily="34" charset="0"/>
                <a:ea typeface="Inter" pitchFamily="34" charset="-122"/>
                <a:cs typeface="Inter" pitchFamily="34" charset="-120"/>
              </a:rPr>
              <a:t>Camera frames are processed in memory and uploaded videos are deleted afterwards.</a:t>
            </a:r>
            <a:endParaRPr lang="en-US" sz="1600" dirty="0"/>
          </a:p>
        </p:txBody>
      </p:sp>
      <p:sp>
        <p:nvSpPr>
          <p:cNvPr id="21" name="Text 19"/>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Inter" pitchFamily="34" charset="0"/>
                <a:ea typeface="Inter" pitchFamily="34" charset="-122"/>
                <a:cs typeface="Inter" pitchFamily="34" charset="-120"/>
              </a:rPr>
              <a:t>Sign Language Recognition (ASL + ISL)</a:t>
            </a:r>
            <a:endParaRPr lang="en-US" sz="1200" dirty="0"/>
          </a:p>
        </p:txBody>
      </p:sp>
      <p:sp>
        <p:nvSpPr>
          <p:cNvPr id="22" name="Text 20"/>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202E"/>
                </a:solidFill>
                <a:latin typeface="Source Serif 4" pitchFamily="18" charset="0"/>
                <a:ea typeface="Source Serif 4" pitchFamily="18" charset="-122"/>
                <a:cs typeface="Source Serif 4" pitchFamily="18" charset="-120"/>
              </a:rPr>
              <a:t>Demo: signing "hello"</a:t>
            </a:r>
            <a:endParaRPr lang="en-US" sz="3600" dirty="0"/>
          </a:p>
        </p:txBody>
      </p:sp>
      <p:sp>
        <p:nvSpPr>
          <p:cNvPr id="21" name="Text 19"/>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Inter" pitchFamily="34" charset="0"/>
                <a:ea typeface="Inter" pitchFamily="34" charset="-122"/>
                <a:cs typeface="Inter" pitchFamily="34" charset="-120"/>
              </a:rPr>
              <a:t>Sign Language Recognition (ASL + ISL)</a:t>
            </a:r>
            <a:endParaRPr lang="en-US" sz="1200" dirty="0"/>
          </a:p>
        </p:txBody>
      </p:sp>
      <p:sp>
        <p:nvSpPr>
          <p:cNvPr id="22" name="Text 20"/>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Inter" pitchFamily="34" charset="0"/>
                <a:ea typeface="Inter" pitchFamily="34" charset="-122"/>
                <a:cs typeface="Inter" pitchFamily="34" charset="-120"/>
              </a:rPr>
              <a:t>11</a:t>
            </a:r>
            <a:endParaRPr lang="en-US" sz="1200" dirty="0"/>
          </a:p>
        </p:txBody>
      </p:sp>
      <p:sp>
        <p:nvSpPr>
          <p:cNvPr id="23" name="TextBox 22"/>
          <p:cNvSpPr txBox="1"/>
          <p:nvPr/>
        </p:nvSpPr>
        <p:spPr>
          <a:xfrm>
            <a:off x="813816" y="1691640"/>
            <a:ext cx="5120640" cy="274320"/>
          </a:xfrm>
          <a:prstGeom prst="rect">
            <a:avLst/>
          </a:prstGeom>
          <a:noFill/>
        </p:spPr>
        <p:txBody>
          <a:bodyPr wrap="square" lIns="0" tIns="0" rIns="0" bIns="0" anchor="t">
            <a:spAutoFit/>
          </a:bodyPr>
          <a:lstStyle/>
          <a:p>
            <a:pPr algn="l"/>
            <a:r>
              <a:rPr sz="1400" b="1">
                <a:solidFill>
                  <a:srgbClr val="17766F"/>
                </a:solidFill>
                <a:latin typeface="Inter"/>
              </a:rPr>
              <a:t>REFERENCE SIGN (ASL)</a:t>
            </a:r>
          </a:p>
        </p:txBody>
      </p:sp>
      <p:sp>
        <p:nvSpPr>
          <p:cNvPr id="24" name="Rounded Rectangle 23"/>
          <p:cNvSpPr/>
          <p:nvPr/>
        </p:nvSpPr>
        <p:spPr>
          <a:xfrm>
            <a:off x="740664" y="2075688"/>
            <a:ext cx="5266944" cy="2542032"/>
          </a:xfrm>
          <a:prstGeom prst="roundRect">
            <a:avLst>
              <a:gd name="adj" fmla="val 3000"/>
            </a:avLst>
          </a:prstGeom>
          <a:solidFill>
            <a:srgbClr val="12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Video hello_asl">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13816" y="2148840"/>
            <a:ext cx="5120640" cy="2395728"/>
          </a:xfrm>
          <a:prstGeom prst="rect">
            <a:avLst/>
          </a:prstGeom>
        </p:spPr>
      </p:pic>
      <p:sp>
        <p:nvSpPr>
          <p:cNvPr id="26" name="TextBox 25"/>
          <p:cNvSpPr txBox="1"/>
          <p:nvPr/>
        </p:nvSpPr>
        <p:spPr>
          <a:xfrm>
            <a:off x="813816" y="4745736"/>
            <a:ext cx="5120640" cy="640080"/>
          </a:xfrm>
          <a:prstGeom prst="rect">
            <a:avLst/>
          </a:prstGeom>
          <a:noFill/>
        </p:spPr>
        <p:txBody>
          <a:bodyPr wrap="square" lIns="0" tIns="0" rIns="0" bIns="0" anchor="t">
            <a:spAutoFit/>
          </a:bodyPr>
          <a:lstStyle/>
          <a:p>
            <a:pPr algn="l"/>
            <a:r>
              <a:rPr sz="1400" b="0">
                <a:solidFill>
                  <a:srgbClr val="55606B"/>
                </a:solidFill>
                <a:latin typeface="Inter"/>
              </a:rPr>
              <a:t>A tutorial clip showing the standard ASL sign for "hello": a flat hand at the forehead, moving outward.</a:t>
            </a:r>
          </a:p>
        </p:txBody>
      </p:sp>
      <p:sp>
        <p:nvSpPr>
          <p:cNvPr id="27" name="TextBox 26"/>
          <p:cNvSpPr txBox="1"/>
          <p:nvPr/>
        </p:nvSpPr>
        <p:spPr>
          <a:xfrm>
            <a:off x="6257239" y="1691640"/>
            <a:ext cx="5120640" cy="274320"/>
          </a:xfrm>
          <a:prstGeom prst="rect">
            <a:avLst/>
          </a:prstGeom>
          <a:noFill/>
        </p:spPr>
        <p:txBody>
          <a:bodyPr wrap="square" lIns="0" tIns="0" rIns="0" bIns="0" anchor="t">
            <a:spAutoFit/>
          </a:bodyPr>
          <a:lstStyle/>
          <a:p>
            <a:pPr algn="l"/>
            <a:r>
              <a:rPr sz="1400" b="1">
                <a:solidFill>
                  <a:srgbClr val="17766F"/>
                </a:solidFill>
                <a:latin typeface="Inter"/>
              </a:rPr>
              <a:t>OUR LIVE DECODER</a:t>
            </a:r>
          </a:p>
        </p:txBody>
      </p:sp>
      <p:sp>
        <p:nvSpPr>
          <p:cNvPr id="28" name="Rounded Rectangle 27"/>
          <p:cNvSpPr/>
          <p:nvPr/>
        </p:nvSpPr>
        <p:spPr>
          <a:xfrm>
            <a:off x="6184087" y="2075688"/>
            <a:ext cx="5266944" cy="2542032"/>
          </a:xfrm>
          <a:prstGeom prst="roundRect">
            <a:avLst>
              <a:gd name="adj" fmla="val 3000"/>
            </a:avLst>
          </a:prstGeom>
          <a:solidFill>
            <a:srgbClr val="12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Video hell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257239" y="2148840"/>
            <a:ext cx="5120640" cy="2395728"/>
          </a:xfrm>
          <a:prstGeom prst="rect">
            <a:avLst/>
          </a:prstGeom>
        </p:spPr>
      </p:pic>
      <p:sp>
        <p:nvSpPr>
          <p:cNvPr id="30" name="TextBox 29"/>
          <p:cNvSpPr txBox="1"/>
          <p:nvPr/>
        </p:nvSpPr>
        <p:spPr>
          <a:xfrm>
            <a:off x="6257239" y="4745736"/>
            <a:ext cx="5120640" cy="640080"/>
          </a:xfrm>
          <a:prstGeom prst="rect">
            <a:avLst/>
          </a:prstGeom>
          <a:noFill/>
        </p:spPr>
        <p:txBody>
          <a:bodyPr wrap="square" lIns="0" tIns="0" rIns="0" bIns="0" anchor="t">
            <a:spAutoFit/>
          </a:bodyPr>
          <a:lstStyle/>
          <a:p>
            <a:pPr algn="l"/>
            <a:r>
              <a:rPr sz="1400" b="0">
                <a:solidFill>
                  <a:srgbClr val="55606B"/>
                </a:solidFill>
                <a:latin typeface="Inter"/>
              </a:rPr>
              <a:t>The same sign recorded on the dashboard, with the hand and shoulder landmark overlay drawn live.</a:t>
            </a:r>
          </a:p>
        </p:txBody>
      </p:sp>
      <p:sp>
        <p:nvSpPr>
          <p:cNvPr id="31" name="TextBox 30"/>
          <p:cNvSpPr txBox="1"/>
          <p:nvPr/>
        </p:nvSpPr>
        <p:spPr>
          <a:xfrm>
            <a:off x="813816" y="5669280"/>
            <a:ext cx="10561320" cy="365760"/>
          </a:xfrm>
          <a:prstGeom prst="rect">
            <a:avLst/>
          </a:prstGeom>
          <a:noFill/>
        </p:spPr>
        <p:txBody>
          <a:bodyPr wrap="square" lIns="0" tIns="0" rIns="0" bIns="0" anchor="t">
            <a:spAutoFit/>
          </a:bodyPr>
          <a:lstStyle/>
          <a:p>
            <a:pPr algn="l"/>
            <a:r>
              <a:rPr sz="1600" b="1">
                <a:solidFill>
                  <a:srgbClr val="12202E"/>
                </a:solidFill>
                <a:latin typeface="Inter"/>
              </a:rPr>
              <a:t>Same sign, two sources: a tutorial reference and our webcam recording.</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5"/>
                </p:tgtEl>
              </p:cMediaNode>
            </p:video>
            <p:video>
              <p:cMediaNode vol="80000">
                <p:cTn id="3" fill="hold" display="0">
                  <p:stCondLst>
                    <p:cond delay="indefinite"/>
                  </p:stCondLst>
                </p:cTn>
                <p:tgtEl>
                  <p:spTgt spid="29"/>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202E"/>
                </a:solidFill>
                <a:latin typeface="Source Serif 4" pitchFamily="18" charset="0"/>
                <a:ea typeface="Source Serif 4" pitchFamily="18" charset="-122"/>
                <a:cs typeface="Source Serif 4" pitchFamily="18" charset="-120"/>
              </a:rPr>
              <a:t>Demo: signing "mom"</a:t>
            </a:r>
            <a:endParaRPr lang="en-US" sz="3600" dirty="0"/>
          </a:p>
        </p:txBody>
      </p:sp>
      <p:sp>
        <p:nvSpPr>
          <p:cNvPr id="21" name="Text 19"/>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Inter" pitchFamily="34" charset="0"/>
                <a:ea typeface="Inter" pitchFamily="34" charset="-122"/>
                <a:cs typeface="Inter" pitchFamily="34" charset="-120"/>
              </a:rPr>
              <a:t>Sign Language Recognition (ASL + ISL)</a:t>
            </a:r>
            <a:endParaRPr lang="en-US" sz="1200" dirty="0"/>
          </a:p>
        </p:txBody>
      </p:sp>
      <p:sp>
        <p:nvSpPr>
          <p:cNvPr id="22" name="Text 20"/>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Inter" pitchFamily="34" charset="0"/>
                <a:ea typeface="Inter" pitchFamily="34" charset="-122"/>
                <a:cs typeface="Inter" pitchFamily="34" charset="-120"/>
              </a:rPr>
              <a:t>12</a:t>
            </a:r>
            <a:endParaRPr lang="en-US" sz="1200" dirty="0"/>
          </a:p>
        </p:txBody>
      </p:sp>
      <p:sp>
        <p:nvSpPr>
          <p:cNvPr id="23" name="TextBox 22"/>
          <p:cNvSpPr txBox="1"/>
          <p:nvPr/>
        </p:nvSpPr>
        <p:spPr>
          <a:xfrm>
            <a:off x="813816" y="1691640"/>
            <a:ext cx="5120640" cy="274320"/>
          </a:xfrm>
          <a:prstGeom prst="rect">
            <a:avLst/>
          </a:prstGeom>
          <a:noFill/>
        </p:spPr>
        <p:txBody>
          <a:bodyPr wrap="square" lIns="0" tIns="0" rIns="0" bIns="0" anchor="t">
            <a:spAutoFit/>
          </a:bodyPr>
          <a:lstStyle/>
          <a:p>
            <a:pPr algn="l"/>
            <a:r>
              <a:rPr sz="1400" b="1">
                <a:solidFill>
                  <a:srgbClr val="17766F"/>
                </a:solidFill>
                <a:latin typeface="Inter"/>
              </a:rPr>
              <a:t>REFERENCE SIGN (ASL)</a:t>
            </a:r>
          </a:p>
        </p:txBody>
      </p:sp>
      <p:sp>
        <p:nvSpPr>
          <p:cNvPr id="24" name="Rounded Rectangle 23"/>
          <p:cNvSpPr/>
          <p:nvPr/>
        </p:nvSpPr>
        <p:spPr>
          <a:xfrm>
            <a:off x="740664" y="2075688"/>
            <a:ext cx="5266944" cy="2542032"/>
          </a:xfrm>
          <a:prstGeom prst="roundRect">
            <a:avLst>
              <a:gd name="adj" fmla="val 3000"/>
            </a:avLst>
          </a:prstGeom>
          <a:solidFill>
            <a:srgbClr val="12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Video mother_asl">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813816" y="2148840"/>
            <a:ext cx="5120640" cy="2395728"/>
          </a:xfrm>
          <a:prstGeom prst="rect">
            <a:avLst/>
          </a:prstGeom>
        </p:spPr>
      </p:pic>
      <p:sp>
        <p:nvSpPr>
          <p:cNvPr id="26" name="TextBox 25"/>
          <p:cNvSpPr txBox="1"/>
          <p:nvPr/>
        </p:nvSpPr>
        <p:spPr>
          <a:xfrm>
            <a:off x="813816" y="4745736"/>
            <a:ext cx="5120640" cy="640080"/>
          </a:xfrm>
          <a:prstGeom prst="rect">
            <a:avLst/>
          </a:prstGeom>
          <a:noFill/>
        </p:spPr>
        <p:txBody>
          <a:bodyPr wrap="square" lIns="0" tIns="0" rIns="0" bIns="0" anchor="t">
            <a:spAutoFit/>
          </a:bodyPr>
          <a:lstStyle/>
          <a:p>
            <a:pPr algn="l"/>
            <a:r>
              <a:rPr sz="1400" b="0">
                <a:solidFill>
                  <a:srgbClr val="55606B"/>
                </a:solidFill>
                <a:latin typeface="Inter"/>
              </a:rPr>
              <a:t>A tutorial clip showing the ASL sign for "mother": the thumb of an open hand taps the chin.</a:t>
            </a:r>
          </a:p>
        </p:txBody>
      </p:sp>
      <p:sp>
        <p:nvSpPr>
          <p:cNvPr id="27" name="TextBox 26"/>
          <p:cNvSpPr txBox="1"/>
          <p:nvPr/>
        </p:nvSpPr>
        <p:spPr>
          <a:xfrm>
            <a:off x="6257239" y="1691640"/>
            <a:ext cx="5120640" cy="274320"/>
          </a:xfrm>
          <a:prstGeom prst="rect">
            <a:avLst/>
          </a:prstGeom>
          <a:noFill/>
        </p:spPr>
        <p:txBody>
          <a:bodyPr wrap="square" lIns="0" tIns="0" rIns="0" bIns="0" anchor="t">
            <a:spAutoFit/>
          </a:bodyPr>
          <a:lstStyle/>
          <a:p>
            <a:pPr algn="l"/>
            <a:r>
              <a:rPr sz="1400" b="1">
                <a:solidFill>
                  <a:srgbClr val="17766F"/>
                </a:solidFill>
                <a:latin typeface="Inter"/>
              </a:rPr>
              <a:t>OUR LIVE DECODER</a:t>
            </a:r>
          </a:p>
        </p:txBody>
      </p:sp>
      <p:sp>
        <p:nvSpPr>
          <p:cNvPr id="28" name="Rounded Rectangle 27"/>
          <p:cNvSpPr/>
          <p:nvPr/>
        </p:nvSpPr>
        <p:spPr>
          <a:xfrm>
            <a:off x="6184087" y="2075688"/>
            <a:ext cx="5266944" cy="2542032"/>
          </a:xfrm>
          <a:prstGeom prst="roundRect">
            <a:avLst>
              <a:gd name="adj" fmla="val 3000"/>
            </a:avLst>
          </a:prstGeom>
          <a:solidFill>
            <a:srgbClr val="12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9" name="Video mom">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6257239" y="2148840"/>
            <a:ext cx="5120640" cy="2395728"/>
          </a:xfrm>
          <a:prstGeom prst="rect">
            <a:avLst/>
          </a:prstGeom>
        </p:spPr>
      </p:pic>
      <p:sp>
        <p:nvSpPr>
          <p:cNvPr id="30" name="TextBox 29"/>
          <p:cNvSpPr txBox="1"/>
          <p:nvPr/>
        </p:nvSpPr>
        <p:spPr>
          <a:xfrm>
            <a:off x="6257239" y="4745736"/>
            <a:ext cx="5120640" cy="640080"/>
          </a:xfrm>
          <a:prstGeom prst="rect">
            <a:avLst/>
          </a:prstGeom>
          <a:noFill/>
        </p:spPr>
        <p:txBody>
          <a:bodyPr wrap="square" lIns="0" tIns="0" rIns="0" bIns="0" anchor="t">
            <a:spAutoFit/>
          </a:bodyPr>
          <a:lstStyle/>
          <a:p>
            <a:pPr algn="l"/>
            <a:r>
              <a:rPr sz="1400" b="0">
                <a:solidFill>
                  <a:srgbClr val="55606B"/>
                </a:solidFill>
                <a:latin typeface="Inter"/>
              </a:rPr>
              <a:t>Our dashboard recording of the same word. "mom" is one of the 23 ASL words in the model.</a:t>
            </a:r>
          </a:p>
        </p:txBody>
      </p:sp>
      <p:sp>
        <p:nvSpPr>
          <p:cNvPr id="31" name="TextBox 30"/>
          <p:cNvSpPr txBox="1"/>
          <p:nvPr/>
        </p:nvSpPr>
        <p:spPr>
          <a:xfrm>
            <a:off x="813816" y="5669280"/>
            <a:ext cx="10561320" cy="365760"/>
          </a:xfrm>
          <a:prstGeom prst="rect">
            <a:avLst/>
          </a:prstGeom>
          <a:noFill/>
        </p:spPr>
        <p:txBody>
          <a:bodyPr wrap="square" lIns="0" tIns="0" rIns="0" bIns="0" anchor="t">
            <a:spAutoFit/>
          </a:bodyPr>
          <a:lstStyle/>
          <a:p>
            <a:pPr algn="l"/>
            <a:r>
              <a:rPr sz="1600" b="1">
                <a:solidFill>
                  <a:srgbClr val="12202E"/>
                </a:solidFill>
                <a:latin typeface="Inter"/>
              </a:rPr>
              <a:t>Same sign, two sources: a tutorial reference and our webcam recording.</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25"/>
                </p:tgtEl>
              </p:cMediaNode>
            </p:video>
            <p:video>
              <p:cMediaNode vol="80000">
                <p:cTn id="3" fill="hold" display="0">
                  <p:stCondLst>
                    <p:cond delay="indefinite"/>
                  </p:stCondLst>
                </p:cTn>
                <p:tgtEl>
                  <p:spTgt spid="29"/>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202E"/>
                </a:solidFill>
                <a:latin typeface="Source Serif 4" pitchFamily="18" charset="0"/>
                <a:ea typeface="Source Serif 4" pitchFamily="18" charset="-122"/>
                <a:cs typeface="Source Serif 4" pitchFamily="18" charset="-120"/>
              </a:rPr>
              <a:t>Training and Deployment</a:t>
            </a:r>
            <a:endParaRPr lang="en-US" sz="3600" dirty="0"/>
          </a:p>
        </p:txBody>
      </p:sp>
      <p:sp>
        <p:nvSpPr>
          <p:cNvPr id="3" name="Shape 1"/>
          <p:cNvSpPr/>
          <p:nvPr/>
        </p:nvSpPr>
        <p:spPr>
          <a:xfrm>
            <a:off x="815975" y="1674496"/>
            <a:ext cx="2482850" cy="2284730"/>
          </a:xfrm>
          <a:prstGeom prst="roundRect">
            <a:avLst>
              <a:gd name="adj" fmla="val 4308"/>
            </a:avLst>
          </a:prstGeom>
          <a:solidFill>
            <a:srgbClr val="FBFAF6"/>
          </a:solidFill>
          <a:ln w="6350">
            <a:solidFill>
              <a:srgbClr val="DCD8CC"/>
            </a:solidFill>
            <a:prstDash val="solid"/>
          </a:ln>
        </p:spPr>
      </p:sp>
      <p:sp>
        <p:nvSpPr>
          <p:cNvPr id="4" name="Text 2"/>
          <p:cNvSpPr/>
          <p:nvPr/>
        </p:nvSpPr>
        <p:spPr>
          <a:xfrm>
            <a:off x="1046480" y="1905000"/>
            <a:ext cx="2082495"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E8A93B"/>
                </a:solidFill>
                <a:latin typeface="Source Serif 4" pitchFamily="18" charset="0"/>
                <a:ea typeface="Source Serif 4" pitchFamily="18" charset="-122"/>
                <a:cs typeface="Source Serif 4" pitchFamily="18" charset="-120"/>
              </a:rPr>
              <a:t>1</a:t>
            </a:r>
            <a:endParaRPr lang="en-US" sz="3600" dirty="0"/>
          </a:p>
        </p:txBody>
      </p:sp>
      <p:sp>
        <p:nvSpPr>
          <p:cNvPr id="5" name="Text 3"/>
          <p:cNvSpPr/>
          <p:nvPr/>
        </p:nvSpPr>
        <p:spPr>
          <a:xfrm>
            <a:off x="1046480" y="2484121"/>
            <a:ext cx="208249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766F"/>
                </a:solidFill>
                <a:latin typeface="Inter" pitchFamily="34" charset="0"/>
                <a:ea typeface="Inter" pitchFamily="34" charset="-122"/>
                <a:cs typeface="Inter" pitchFamily="34" charset="-120"/>
              </a:rPr>
              <a:t>Extract</a:t>
            </a:r>
            <a:endParaRPr lang="en-US" sz="1600" dirty="0"/>
          </a:p>
        </p:txBody>
      </p:sp>
      <p:sp>
        <p:nvSpPr>
          <p:cNvPr id="6" name="Text 4"/>
          <p:cNvSpPr/>
          <p:nvPr/>
        </p:nvSpPr>
        <p:spPr>
          <a:xfrm>
            <a:off x="1046480" y="2804164"/>
            <a:ext cx="2082495"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5606B"/>
                </a:solidFill>
                <a:latin typeface="Inter" pitchFamily="34" charset="0"/>
                <a:ea typeface="Inter" pitchFamily="34" charset="-122"/>
                <a:cs typeface="Inter" pitchFamily="34" charset="-120"/>
              </a:rPr>
              <a:t>Convert dataset videos and images into keypoint files on Kaggle.</a:t>
            </a:r>
            <a:endParaRPr lang="en-US" sz="1300" dirty="0"/>
          </a:p>
        </p:txBody>
      </p:sp>
      <p:sp>
        <p:nvSpPr>
          <p:cNvPr id="7" name="Shape 5"/>
          <p:cNvSpPr/>
          <p:nvPr/>
        </p:nvSpPr>
        <p:spPr>
          <a:xfrm>
            <a:off x="3508375" y="1674496"/>
            <a:ext cx="2482850" cy="2284730"/>
          </a:xfrm>
          <a:prstGeom prst="roundRect">
            <a:avLst>
              <a:gd name="adj" fmla="val 4308"/>
            </a:avLst>
          </a:prstGeom>
          <a:solidFill>
            <a:srgbClr val="FBFAF6"/>
          </a:solidFill>
          <a:ln w="6350">
            <a:solidFill>
              <a:srgbClr val="DCD8CC"/>
            </a:solidFill>
            <a:prstDash val="solid"/>
          </a:ln>
        </p:spPr>
      </p:sp>
      <p:sp>
        <p:nvSpPr>
          <p:cNvPr id="8" name="Text 6"/>
          <p:cNvSpPr/>
          <p:nvPr/>
        </p:nvSpPr>
        <p:spPr>
          <a:xfrm>
            <a:off x="3738880" y="1905000"/>
            <a:ext cx="2082495"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E8A93B"/>
                </a:solidFill>
                <a:latin typeface="Source Serif 4" pitchFamily="18" charset="0"/>
                <a:ea typeface="Source Serif 4" pitchFamily="18" charset="-122"/>
                <a:cs typeface="Source Serif 4" pitchFamily="18" charset="-120"/>
              </a:rPr>
              <a:t>2</a:t>
            </a:r>
            <a:endParaRPr lang="en-US" sz="3600" dirty="0"/>
          </a:p>
        </p:txBody>
      </p:sp>
      <p:sp>
        <p:nvSpPr>
          <p:cNvPr id="9" name="Text 7"/>
          <p:cNvSpPr/>
          <p:nvPr/>
        </p:nvSpPr>
        <p:spPr>
          <a:xfrm>
            <a:off x="3738880" y="2484121"/>
            <a:ext cx="208249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766F"/>
                </a:solidFill>
                <a:latin typeface="Inter" pitchFamily="34" charset="0"/>
                <a:ea typeface="Inter" pitchFamily="34" charset="-122"/>
                <a:cs typeface="Inter" pitchFamily="34" charset="-120"/>
              </a:rPr>
              <a:t>Train</a:t>
            </a:r>
            <a:endParaRPr lang="en-US" sz="1600" dirty="0"/>
          </a:p>
        </p:txBody>
      </p:sp>
      <p:sp>
        <p:nvSpPr>
          <p:cNvPr id="10" name="Text 8"/>
          <p:cNvSpPr/>
          <p:nvPr/>
        </p:nvSpPr>
        <p:spPr>
          <a:xfrm>
            <a:off x="3738880" y="2804164"/>
            <a:ext cx="2082495"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5606B"/>
                </a:solidFill>
                <a:latin typeface="Inter" pitchFamily="34" charset="0"/>
                <a:ea typeface="Inter" pitchFamily="34" charset="-122"/>
                <a:cs typeface="Inter" pitchFamily="34" charset="-120"/>
              </a:rPr>
              <a:t>Train the ASL and ISL word models in notebooks; ISL needs only minutes on a GPU.</a:t>
            </a:r>
            <a:endParaRPr lang="en-US" sz="1300" dirty="0"/>
          </a:p>
        </p:txBody>
      </p:sp>
      <p:sp>
        <p:nvSpPr>
          <p:cNvPr id="11" name="Shape 9"/>
          <p:cNvSpPr/>
          <p:nvPr/>
        </p:nvSpPr>
        <p:spPr>
          <a:xfrm>
            <a:off x="6200775" y="1674496"/>
            <a:ext cx="2482850" cy="2284730"/>
          </a:xfrm>
          <a:prstGeom prst="roundRect">
            <a:avLst>
              <a:gd name="adj" fmla="val 4308"/>
            </a:avLst>
          </a:prstGeom>
          <a:solidFill>
            <a:srgbClr val="FBFAF6"/>
          </a:solidFill>
          <a:ln w="6350">
            <a:solidFill>
              <a:srgbClr val="DCD8CC"/>
            </a:solidFill>
            <a:prstDash val="solid"/>
          </a:ln>
        </p:spPr>
      </p:sp>
      <p:sp>
        <p:nvSpPr>
          <p:cNvPr id="12" name="Text 10"/>
          <p:cNvSpPr/>
          <p:nvPr/>
        </p:nvSpPr>
        <p:spPr>
          <a:xfrm>
            <a:off x="6431280" y="1905000"/>
            <a:ext cx="2082495"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E8A93B"/>
                </a:solidFill>
                <a:latin typeface="Source Serif 4" pitchFamily="18" charset="0"/>
                <a:ea typeface="Source Serif 4" pitchFamily="18" charset="-122"/>
                <a:cs typeface="Source Serif 4" pitchFamily="18" charset="-120"/>
              </a:rPr>
              <a:t>3</a:t>
            </a:r>
            <a:endParaRPr lang="en-US" sz="3600" dirty="0"/>
          </a:p>
        </p:txBody>
      </p:sp>
      <p:sp>
        <p:nvSpPr>
          <p:cNvPr id="13" name="Text 11"/>
          <p:cNvSpPr/>
          <p:nvPr/>
        </p:nvSpPr>
        <p:spPr>
          <a:xfrm>
            <a:off x="6431280" y="2484121"/>
            <a:ext cx="208249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766F"/>
                </a:solidFill>
                <a:latin typeface="Inter" pitchFamily="34" charset="0"/>
                <a:ea typeface="Inter" pitchFamily="34" charset="-122"/>
                <a:cs typeface="Inter" pitchFamily="34" charset="-120"/>
              </a:rPr>
              <a:t>Export</a:t>
            </a:r>
            <a:endParaRPr lang="en-US" sz="1600" dirty="0"/>
          </a:p>
        </p:txBody>
      </p:sp>
      <p:sp>
        <p:nvSpPr>
          <p:cNvPr id="14" name="Text 12"/>
          <p:cNvSpPr/>
          <p:nvPr/>
        </p:nvSpPr>
        <p:spPr>
          <a:xfrm>
            <a:off x="6431280" y="2804164"/>
            <a:ext cx="2082495"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5606B"/>
                </a:solidFill>
                <a:latin typeface="Inter" pitchFamily="34" charset="0"/>
                <a:ea typeface="Inter" pitchFamily="34" charset="-122"/>
                <a:cs typeface="Inter" pitchFamily="34" charset="-120"/>
              </a:rPr>
              <a:t>Convert the PyTorch weights to numpy so PyTorch is not needed to run.</a:t>
            </a:r>
            <a:endParaRPr lang="en-US" sz="1300" dirty="0"/>
          </a:p>
        </p:txBody>
      </p:sp>
      <p:sp>
        <p:nvSpPr>
          <p:cNvPr id="15" name="Shape 13"/>
          <p:cNvSpPr/>
          <p:nvPr/>
        </p:nvSpPr>
        <p:spPr>
          <a:xfrm>
            <a:off x="8893175" y="1674496"/>
            <a:ext cx="2482850" cy="2284730"/>
          </a:xfrm>
          <a:prstGeom prst="roundRect">
            <a:avLst>
              <a:gd name="adj" fmla="val 4308"/>
            </a:avLst>
          </a:prstGeom>
          <a:solidFill>
            <a:srgbClr val="FBFAF6"/>
          </a:solidFill>
          <a:ln w="6350">
            <a:solidFill>
              <a:srgbClr val="DCD8CC"/>
            </a:solidFill>
            <a:prstDash val="solid"/>
          </a:ln>
        </p:spPr>
      </p:sp>
      <p:sp>
        <p:nvSpPr>
          <p:cNvPr id="16" name="Text 14"/>
          <p:cNvSpPr/>
          <p:nvPr/>
        </p:nvSpPr>
        <p:spPr>
          <a:xfrm>
            <a:off x="9123680" y="1905000"/>
            <a:ext cx="2082495" cy="528320"/>
          </a:xfrm>
          <a:prstGeom prst="rect">
            <a:avLst/>
          </a:prstGeom>
          <a:noFill/>
          <a:ln/>
        </p:spPr>
        <p:txBody>
          <a:bodyPr wrap="square" lIns="0" tIns="0" rIns="0" bIns="0" rtlCol="0" anchor="t">
            <a:normAutofit/>
          </a:bodyPr>
          <a:lstStyle/>
          <a:p>
            <a:pPr marL="0" indent="0" algn="l">
              <a:lnSpc>
                <a:spcPts val="3960"/>
              </a:lnSpc>
              <a:buNone/>
            </a:pPr>
            <a:r>
              <a:rPr lang="en-US" sz="3600" dirty="0">
                <a:solidFill>
                  <a:srgbClr val="E8A93B"/>
                </a:solidFill>
                <a:latin typeface="Source Serif 4" pitchFamily="18" charset="0"/>
                <a:ea typeface="Source Serif 4" pitchFamily="18" charset="-122"/>
                <a:cs typeface="Source Serif 4" pitchFamily="18" charset="-120"/>
              </a:rPr>
              <a:t>4</a:t>
            </a:r>
            <a:endParaRPr lang="en-US" sz="3600" dirty="0"/>
          </a:p>
        </p:txBody>
      </p:sp>
      <p:sp>
        <p:nvSpPr>
          <p:cNvPr id="17" name="Text 15"/>
          <p:cNvSpPr/>
          <p:nvPr/>
        </p:nvSpPr>
        <p:spPr>
          <a:xfrm>
            <a:off x="9123680" y="2484121"/>
            <a:ext cx="2082495"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7766F"/>
                </a:solidFill>
                <a:latin typeface="Inter" pitchFamily="34" charset="0"/>
                <a:ea typeface="Inter" pitchFamily="34" charset="-122"/>
                <a:cs typeface="Inter" pitchFamily="34" charset="-120"/>
              </a:rPr>
              <a:t>Deploy</a:t>
            </a:r>
            <a:endParaRPr lang="en-US" sz="1600" dirty="0"/>
          </a:p>
        </p:txBody>
      </p:sp>
      <p:sp>
        <p:nvSpPr>
          <p:cNvPr id="18" name="Text 16"/>
          <p:cNvSpPr/>
          <p:nvPr/>
        </p:nvSpPr>
        <p:spPr>
          <a:xfrm>
            <a:off x="9123680" y="2804164"/>
            <a:ext cx="2082495"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5606B"/>
                </a:solidFill>
                <a:latin typeface="Inter" pitchFamily="34" charset="0"/>
                <a:ea typeface="Inter" pitchFamily="34" charset="-122"/>
                <a:cs typeface="Inter" pitchFamily="34" charset="-120"/>
              </a:rPr>
              <a:t>Run locally, or host as a Render web service using about 300 to 360 MB of memory.</a:t>
            </a:r>
            <a:endParaRPr lang="en-US" sz="1300" dirty="0"/>
          </a:p>
        </p:txBody>
      </p:sp>
      <p:sp>
        <p:nvSpPr>
          <p:cNvPr id="19" name="Text 17"/>
          <p:cNvSpPr/>
          <p:nvPr/>
        </p:nvSpPr>
        <p:spPr>
          <a:xfrm>
            <a:off x="812800" y="4318000"/>
            <a:ext cx="981075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55606B"/>
                </a:solidFill>
                <a:latin typeface="Inter" pitchFamily="34" charset="0"/>
                <a:ea typeface="Inter" pitchFamily="34" charset="-122"/>
                <a:cs typeface="Inter" pitchFamily="34" charset="-120"/>
              </a:rPr>
              <a:t>Accuracy improves with your own data: save 5 to 10 corrected clips per word from the dashboard, retrain and replace the models.</a:t>
            </a:r>
            <a:endParaRPr lang="en-US" sz="1600" dirty="0"/>
          </a:p>
        </p:txBody>
      </p:sp>
      <p:sp>
        <p:nvSpPr>
          <p:cNvPr id="20" name="Text 18"/>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Inter" pitchFamily="34" charset="0"/>
                <a:ea typeface="Inter" pitchFamily="34" charset="-122"/>
                <a:cs typeface="Inter" pitchFamily="34" charset="-120"/>
              </a:rPr>
              <a:t>Sign Language Recognition (ASL + ISL)</a:t>
            </a:r>
            <a:endParaRPr lang="en-US" sz="1200" dirty="0"/>
          </a:p>
        </p:txBody>
      </p:sp>
      <p:sp>
        <p:nvSpPr>
          <p:cNvPr id="21" name="Text 19"/>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202E"/>
                </a:solidFill>
                <a:latin typeface="Source Serif 4" pitchFamily="18" charset="0"/>
                <a:ea typeface="Source Serif 4" pitchFamily="18" charset="-122"/>
                <a:cs typeface="Source Serif 4" pitchFamily="18" charset="-120"/>
              </a:rPr>
              <a:t>Limitations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54480"/>
          <a:ext cx="10556240" cy="7026684"/>
        </p:xfrm>
        <a:graphic>
          <a:graphicData uri="http://schemas.openxmlformats.org/drawingml/2006/table">
            <a:tbl>
              <a:tblPr/>
              <a:tblGrid>
                <a:gridCol w="3166872">
                  <a:extLst>
                    <a:ext uri="{9D8B030D-6E8A-4147-A177-3AD203B41FA5}">
                      <a16:colId xmlns:a16="http://schemas.microsoft.com/office/drawing/2014/main" val="20000"/>
                    </a:ext>
                  </a:extLst>
                </a:gridCol>
                <a:gridCol w="7389368">
                  <a:extLst>
                    <a:ext uri="{9D8B030D-6E8A-4147-A177-3AD203B41FA5}">
                      <a16:colId xmlns:a16="http://schemas.microsoft.com/office/drawing/2014/main" val="20001"/>
                    </a:ext>
                  </a:extLst>
                </a:gridCol>
              </a:tblGrid>
              <a:tr h="620485">
                <a:tc>
                  <a:txBody>
                    <a:bodyPr/>
                    <a:lstStyle/>
                    <a:p>
                      <a:pPr marL="0" indent="0">
                        <a:lnSpc>
                          <a:spcPts val="2352"/>
                        </a:lnSpc>
                        <a:buNone/>
                      </a:pPr>
                      <a:r>
                        <a:rPr lang="en-US" sz="1700" b="1" dirty="0">
                          <a:solidFill>
                            <a:srgbClr val="12202E"/>
                          </a:solidFill>
                          <a:latin typeface="Inter" pitchFamily="34" charset="0"/>
                          <a:ea typeface="Inter" pitchFamily="34" charset="-122"/>
                          <a:cs typeface="Inter" pitchFamily="34" charset="-120"/>
                        </a:rPr>
                        <a:t>Area</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tc>
                  <a:txBody>
                    <a:bodyPr/>
                    <a:lstStyle/>
                    <a:p>
                      <a:pPr marL="0" indent="0">
                        <a:lnSpc>
                          <a:spcPts val="2352"/>
                        </a:lnSpc>
                        <a:buNone/>
                      </a:pPr>
                      <a:r>
                        <a:rPr lang="en-US" sz="1700" b="1" dirty="0">
                          <a:solidFill>
                            <a:srgbClr val="12202E"/>
                          </a:solidFill>
                          <a:latin typeface="Inter" pitchFamily="34" charset="0"/>
                          <a:ea typeface="Inter" pitchFamily="34" charset="-122"/>
                          <a:cs typeface="Inter" pitchFamily="34" charset="-120"/>
                        </a:rPr>
                        <a:t>Limitation</a:t>
                      </a:r>
                      <a:endParaRPr lang="en-US" sz="1700" dirty="0">
                        <a:latin typeface="Inter" charset="0"/>
                        <a:ea typeface="Inter" charset="0"/>
                        <a:cs typeface="Inter" charset="0"/>
                      </a:endParaRPr>
                    </a:p>
                  </a:txBody>
                  <a:tcPr marL="62230" marR="62230" marT="62230" marB="62230">
                    <a:lnL w="12700" cap="flat" cmpd="sng" algn="ctr">
                      <a:solidFill>
                        <a:srgbClr val="B6B5B1"/>
                      </a:solidFill>
                      <a:prstDash val="solid"/>
                      <a:round/>
                      <a:headEnd type="none" w="med" len="med"/>
                      <a:tailEnd type="none" w="med" len="med"/>
                    </a:lnL>
                    <a:lnR w="12700" cap="flat" cmpd="sng" algn="ctr">
                      <a:solidFill>
                        <a:srgbClr val="B6B5B1"/>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B6B5B1"/>
                      </a:solidFill>
                      <a:prstDash val="solid"/>
                      <a:round/>
                      <a:headEnd type="none" w="med" len="med"/>
                      <a:tailEnd type="none" w="med" len="med"/>
                    </a:lnB>
                    <a:solidFill>
                      <a:srgbClr val="E4E2DD"/>
                    </a:solidFill>
                  </a:tcPr>
                </a:tc>
                <a:extLst>
                  <a:ext uri="{0D108BD9-81ED-4DB2-BD59-A6C34878D82A}">
                    <a16:rowId xmlns:a16="http://schemas.microsoft.com/office/drawing/2014/main" val="10000"/>
                  </a:ext>
                </a:extLst>
              </a:tr>
              <a:tr h="620485">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Vocabulary</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Only 23 ASL and 51 ISL words, so unknown signs map to the nearest known sign</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B6B5B1"/>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1"/>
                  </a:ext>
                </a:extLst>
              </a:tr>
              <a:tr h="620485">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Training data</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Controlled datasets; ISL has only about 14 clips per sign</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2"/>
                  </a:ext>
                </a:extLst>
              </a:tr>
              <a:tr h="620485">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Real-world accuracy</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Expected to be lower on a personal webcam than the offline results</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3"/>
                  </a:ext>
                </a:extLst>
              </a:tr>
              <a:tr h="620485">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Letters</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ASL fingerspelling only; no ISL letter model</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4"/>
                  </a:ext>
                </a:extLst>
              </a:tr>
              <a:tr h="620485">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Camera setup</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Needs good light, both shoulders and both hands in view</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5"/>
                  </a:ext>
                </a:extLst>
              </a:tr>
              <a:tr h="620485">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Hosting</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tc>
                  <a:txBody>
                    <a:bodyPr/>
                    <a:lstStyle/>
                    <a:p>
                      <a:pPr marL="0" indent="0">
                        <a:lnSpc>
                          <a:spcPts val="2352"/>
                        </a:lnSpc>
                        <a:buNone/>
                      </a:pPr>
                      <a:r>
                        <a:rPr lang="en-US" sz="1700" dirty="0">
                          <a:solidFill>
                            <a:srgbClr val="12202E"/>
                          </a:solidFill>
                          <a:latin typeface="Inter" pitchFamily="34" charset="0"/>
                          <a:ea typeface="Inter" pitchFamily="34" charset="-122"/>
                          <a:cs typeface="Inter" pitchFamily="34" charset="-120"/>
                        </a:rPr>
                        <a:t>One user at a time and slower than running locally</a:t>
                      </a:r>
                      <a:endParaRPr lang="en-US" sz="1700" dirty="0">
                        <a:latin typeface="Inter" charset="0"/>
                        <a:ea typeface="Inter" charset="0"/>
                        <a:cs typeface="Inter" charset="0"/>
                      </a:endParaRPr>
                    </a:p>
                  </a:txBody>
                  <a:tcPr marL="62230" marR="62230" marT="62230" marB="62230">
                    <a:lnL w="12700" cap="flat" cmpd="sng" algn="ctr">
                      <a:solidFill>
                        <a:srgbClr val="C4C3BF"/>
                      </a:solidFill>
                      <a:prstDash val="solid"/>
                      <a:round/>
                      <a:headEnd type="none" w="med" len="med"/>
                      <a:tailEnd type="none" w="med" len="med"/>
                    </a:lnL>
                    <a:lnR w="12700" cap="flat" cmpd="sng" algn="ctr">
                      <a:solidFill>
                        <a:srgbClr val="C4C3BF"/>
                      </a:solidFill>
                      <a:prstDash val="solid"/>
                      <a:round/>
                      <a:headEnd type="none" w="med" len="med"/>
                      <a:tailEnd type="none" w="med" len="med"/>
                    </a:lnR>
                    <a:lnT w="12700" cap="flat" cmpd="sng" algn="ctr">
                      <a:solidFill>
                        <a:srgbClr val="C4C3BF"/>
                      </a:solidFill>
                      <a:prstDash val="solid"/>
                      <a:round/>
                      <a:headEnd type="none" w="med" len="med"/>
                      <a:tailEnd type="none" w="med" len="med"/>
                    </a:lnT>
                    <a:lnB w="12700" cap="flat" cmpd="sng" algn="ctr">
                      <a:solidFill>
                        <a:srgbClr val="C4C3B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Inter" pitchFamily="34" charset="0"/>
                <a:ea typeface="Inter" pitchFamily="34" charset="-122"/>
                <a:cs typeface="Inter" pitchFamily="34" charset="-120"/>
              </a:rPr>
              <a:t>Sign Language Recognition (ASL + ISL)</a:t>
            </a:r>
            <a:endParaRPr lang="en-US" sz="1200" dirty="0"/>
          </a:p>
        </p:txBody>
      </p:sp>
      <p:sp>
        <p:nvSpPr>
          <p:cNvPr id="5" name="Text 2"/>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6F4E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12202E"/>
                </a:solidFill>
                <a:latin typeface="Source Serif 4" pitchFamily="18" charset="0"/>
                <a:ea typeface="Source Serif 4" pitchFamily="18" charset="-122"/>
                <a:cs typeface="Source Serif 4" pitchFamily="18" charset="-120"/>
              </a:rPr>
              <a:t>Future Work</a:t>
            </a:r>
            <a:endParaRPr lang="en-US" sz="3600" dirty="0"/>
          </a:p>
        </p:txBody>
      </p:sp>
      <p:sp>
        <p:nvSpPr>
          <p:cNvPr id="3" name="Shape 1"/>
          <p:cNvSpPr/>
          <p:nvPr/>
        </p:nvSpPr>
        <p:spPr>
          <a:xfrm>
            <a:off x="815975" y="1554480"/>
            <a:ext cx="5175250" cy="2016376"/>
          </a:xfrm>
          <a:prstGeom prst="roundRect">
            <a:avLst>
              <a:gd name="adj" fmla="val 7236"/>
            </a:avLst>
          </a:prstGeom>
          <a:solidFill>
            <a:srgbClr val="FBFAF6"/>
          </a:solidFill>
          <a:ln w="6350">
            <a:solidFill>
              <a:srgbClr val="DCD8CC"/>
            </a:solidFill>
            <a:prstDash val="solid"/>
          </a:ln>
        </p:spPr>
        <p:txBody>
          <a:bodyPr/>
          <a:lstStyle/>
          <a:p>
            <a:endParaRPr/>
          </a:p>
        </p:txBody>
      </p:sp>
      <p:sp>
        <p:nvSpPr>
          <p:cNvPr id="4" name="Text 2"/>
          <p:cNvSpPr/>
          <p:nvPr/>
        </p:nvSpPr>
        <p:spPr>
          <a:xfrm>
            <a:off x="1071880" y="1933843"/>
            <a:ext cx="4803343" cy="1454133"/>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Record more data</a:t>
            </a:r>
            <a:endParaRPr lang="en-US" sz="2200" dirty="0"/>
          </a:p>
        </p:txBody>
      </p:sp>
      <p:sp>
        <p:nvSpPr>
          <p:cNvPr id="5" name="Text 3"/>
          <p:cNvSpPr/>
          <p:nvPr/>
        </p:nvSpPr>
        <p:spPr>
          <a:xfrm>
            <a:off x="1071880" y="2453471"/>
            <a:ext cx="4803343" cy="934505"/>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Collect clips from many signers and webcams, then retrain.</a:t>
            </a:r>
            <a:endParaRPr lang="en-US" sz="1700" dirty="0"/>
          </a:p>
        </p:txBody>
      </p:sp>
      <p:sp>
        <p:nvSpPr>
          <p:cNvPr id="6" name="Shape 4"/>
          <p:cNvSpPr/>
          <p:nvPr/>
        </p:nvSpPr>
        <p:spPr>
          <a:xfrm>
            <a:off x="6200775" y="1554480"/>
            <a:ext cx="5175250" cy="2016376"/>
          </a:xfrm>
          <a:prstGeom prst="roundRect">
            <a:avLst>
              <a:gd name="adj" fmla="val 7236"/>
            </a:avLst>
          </a:prstGeom>
          <a:solidFill>
            <a:srgbClr val="FBFAF6"/>
          </a:solidFill>
          <a:ln w="6350">
            <a:solidFill>
              <a:srgbClr val="DCD8CC"/>
            </a:solidFill>
            <a:prstDash val="solid"/>
          </a:ln>
        </p:spPr>
        <p:txBody>
          <a:bodyPr/>
          <a:lstStyle/>
          <a:p>
            <a:endParaRPr/>
          </a:p>
        </p:txBody>
      </p:sp>
      <p:sp>
        <p:nvSpPr>
          <p:cNvPr id="7" name="Text 5"/>
          <p:cNvSpPr/>
          <p:nvPr/>
        </p:nvSpPr>
        <p:spPr>
          <a:xfrm>
            <a:off x="6456680" y="1933843"/>
            <a:ext cx="4803343" cy="1454133"/>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Expand the vocabulary</a:t>
            </a:r>
            <a:endParaRPr lang="en-US" sz="2200" dirty="0"/>
          </a:p>
        </p:txBody>
      </p:sp>
      <p:sp>
        <p:nvSpPr>
          <p:cNvPr id="8" name="Text 6"/>
          <p:cNvSpPr/>
          <p:nvPr/>
        </p:nvSpPr>
        <p:spPr>
          <a:xfrm>
            <a:off x="6456680" y="2453471"/>
            <a:ext cx="4803343" cy="934505"/>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Add more ASL and ISL signs beyond the current 23 and 51.</a:t>
            </a:r>
            <a:endParaRPr lang="en-US" sz="1700" dirty="0"/>
          </a:p>
        </p:txBody>
      </p:sp>
      <p:sp>
        <p:nvSpPr>
          <p:cNvPr id="9" name="Shape 7"/>
          <p:cNvSpPr/>
          <p:nvPr/>
        </p:nvSpPr>
        <p:spPr>
          <a:xfrm>
            <a:off x="815975" y="3881503"/>
            <a:ext cx="5175250" cy="2016376"/>
          </a:xfrm>
          <a:prstGeom prst="roundRect">
            <a:avLst>
              <a:gd name="adj" fmla="val 7236"/>
            </a:avLst>
          </a:prstGeom>
          <a:solidFill>
            <a:srgbClr val="FBFAF6"/>
          </a:solidFill>
          <a:ln w="6350">
            <a:solidFill>
              <a:srgbClr val="DCD8CC"/>
            </a:solidFill>
            <a:prstDash val="solid"/>
          </a:ln>
        </p:spPr>
        <p:txBody>
          <a:bodyPr/>
          <a:lstStyle/>
          <a:p>
            <a:endParaRPr/>
          </a:p>
        </p:txBody>
      </p:sp>
      <p:sp>
        <p:nvSpPr>
          <p:cNvPr id="10" name="Text 8"/>
          <p:cNvSpPr/>
          <p:nvPr/>
        </p:nvSpPr>
        <p:spPr>
          <a:xfrm>
            <a:off x="1071880" y="4260867"/>
            <a:ext cx="4803343" cy="1454132"/>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Add ISL fingerspelling</a:t>
            </a:r>
            <a:endParaRPr lang="en-US" sz="2200" dirty="0"/>
          </a:p>
        </p:txBody>
      </p:sp>
      <p:sp>
        <p:nvSpPr>
          <p:cNvPr id="11" name="Text 9"/>
          <p:cNvSpPr/>
          <p:nvPr/>
        </p:nvSpPr>
        <p:spPr>
          <a:xfrm>
            <a:off x="1071880" y="4780495"/>
            <a:ext cx="4803343" cy="934504"/>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Train an ISL letter model, which is not included today.</a:t>
            </a:r>
            <a:endParaRPr lang="en-US" sz="1700" dirty="0"/>
          </a:p>
        </p:txBody>
      </p:sp>
      <p:sp>
        <p:nvSpPr>
          <p:cNvPr id="12" name="Shape 10"/>
          <p:cNvSpPr/>
          <p:nvPr/>
        </p:nvSpPr>
        <p:spPr>
          <a:xfrm>
            <a:off x="6200775" y="3881503"/>
            <a:ext cx="5175250" cy="2016376"/>
          </a:xfrm>
          <a:prstGeom prst="roundRect">
            <a:avLst>
              <a:gd name="adj" fmla="val 7236"/>
            </a:avLst>
          </a:prstGeom>
          <a:solidFill>
            <a:srgbClr val="FBFAF6"/>
          </a:solidFill>
          <a:ln w="6350">
            <a:solidFill>
              <a:srgbClr val="DCD8CC"/>
            </a:solidFill>
            <a:prstDash val="solid"/>
          </a:ln>
        </p:spPr>
        <p:txBody>
          <a:bodyPr/>
          <a:lstStyle/>
          <a:p>
            <a:endParaRPr/>
          </a:p>
        </p:txBody>
      </p:sp>
      <p:sp>
        <p:nvSpPr>
          <p:cNvPr id="13" name="Text 11"/>
          <p:cNvSpPr/>
          <p:nvPr/>
        </p:nvSpPr>
        <p:spPr>
          <a:xfrm>
            <a:off x="6456680" y="4260867"/>
            <a:ext cx="4803343" cy="1454132"/>
          </a:xfrm>
          <a:prstGeom prst="rect">
            <a:avLst/>
          </a:prstGeom>
          <a:noFill/>
          <a:ln/>
        </p:spPr>
        <p:txBody>
          <a:bodyPr wrap="square" lIns="0" tIns="0" rIns="0" bIns="0" rtlCol="0" anchor="t"/>
          <a:lstStyle/>
          <a:p>
            <a:pPr marL="0" indent="0" algn="l">
              <a:lnSpc>
                <a:spcPts val="2592"/>
              </a:lnSpc>
              <a:buNone/>
            </a:pPr>
            <a:r>
              <a:rPr lang="en-US" sz="2200" b="1" dirty="0">
                <a:solidFill>
                  <a:srgbClr val="17766F"/>
                </a:solidFill>
                <a:latin typeface="Inter" pitchFamily="34" charset="0"/>
                <a:ea typeface="Inter" pitchFamily="34" charset="-122"/>
                <a:cs typeface="Inter" pitchFamily="34" charset="-120"/>
              </a:rPr>
              <a:t>Support more users</a:t>
            </a:r>
            <a:endParaRPr lang="en-US" sz="2200" dirty="0"/>
          </a:p>
        </p:txBody>
      </p:sp>
      <p:sp>
        <p:nvSpPr>
          <p:cNvPr id="14" name="Text 12"/>
          <p:cNvSpPr/>
          <p:nvPr/>
        </p:nvSpPr>
        <p:spPr>
          <a:xfrm>
            <a:off x="6456680" y="4780495"/>
            <a:ext cx="4803343" cy="934504"/>
          </a:xfrm>
          <a:prstGeom prst="rect">
            <a:avLst/>
          </a:prstGeom>
          <a:noFill/>
          <a:ln/>
        </p:spPr>
        <p:txBody>
          <a:bodyPr wrap="square" lIns="0" tIns="0" rIns="0" bIns="0" rtlCol="0" anchor="t"/>
          <a:lstStyle/>
          <a:p>
            <a:pPr marL="0" indent="0" algn="l">
              <a:lnSpc>
                <a:spcPts val="2352"/>
              </a:lnSpc>
              <a:buNone/>
            </a:pPr>
            <a:r>
              <a:rPr lang="en-US" sz="1700" dirty="0">
                <a:solidFill>
                  <a:srgbClr val="55606B"/>
                </a:solidFill>
                <a:latin typeface="Inter" pitchFamily="34" charset="0"/>
                <a:ea typeface="Inter" pitchFamily="34" charset="-122"/>
                <a:cs typeface="Inter" pitchFamily="34" charset="-120"/>
              </a:rPr>
              <a:t>Replace the single shared session so several people can use a hosted version.</a:t>
            </a:r>
            <a:endParaRPr lang="en-US" sz="1700" dirty="0"/>
          </a:p>
        </p:txBody>
      </p:sp>
      <p:sp>
        <p:nvSpPr>
          <p:cNvPr id="15" name="Text 13"/>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B"/>
                </a:solidFill>
                <a:latin typeface="Inter" pitchFamily="34" charset="0"/>
                <a:ea typeface="Inter" pitchFamily="34" charset="-122"/>
                <a:cs typeface="Inter" pitchFamily="34" charset="-120"/>
              </a:rPr>
              <a:t>Sign Language Recognition (ASL + ISL)</a:t>
            </a:r>
            <a:endParaRPr lang="en-US" sz="1200" dirty="0"/>
          </a:p>
        </p:txBody>
      </p:sp>
      <p:sp>
        <p:nvSpPr>
          <p:cNvPr id="16" name="Text 14"/>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B"/>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17766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0" i="0" dirty="0">
                <a:solidFill>
                  <a:srgbClr val="F6F4EF"/>
                </a:solidFill>
                <a:latin typeface="Source Serif 4" pitchFamily="18" charset="0"/>
                <a:ea typeface="Source Serif 4" pitchFamily="18" charset="-122"/>
                <a:cs typeface="Source Serif 4" pitchFamily="18" charset="-120"/>
              </a:rPr>
              <a:t>Conclusion</a:t>
            </a:r>
            <a:endParaRPr lang="en-US" sz="3600" dirty="0"/>
          </a:p>
        </p:txBody>
      </p:sp>
      <p:sp>
        <p:nvSpPr>
          <p:cNvPr id="3" name="Text 1"/>
          <p:cNvSpPr/>
          <p:nvPr/>
        </p:nvSpPr>
        <p:spPr>
          <a:xfrm>
            <a:off x="812800" y="1554480"/>
            <a:ext cx="9810750" cy="1779882"/>
          </a:xfrm>
          <a:prstGeom prst="rect">
            <a:avLst/>
          </a:prstGeom>
          <a:noFill/>
          <a:ln/>
        </p:spPr>
        <p:txBody>
          <a:bodyPr wrap="square" lIns="0" tIns="0" rIns="0" bIns="0" rtlCol="0" anchor="t"/>
          <a:lstStyle/>
          <a:p>
            <a:pPr marL="0" indent="0" algn="l">
              <a:lnSpc>
                <a:spcPts val="4441"/>
              </a:lnSpc>
              <a:buNone/>
            </a:pPr>
            <a:r>
              <a:rPr lang="en-US" sz="3700" dirty="0">
                <a:solidFill>
                  <a:srgbClr val="F6F4EF"/>
                </a:solidFill>
                <a:latin typeface="Source Serif 4" pitchFamily="18" charset="0"/>
                <a:ea typeface="Source Serif 4" pitchFamily="18" charset="-122"/>
                <a:cs typeface="Source Serif 4" pitchFamily="18" charset="-120"/>
              </a:rPr>
              <a:t>A lightweight, browser-based recogniser for a limited set of ASL and ISL signs, running on a laptop CPU.</a:t>
            </a:r>
            <a:endParaRPr lang="en-US" sz="3700" dirty="0"/>
          </a:p>
        </p:txBody>
      </p:sp>
      <p:sp>
        <p:nvSpPr>
          <p:cNvPr id="4" name="Shape 2"/>
          <p:cNvSpPr/>
          <p:nvPr/>
        </p:nvSpPr>
        <p:spPr>
          <a:xfrm>
            <a:off x="812800" y="4373134"/>
            <a:ext cx="3386614" cy="1524745"/>
          </a:xfrm>
          <a:prstGeom prst="roundRect">
            <a:avLst>
              <a:gd name="adj" fmla="val 7968"/>
            </a:avLst>
          </a:prstGeom>
          <a:solidFill>
            <a:srgbClr val="12202E"/>
          </a:solidFill>
          <a:ln/>
        </p:spPr>
        <p:txBody>
          <a:bodyPr/>
          <a:lstStyle/>
          <a:p>
            <a:endParaRPr/>
          </a:p>
        </p:txBody>
      </p:sp>
      <p:sp>
        <p:nvSpPr>
          <p:cNvPr id="5" name="Text 3"/>
          <p:cNvSpPr/>
          <p:nvPr/>
        </p:nvSpPr>
        <p:spPr>
          <a:xfrm>
            <a:off x="1041400" y="4646495"/>
            <a:ext cx="3017296" cy="1068504"/>
          </a:xfrm>
          <a:prstGeom prst="rect">
            <a:avLst/>
          </a:prstGeom>
          <a:noFill/>
          <a:ln/>
        </p:spPr>
        <p:txBody>
          <a:bodyPr wrap="square" lIns="0" tIns="0" rIns="0" bIns="0" rtlCol="0" anchor="t"/>
          <a:lstStyle/>
          <a:p>
            <a:pPr marL="0" indent="0" algn="l">
              <a:lnSpc>
                <a:spcPts val="2220"/>
              </a:lnSpc>
              <a:buNone/>
            </a:pPr>
            <a:r>
              <a:rPr lang="en-US" sz="1900" b="1" dirty="0">
                <a:solidFill>
                  <a:srgbClr val="E8A93B"/>
                </a:solidFill>
                <a:latin typeface="Inter" pitchFamily="34" charset="0"/>
                <a:ea typeface="Inter" pitchFamily="34" charset="-122"/>
                <a:cs typeface="Inter" pitchFamily="34" charset="-120"/>
              </a:rPr>
              <a:t>Two languages</a:t>
            </a:r>
            <a:endParaRPr lang="en-US" sz="1900" dirty="0"/>
          </a:p>
        </p:txBody>
      </p:sp>
      <p:sp>
        <p:nvSpPr>
          <p:cNvPr id="6" name="Text 4"/>
          <p:cNvSpPr/>
          <p:nvPr/>
        </p:nvSpPr>
        <p:spPr>
          <a:xfrm>
            <a:off x="1041400" y="5029203"/>
            <a:ext cx="3017296" cy="685796"/>
          </a:xfrm>
          <a:prstGeom prst="rect">
            <a:avLst/>
          </a:prstGeom>
          <a:noFill/>
          <a:ln/>
        </p:spPr>
        <p:txBody>
          <a:bodyPr wrap="square" lIns="0" tIns="0" rIns="0" bIns="0" rtlCol="0" anchor="t"/>
          <a:lstStyle/>
          <a:p>
            <a:pPr marL="0" indent="0" algn="l">
              <a:lnSpc>
                <a:spcPts val="2267"/>
              </a:lnSpc>
              <a:buNone/>
            </a:pPr>
            <a:r>
              <a:rPr lang="en-US" sz="1600" dirty="0">
                <a:solidFill>
                  <a:srgbClr val="F6F4EF"/>
                </a:solidFill>
                <a:latin typeface="Inter" pitchFamily="34" charset="0"/>
                <a:ea typeface="Inter" pitchFamily="34" charset="-122"/>
                <a:cs typeface="Inter" pitchFamily="34" charset="-120"/>
              </a:rPr>
              <a:t>23 ASL words, 51 ISL words and ASL letters</a:t>
            </a:r>
            <a:endParaRPr lang="en-US" sz="1600" dirty="0"/>
          </a:p>
        </p:txBody>
      </p:sp>
      <p:sp>
        <p:nvSpPr>
          <p:cNvPr id="7" name="Shape 5"/>
          <p:cNvSpPr/>
          <p:nvPr/>
        </p:nvSpPr>
        <p:spPr>
          <a:xfrm>
            <a:off x="4402614" y="4373134"/>
            <a:ext cx="3386693" cy="1524745"/>
          </a:xfrm>
          <a:prstGeom prst="roundRect">
            <a:avLst>
              <a:gd name="adj" fmla="val 7968"/>
            </a:avLst>
          </a:prstGeom>
          <a:solidFill>
            <a:srgbClr val="12202E"/>
          </a:solidFill>
          <a:ln/>
        </p:spPr>
        <p:txBody>
          <a:bodyPr/>
          <a:lstStyle/>
          <a:p>
            <a:endParaRPr/>
          </a:p>
        </p:txBody>
      </p:sp>
      <p:sp>
        <p:nvSpPr>
          <p:cNvPr id="8" name="Text 6"/>
          <p:cNvSpPr/>
          <p:nvPr/>
        </p:nvSpPr>
        <p:spPr>
          <a:xfrm>
            <a:off x="4631214" y="4646495"/>
            <a:ext cx="3017378" cy="1068504"/>
          </a:xfrm>
          <a:prstGeom prst="rect">
            <a:avLst/>
          </a:prstGeom>
          <a:noFill/>
          <a:ln/>
        </p:spPr>
        <p:txBody>
          <a:bodyPr wrap="square" lIns="0" tIns="0" rIns="0" bIns="0" rtlCol="0" anchor="t"/>
          <a:lstStyle/>
          <a:p>
            <a:pPr marL="0" indent="0" algn="l">
              <a:lnSpc>
                <a:spcPts val="2220"/>
              </a:lnSpc>
              <a:buNone/>
            </a:pPr>
            <a:r>
              <a:rPr lang="en-US" sz="1900" b="1" dirty="0">
                <a:solidFill>
                  <a:srgbClr val="E8A93B"/>
                </a:solidFill>
                <a:latin typeface="Inter" pitchFamily="34" charset="0"/>
                <a:ea typeface="Inter" pitchFamily="34" charset="-122"/>
                <a:cs typeface="Inter" pitchFamily="34" charset="-120"/>
              </a:rPr>
              <a:t>Promising results</a:t>
            </a:r>
            <a:endParaRPr lang="en-US" sz="1900" dirty="0"/>
          </a:p>
        </p:txBody>
      </p:sp>
      <p:sp>
        <p:nvSpPr>
          <p:cNvPr id="9" name="Text 7"/>
          <p:cNvSpPr/>
          <p:nvPr/>
        </p:nvSpPr>
        <p:spPr>
          <a:xfrm>
            <a:off x="4631214" y="5029203"/>
            <a:ext cx="3017378" cy="685796"/>
          </a:xfrm>
          <a:prstGeom prst="rect">
            <a:avLst/>
          </a:prstGeom>
          <a:noFill/>
          <a:ln/>
        </p:spPr>
        <p:txBody>
          <a:bodyPr wrap="square" lIns="0" tIns="0" rIns="0" bIns="0" rtlCol="0" anchor="t"/>
          <a:lstStyle/>
          <a:p>
            <a:pPr marL="0" indent="0" algn="l">
              <a:lnSpc>
                <a:spcPts val="2267"/>
              </a:lnSpc>
              <a:buNone/>
            </a:pPr>
            <a:r>
              <a:rPr lang="en-US" sz="1600" dirty="0">
                <a:solidFill>
                  <a:srgbClr val="F6F4EF"/>
                </a:solidFill>
                <a:latin typeface="Inter" pitchFamily="34" charset="0"/>
                <a:ea typeface="Inter" pitchFamily="34" charset="-122"/>
                <a:cs typeface="Inter" pitchFamily="34" charset="-120"/>
              </a:rPr>
              <a:t>86.3% and 94.6% test top-1 on held-out clips</a:t>
            </a:r>
            <a:endParaRPr lang="en-US" sz="1600" dirty="0"/>
          </a:p>
        </p:txBody>
      </p:sp>
      <p:sp>
        <p:nvSpPr>
          <p:cNvPr id="10" name="Shape 8"/>
          <p:cNvSpPr/>
          <p:nvPr/>
        </p:nvSpPr>
        <p:spPr>
          <a:xfrm>
            <a:off x="7992507" y="4373134"/>
            <a:ext cx="3386693" cy="1524745"/>
          </a:xfrm>
          <a:prstGeom prst="roundRect">
            <a:avLst>
              <a:gd name="adj" fmla="val 7968"/>
            </a:avLst>
          </a:prstGeom>
          <a:solidFill>
            <a:srgbClr val="12202E"/>
          </a:solidFill>
          <a:ln/>
        </p:spPr>
        <p:txBody>
          <a:bodyPr/>
          <a:lstStyle/>
          <a:p>
            <a:endParaRPr/>
          </a:p>
        </p:txBody>
      </p:sp>
      <p:sp>
        <p:nvSpPr>
          <p:cNvPr id="11" name="Text 9"/>
          <p:cNvSpPr/>
          <p:nvPr/>
        </p:nvSpPr>
        <p:spPr>
          <a:xfrm>
            <a:off x="8221107" y="4646495"/>
            <a:ext cx="3017378" cy="1068504"/>
          </a:xfrm>
          <a:prstGeom prst="rect">
            <a:avLst/>
          </a:prstGeom>
          <a:noFill/>
          <a:ln/>
        </p:spPr>
        <p:txBody>
          <a:bodyPr wrap="square" lIns="0" tIns="0" rIns="0" bIns="0" rtlCol="0" anchor="t"/>
          <a:lstStyle/>
          <a:p>
            <a:pPr marL="0" indent="0" algn="l">
              <a:lnSpc>
                <a:spcPts val="2220"/>
              </a:lnSpc>
              <a:buNone/>
            </a:pPr>
            <a:r>
              <a:rPr lang="en-US" sz="1900" b="1" dirty="0">
                <a:solidFill>
                  <a:srgbClr val="E8A93B"/>
                </a:solidFill>
                <a:latin typeface="Inter" pitchFamily="34" charset="0"/>
                <a:ea typeface="Inter" pitchFamily="34" charset="-122"/>
                <a:cs typeface="Inter" pitchFamily="34" charset="-120"/>
              </a:rPr>
              <a:t>Clear next steps</a:t>
            </a:r>
            <a:endParaRPr lang="en-US" sz="1900" dirty="0"/>
          </a:p>
        </p:txBody>
      </p:sp>
      <p:sp>
        <p:nvSpPr>
          <p:cNvPr id="12" name="Text 10"/>
          <p:cNvSpPr/>
          <p:nvPr/>
        </p:nvSpPr>
        <p:spPr>
          <a:xfrm>
            <a:off x="8221107" y="5029203"/>
            <a:ext cx="3017378" cy="685796"/>
          </a:xfrm>
          <a:prstGeom prst="rect">
            <a:avLst/>
          </a:prstGeom>
          <a:noFill/>
          <a:ln/>
        </p:spPr>
        <p:txBody>
          <a:bodyPr wrap="square" lIns="0" tIns="0" rIns="0" bIns="0" rtlCol="0" anchor="t"/>
          <a:lstStyle/>
          <a:p>
            <a:pPr marL="0" indent="0" algn="l">
              <a:lnSpc>
                <a:spcPts val="2267"/>
              </a:lnSpc>
              <a:buNone/>
            </a:pPr>
            <a:r>
              <a:rPr lang="en-US" sz="1600" dirty="0">
                <a:solidFill>
                  <a:srgbClr val="F6F4EF"/>
                </a:solidFill>
                <a:latin typeface="Inter" pitchFamily="34" charset="0"/>
                <a:ea typeface="Inter" pitchFamily="34" charset="-122"/>
                <a:cs typeface="Inter" pitchFamily="34" charset="-120"/>
              </a:rPr>
              <a:t>More data, more signs and ISL letters</a:t>
            </a:r>
            <a:endParaRPr lang="en-US" sz="1600" dirty="0"/>
          </a:p>
        </p:txBody>
      </p:sp>
      <p:sp>
        <p:nvSpPr>
          <p:cNvPr id="13" name="Text 11"/>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6F4EF"/>
                </a:solidFill>
                <a:latin typeface="Inter" pitchFamily="34" charset="0"/>
                <a:ea typeface="Inter" pitchFamily="34" charset="-122"/>
                <a:cs typeface="Inter" pitchFamily="34" charset="-120"/>
              </a:rPr>
              <a:t>Sign Language Recognition (ASL + ISL)</a:t>
            </a:r>
            <a:endParaRPr lang="en-US" sz="1200" dirty="0"/>
          </a:p>
        </p:txBody>
      </p:sp>
      <p:sp>
        <p:nvSpPr>
          <p:cNvPr id="14" name="Text 12"/>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F6F4EF"/>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2202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0" i="0" dirty="0">
                <a:solidFill>
                  <a:srgbClr val="F6F4EF"/>
                </a:solidFill>
                <a:latin typeface="Source Serif 4" pitchFamily="18" charset="0"/>
                <a:ea typeface="Source Serif 4" pitchFamily="18" charset="-122"/>
                <a:cs typeface="Source Serif 4" pitchFamily="18" charset="-120"/>
              </a:rPr>
              <a:t>Thank you</a:t>
            </a:r>
            <a:endParaRPr lang="en-US" sz="6000" dirty="0"/>
          </a:p>
        </p:txBody>
      </p:sp>
      <p:sp>
        <p:nvSpPr>
          <p:cNvPr id="3" name="Text 1"/>
          <p:cNvSpPr/>
          <p:nvPr/>
        </p:nvSpPr>
        <p:spPr>
          <a:xfrm>
            <a:off x="812800" y="185420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E8A93B"/>
                </a:solidFill>
                <a:latin typeface="Inter" pitchFamily="34" charset="0"/>
                <a:ea typeface="Inter" pitchFamily="34" charset="-122"/>
                <a:cs typeface="Inter" pitchFamily="34" charset="-120"/>
              </a:rPr>
              <a:t>Questions and discussion</a:t>
            </a:r>
            <a:endParaRPr lang="en-US" sz="2000" dirty="0"/>
          </a:p>
        </p:txBody>
      </p:sp>
      <p:sp>
        <p:nvSpPr>
          <p:cNvPr id="4" name="Text 2"/>
          <p:cNvSpPr/>
          <p:nvPr/>
        </p:nvSpPr>
        <p:spPr>
          <a:xfrm>
            <a:off x="812800" y="4963164"/>
            <a:ext cx="1088339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4EF"/>
                </a:solidFill>
                <a:latin typeface="Inter" pitchFamily="34" charset="0"/>
                <a:ea typeface="Inter" pitchFamily="34" charset="-122"/>
                <a:cs typeface="Inter" pitchFamily="34" charset="-120"/>
              </a:rPr>
              <a:t>Acknowledgements</a:t>
            </a:r>
            <a:endParaRPr lang="en-US" sz="1600" dirty="0"/>
          </a:p>
        </p:txBody>
      </p:sp>
      <p:sp>
        <p:nvSpPr>
          <p:cNvPr id="5" name="Text 3"/>
          <p:cNvSpPr/>
          <p:nvPr/>
        </p:nvSpPr>
        <p:spPr>
          <a:xfrm>
            <a:off x="812800" y="5308600"/>
            <a:ext cx="9810750" cy="5588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B9C3CC"/>
                </a:solidFill>
                <a:latin typeface="Inter" pitchFamily="34" charset="0"/>
                <a:ea typeface="Inter" pitchFamily="34" charset="-122"/>
                <a:cs typeface="Inter" pitchFamily="34" charset="-120"/>
              </a:rPr>
              <a:t>MediaPipe hand and pose landmarkers (Google). INCLUDE Indian Sign Language dataset (AI4Bharat). Google Isolated Sign Language Recognition (asl-signs). ASL Alphabet and ISL fingerspelling image datasets.</a:t>
            </a:r>
            <a:endParaRPr lang="en-US" sz="1400" dirty="0"/>
          </a:p>
        </p:txBody>
      </p:sp>
      <p:sp>
        <p:nvSpPr>
          <p:cNvPr id="6" name="Text 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3CC"/>
                </a:solidFill>
                <a:latin typeface="Inter" pitchFamily="34" charset="0"/>
                <a:ea typeface="Inter" pitchFamily="34" charset="-122"/>
                <a:cs typeface="Inter" pitchFamily="34" charset="-120"/>
              </a:rPr>
              <a:t>github.com/Gulshan-heap/sign-language</a:t>
            </a:r>
            <a:endParaRPr lang="en-US" sz="1200" dirty="0"/>
          </a:p>
        </p:txBody>
      </p:sp>
      <p:sp>
        <p:nvSpPr>
          <p:cNvPr id="7" name="Text 5"/>
          <p:cNvSpPr/>
          <p:nvPr/>
        </p:nvSpPr>
        <p:spPr>
          <a:xfrm>
            <a:off x="10566400" y="6238242"/>
            <a:ext cx="81280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3CC"/>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theme/theme1.xml><?xml version="1.0" encoding="utf-8"?>
<a:theme xmlns:a="http://schemas.openxmlformats.org/drawingml/2006/main" name="Real-Time ASL and ISL Sign Language Recognition">
  <a:themeElements>
    <a:clrScheme name="Real-Time ASL and ISL Sign Language Recognition">
      <a:dk1>
        <a:srgbClr val="12202E"/>
      </a:dk1>
      <a:lt1>
        <a:srgbClr val="F6F4EF"/>
      </a:lt1>
      <a:dk2>
        <a:srgbClr val="4B555E"/>
      </a:dk2>
      <a:lt2>
        <a:srgbClr val="DFDFDC"/>
      </a:lt2>
      <a:accent1>
        <a:srgbClr val="17766F"/>
      </a:accent1>
      <a:accent2>
        <a:srgbClr val="E8A93B"/>
      </a:accent2>
      <a:accent3>
        <a:srgbClr val="55606B"/>
      </a:accent3>
      <a:accent4>
        <a:srgbClr val="B9C3CC"/>
      </a:accent4>
      <a:accent5>
        <a:srgbClr val="9AA0A6"/>
      </a:accent5>
      <a:accent6>
        <a:srgbClr val="6D757B"/>
      </a:accent6>
      <a:hlink>
        <a:srgbClr val="0563C1"/>
      </a:hlink>
      <a:folHlink>
        <a:srgbClr val="954F72"/>
      </a:folHlink>
    </a:clrScheme>
    <a:fontScheme name="Real-Time ASL and ISL Sign Language Recognition">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F0F0F0"/>
      </a:dk1>
      <a:lt1>
        <a:sysClr val="window" lastClr="000000"/>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2027</Words>
  <Application>Microsoft Office PowerPoint</Application>
  <PresentationFormat>Widescreen</PresentationFormat>
  <Paragraphs>247</Paragraphs>
  <Slides>17</Slides>
  <Notes>17</Notes>
  <HiddenSlides>0</HiddenSlides>
  <MMClips>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Inter</vt:lpstr>
      <vt:lpstr>Source Serif 4</vt:lpstr>
      <vt:lpstr>Real-Time ASL and ISL Sign Language Recognition</vt:lpstr>
      <vt:lpstr>Real-Time Sign Language Recognition</vt:lpstr>
      <vt:lpstr>Problem Statement</vt:lpstr>
      <vt:lpstr>Objectives</vt:lpstr>
      <vt:lpstr>Scope: A Limited Vocabulary</vt:lpstr>
      <vt:lpstr>Vocabulary</vt:lpstr>
      <vt:lpstr>System Architecture</vt:lpstr>
      <vt:lpstr>Technology Stack</vt:lpstr>
      <vt:lpstr>Datasets</vt:lpstr>
      <vt:lpstr>Models and Accuracy</vt:lpstr>
      <vt:lpstr>Dashboard Features</vt:lpstr>
      <vt:lpstr>Demo: signing "hello"</vt:lpstr>
      <vt:lpstr>Demo: signing "mom"</vt:lpstr>
      <vt:lpstr>Training and Deployment</vt:lpstr>
      <vt:lpstr>Limitations</vt:lpstr>
      <vt:lpstr>Future Work</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ASL and ISL Sign Language Recognition</dc:title>
  <dc:subject/>
  <dc:creator/>
  <cp:lastModifiedBy>sumanth mangalarapu</cp:lastModifiedBy>
  <cp:revision>3</cp:revision>
  <dcterms:created xsi:type="dcterms:W3CDTF">2026-10-12T16:48:54Z</dcterms:created>
  <dcterms:modified xsi:type="dcterms:W3CDTF">2026-10-12T19:06:27Z</dcterms:modified>
</cp:coreProperties>
</file>