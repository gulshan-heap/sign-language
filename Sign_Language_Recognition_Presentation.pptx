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dea and pipeline" id="{732c688d-8874-fdea-6abb-ffcf5a2ee039}">
          <p14:sldIdLst>
            <p14:sldId id="256"/>
            <p14:sldId id="257"/>
            <p14:sldId id="258"/>
          </p14:sldIdLst>
        </p14:section>
        <p14:section name="From frame to numbers" id="{2e8a5609-dadd-8d5e-916c-a16962348252}">
          <p14:sldIdLst>
            <p14:sldId id="259"/>
            <p14:sldId id="260"/>
          </p14:sldIdLst>
        </p14:section>
        <p14:section name="The two models" id="{a327448d-a1b5-5c76-5943-b5f4b5a08b99}">
          <p14:sldIdLst>
            <p14:sldId id="261"/>
            <p14:sldId id="262"/>
            <p14:sldId id="263"/>
            <p14:sldId id="264"/>
            <p14:sldId id="265"/>
          </p14:sldIdLst>
        </p14:section>
        <p14:section name="Data, training and results" id="{cf79981d-73e1-433a-3f58-cea9b7e3d526}">
          <p14:sldIdLst>
            <p14:sldId id="266"/>
            <p14:sldId id="267"/>
            <p14:sldId id="268"/>
          </p14:sldIdLst>
        </p14:section>
        <p14:section name="App, code and close" id="{a43ad006-7c45-b451-5139-540d107e8758}">
          <p14:sldIdLst>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line: "Our system reads sign language from a webcam. It recognises letters and words in both American (ASL) and Indian (ISL) sign language, in real time, on an ordinary CPU." Then say the talk has three parts: how a video becomes numbers, the two models (a small neural network for letters and a transformer for words), and how we trained and deployed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project in one sentence. Two kinds of signs need two kinds of models. A letter is a still hand shape, so a small neural network on one image is enough. A word is a movement over time, so we use a transformer that can look at the whole sequence of frames. Stress that neither model looks at pixels: both read keypoints from MediaPipe, which is why they are small enough to run on a CPU and on a free Render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Step 1 is the camera or a video file. Step 2 uses MediaPipe, Google's pretrained detector, to turn every frame into body and hand keypoints. Step 3 is our own preprocessing in slr/features.py, which turns a clip of any length into a fixed 32 by 270 table. Step 4 is the model we trained. Step 5 is the output shown on screen. The key point: the only part that touches images is MediaPipe, and we did not train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frame becomes a list of 67 (x, y) points: 25 from the pose model (face outline, shoulders, arms, hips), 21 for the left hand and 21 for the right hand. When a hand is not visible its 21 points are simply empty, and the model is told that through a hand-present flag later. This layout is defined in slr/landmarks.py. For letters we only use the 21 points of one hand; for words we use all 67.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slr/features.py. A real clip can be 20 or 200 frames long, so first we trim it to the part where a hand is visible and resample it to exactly 32 frames. Then we normalise: we centre everything on the midpoint of the shoulders and divide by the shoulder width, so it does not matter how far the signer is from the camera or where they stand. Finally each frame gets 270 numbers: 134 positions, 134 motion values (the difference from the previous frame, which tells the model how the hands are moving), and 2 flags saying whether the left and right hands are present.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letter is a still hand shape, so one image is enough and a small multilayer perceptron does the job. A word is a movement, so the model has to look at a whole sequence of frames and relate them to each other; that is what a transformer is good at. The saved word models contain 23 ASL words and 51 ISL words. The letters and the words use the same MediaPipe front end but different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scripts/letters.py. The input is the 21 hand points of one image: 63 numbers, because each point has x, y and z. We centre them on the wrist and scale them, so a big hand and a small hand give the same numbers. The network has two hidden layers, 256 units and then 128 units, with ReLU activations, and an output layer with one score per letter. We also compared an SVC and an ExtraTrees classifier and kept whichever scored best on validation. The MLP weights are exported to plain numpy arrays so the Raspberry Pi and the web app do not need scikit-learn.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slide; it is the class WordTransformer in slr/word_model.py, and the same class is used for ASL and ISL. Read it top to bottom with the shape on the right. One sign enters as 32 frames of 270 numbers. A Linear layer embeds every frame into 128 numbers, so each frame is like a word token in a sentence. A learned positional embedding is added so the model knows which frame came first. Then three transformer encoder layers let every frame look at every other frame: that is the attention. We average the 32 frame vectors into one 128-number summary, and a final Linear layer gives one score per word. Softmax turns the scores into probabilities. Only the last layer differs between ASL and ISL: 23 outputs for ASL and 51 for ISL. The whole model has about 440,000 parameters.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attention without the maths first. Each frame looks at all the other frames and decides how much each one matters for understanding it. For example, the frame where the hand is lifted and the frame where it comes down belong together for a word like "hello". The scores are turned into weights with softmax and the frames are blended using those weights. We use four heads, which means four of these attention calculations in parallel, each working on 32 of the 128 numbers, so different heads can learn different patterns. If asked about maths: it is scaled dot-product attention with queries, keys and values, as in the original Attention Is All You Need paper, implemented by PyTorch's nn.TransformerEncoder.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"encoding layer" and "hidden layer" part of the question. Each of the three encoder layers has two sub-blocks. Sub-block 1 is multi-head self-attention, with a LayerNorm in front of it (the "pre-norm" setting, norm_first=True). Sub-block 2 is the feed-forward network, which is the hidden layer: Linear from 128 to 256, ReLU, then Linear from 256 back to 128. After each sub-block the original input is added back, which is called a residual or skip connection; it keeps training stable and lets the layer refine the frames instead of replacing them. Dropout of 0.2 is applied for regularisation. The numbers: about 132,480 parameters per layer, so 397,440 in three layers, out of 439,703 for the ASL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ASL words come from the Google ISLR competition data, which is already stored as landmarks, so we only converted the signs we wanted into our 67-point format. We asked for 25 words; 23 exist in that dataset's 250-sign vocabulary ("eat" and "want" do not), and we took up to 300 clips for each. The split is by signer so the test accuracy is honest: the model is tested on people it never saw. ISL words come from INCLUDE, an Indian Sign Language dataset. The full archive is 56.8 GB, so scripts/include_extract.py reads only the videos in the INCLUDE-50 split, runs MediaPipe on each and deletes the video straight after. The saved ISL model has 51 word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slr/word_model.py and scripts/train_words.py. The loss is cross-entropy with label smoothing of 0.1, which stops the model from becoming over-confident. The optimiser is AdamW with a OneCycle learning-rate schedule, batch size 32. ASL trains for 60 epochs; ISL for 150 epochs with three random seeds, and we keep the seed with the best validation accuracy. Every 5 epochs we measure validation accuracy and keep the best weights. Because we have few videos per word, every epoch randomly augments each clip: mirroring, a small rotation, scaling, jitter, dropping some frames and cropping in time. Regularisation comes from dropout 0.2, weight decay 0.05 and the label smoothing.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numbers come straight from models/asl_words.json and models/isl_words.json. Top-1 means the first guess is right; top-3 means the correct word is among the three best guesses. ASL: 86.3 percent top-1 and 95.4 percent top-3 on 629 test clips from signers the model never saw. ISL: 94.6 percent top-1 and 99.4 percent top-3 on 167 test clips. Be honest about the caveat if asked: the ISL test set is small, and the ASL test is harder because it is split by signer. Validation accuracy was 92.2 percent for ASL and 98.5 percent for ISL.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web app (app.py and web/) uses the same pipeline as training: MediaPipe on each frame, then the models. Letters are noisy frame by frame, so LetterStabiliser only types a letter once the same one has been predicted for 8 frames in a row with at least 0.6 confidence. Words need a start and an end: WordSegmenter collects frames while hands are visible, ends the clip after a short pause with no hands, then runs the transformer on that clip and accepts the answer only if the confidence is at least 0.5. For deployment we exported the trained weights to numpy (slr/numpy_word_model.py reimplements the transformer forward pass), so the server does not need PyTorch and fits on a small Render instance.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answer "where is X in the code". The notebooks are thin: they call functions in scripts/. The real logic is in the slr package. landmarks.py talks to MediaPipe, features.py does the preprocessing and augmentation, word_model.py defines the WordTransformer class and the training loop, numpy_word_model.py repeats the same forward pass without PyTorch, inference.py loads whichever saved model is available, and live.py holds the letter stabiliser and word segmenter. The deployed website only uses app.py, web/, slr/ and the numpy model files in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about the limits; it makes the rest more credible. The vocabulary is fixed because the output layer has one score per word. The models recognise isolated signs, not continuous sentences. The ASL test accuracy of about 86 percent is on people the model never saw. The ISL test set has only 167 clips. The next steps are suggestions rather than finished work: more words and signers, continuous signing, and more ISL test data. Then invite questions. A good short answer to "why a transformer?": a sign is a sequence over time, and attention relates the frames across the whole clip.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4F6F8"/>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725912" cy="822960"/>
          </a:xfrm>
          <a:prstGeom prst="rect">
            <a:avLst/>
          </a:prstGeom>
          <a:noFill/>
          <a:ln/>
        </p:spPr>
        <p:txBody>
          <a:bodyPr wrap="square" rtlCol="0"/>
          <a:lstStyle>
            <a:lvl1pPr algn="l" indent="0" marL="0">
              <a:buNone/>
              <a:defRPr lang="en-US" sz="3600" b="1" dirty="0">
                <a:solidFill>
                  <a:srgbClr val="0F1A2B"/>
                </a:solidFill>
              </a:defRPr>
            </a:lvl1pPr>
          </a:lstStyle>
          <a:p>
            <a:pPr algn="l" indent="0" marL="0">
              <a:buNone/>
            </a:pPr>
            <a:r>
              <a:rPr lang="en-US" sz="3600" b="1" dirty="0">
                <a:solidFill>
                  <a:srgbClr val="0F1A2B"/>
                </a:solidFill>
              </a:rPr>
              <a:t>Title</a:t>
            </a:r>
            <a:endParaRPr lang="en-US" sz="3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F1A2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725912" cy="822960"/>
          </a:xfrm>
          <a:prstGeom prst="rect">
            <a:avLst/>
          </a:prstGeom>
          <a:noFill/>
          <a:ln/>
        </p:spPr>
        <p:txBody>
          <a:bodyPr wrap="square" rtlCol="0"/>
          <a:lstStyle>
            <a:lvl1pPr algn="l" indent="0" marL="0">
              <a:buNone/>
              <a:defRPr lang="en-US" sz="3600" b="1" dirty="0">
                <a:solidFill>
                  <a:srgbClr val="F4F6F8"/>
                </a:solidFill>
              </a:defRPr>
            </a:lvl1pPr>
          </a:lstStyle>
          <a:p>
            <a:pPr algn="l" indent="0" marL="0">
              <a:buNone/>
            </a:pPr>
            <a:r>
              <a:rPr lang="en-US" sz="3600" b="1" dirty="0">
                <a:solidFill>
                  <a:srgbClr val="F4F6F8"/>
                </a:solidFill>
              </a:rPr>
              <a:t>Title</a:t>
            </a:r>
            <a:endParaRPr lang="en-US" sz="3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rgbClr val="0F1A2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783080"/>
            <a:ext cx="10698480" cy="2011680"/>
          </a:xfrm>
          <a:prstGeom prst="rect">
            <a:avLst/>
          </a:prstGeom>
          <a:noFill/>
          <a:ln/>
        </p:spPr>
        <p:txBody>
          <a:bodyPr wrap="square" rtlCol="0"/>
          <a:lstStyle>
            <a:lvl1pPr algn="l" indent="0" marL="0">
              <a:buNone/>
              <a:defRPr lang="en-US" sz="5000" b="1" dirty="0">
                <a:solidFill>
                  <a:srgbClr val="F4F6F8"/>
                </a:solidFill>
              </a:defRPr>
            </a:lvl1pPr>
          </a:lstStyle>
          <a:p>
            <a:pPr algn="l" indent="0" marL="0">
              <a:buNone/>
            </a:pPr>
            <a:r>
              <a:rPr lang="en-US" sz="5000" b="1" dirty="0">
                <a:solidFill>
                  <a:srgbClr val="F4F6F8"/>
                </a:solidFill>
              </a:rPr>
              <a:t>Title</a:t>
            </a:r>
            <a:endParaRPr lang="en-US" sz="5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188720"/>
            <a:ext cx="7315200" cy="365760"/>
          </a:xfrm>
          <a:prstGeom prst="rect">
            <a:avLst/>
          </a:prstGeom>
          <a:noFill/>
          <a:ln/>
        </p:spPr>
        <p:txBody>
          <a:bodyPr wrap="square" lIns="0" tIns="0" rIns="0" bIns="0" rtlCol="0" anchor="t"/>
          <a:lstStyle/>
          <a:p>
            <a:pPr algn="l" indent="0" marL="0">
              <a:buNone/>
            </a:pPr>
            <a:r>
              <a:rPr lang="en-US" sz="1400" b="1" spc="300" kern="0" dirty="0">
                <a:solidFill>
                  <a:srgbClr val="2BB5A5"/>
                </a:solidFill>
              </a:rPr>
              <a:t>PROJECT PRESENTATION</a:t>
            </a:r>
            <a:endParaRPr lang="en-US" sz="1400" dirty="0"/>
          </a:p>
        </p:txBody>
      </p:sp>
      <p:sp>
        <p:nvSpPr>
          <p:cNvPr id="3" name="Text 0"/>
          <p:cNvSpPr/>
          <p:nvPr>
            <p:ph idx="100" type="title" hasCustomPrompt="1"/>
          </p:nvPr>
        </p:nvSpPr>
        <p:spPr>
          <a:xfrm>
            <a:off x="731520" y="1783080"/>
            <a:ext cx="10698480" cy="2011680"/>
          </a:xfrm>
          <a:prstGeom prst="rect">
            <a:avLst/>
          </a:prstGeom>
          <a:noFill/>
          <a:ln/>
        </p:spPr>
        <p:txBody>
          <a:bodyPr wrap="square" lIns="0" tIns="0" rIns="0" bIns="0" rtlCol="0" anchor="t"/>
          <a:lstStyle/>
          <a:p>
            <a:pPr algn="l" indent="0" marL="0">
              <a:buNone/>
            </a:pPr>
            <a:r>
              <a:rPr lang="en-US" sz="5000" b="1" dirty="0">
                <a:solidFill>
                  <a:srgbClr val="F4F6F8"/>
                </a:solidFill>
              </a:rPr>
              <a:t>Real-Time ASL and ISL Sign Language Recognition</a:t>
            </a:r>
            <a:endParaRPr lang="en-US" sz="5000" dirty="0"/>
          </a:p>
        </p:txBody>
      </p:sp>
      <p:sp>
        <p:nvSpPr>
          <p:cNvPr id="4" name="Text 2"/>
          <p:cNvSpPr txBox="1"/>
          <p:nvPr/>
        </p:nvSpPr>
        <p:spPr>
          <a:xfrm>
            <a:off x="731520" y="4114800"/>
            <a:ext cx="10058400" cy="548640"/>
          </a:xfrm>
          <a:prstGeom prst="rect">
            <a:avLst/>
          </a:prstGeom>
          <a:noFill/>
          <a:ln/>
        </p:spPr>
        <p:txBody>
          <a:bodyPr wrap="square" lIns="0" tIns="0" rIns="0" bIns="0" rtlCol="0" anchor="t"/>
          <a:lstStyle/>
          <a:p>
            <a:pPr algn="l" indent="0" marL="0">
              <a:buNone/>
            </a:pPr>
            <a:r>
              <a:rPr lang="en-US" sz="2200" dirty="0">
                <a:solidFill>
                  <a:srgbClr val="B8C4D6"/>
                </a:solidFill>
              </a:rPr>
              <a:t>Hand and body keypoints, classified by a transformer, running on a CPU</a:t>
            </a:r>
            <a:endParaRPr lang="en-US" sz="2200" dirty="0"/>
          </a:p>
        </p:txBody>
      </p:sp>
      <p:sp>
        <p:nvSpPr>
          <p:cNvPr id="5" name="Text 3"/>
          <p:cNvSpPr txBox="1"/>
          <p:nvPr/>
        </p:nvSpPr>
        <p:spPr>
          <a:xfrm>
            <a:off x="731520" y="5212080"/>
            <a:ext cx="10058400" cy="365760"/>
          </a:xfrm>
          <a:prstGeom prst="rect">
            <a:avLst/>
          </a:prstGeom>
          <a:noFill/>
          <a:ln/>
        </p:spPr>
        <p:txBody>
          <a:bodyPr wrap="square" lIns="0" tIns="0" rIns="0" bIns="0" rtlCol="0" anchor="t"/>
          <a:lstStyle/>
          <a:p>
            <a:pPr algn="l" indent="0" marL="0">
              <a:buNone/>
            </a:pPr>
            <a:r>
              <a:rPr lang="en-US" sz="1400" dirty="0">
                <a:solidFill>
                  <a:srgbClr val="B8C4D6"/>
                </a:solidFill>
              </a:rPr>
              <a:t>[Your name]  ·  [Course or institute]  ·  [Date]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725912" cy="822960"/>
          </a:xfrm>
          <a:prstGeom prst="rect">
            <a:avLst/>
          </a:prstGeom>
          <a:noFill/>
          <a:ln/>
        </p:spPr>
        <p:txBody>
          <a:bodyPr wrap="square" lIns="0" tIns="0" rIns="0" bIns="0" rtlCol="0" anchor="ctr"/>
          <a:lstStyle/>
          <a:p>
            <a:pPr algn="l" indent="0" marL="0">
              <a:buNone/>
            </a:pPr>
            <a:r>
              <a:rPr lang="en-US" sz="3600" b="1" dirty="0">
                <a:solidFill>
                  <a:srgbClr val="0F1A2B"/>
                </a:solidFill>
              </a:rPr>
              <a:t>The idea in one sentence</a:t>
            </a:r>
            <a:endParaRPr lang="en-US" sz="3600" dirty="0"/>
          </a:p>
        </p:txBody>
      </p:sp>
      <p:sp>
        <p:nvSpPr>
          <p:cNvPr id="3" name="Text 1"/>
          <p:cNvSpPr txBox="1"/>
          <p:nvPr/>
        </p:nvSpPr>
        <p:spPr>
          <a:xfrm>
            <a:off x="731520" y="1600200"/>
            <a:ext cx="10725912" cy="1188720"/>
          </a:xfrm>
          <a:prstGeom prst="rect">
            <a:avLst/>
          </a:prstGeom>
          <a:noFill/>
          <a:ln/>
        </p:spPr>
        <p:txBody>
          <a:bodyPr wrap="square" lIns="0" tIns="0" rIns="0" bIns="0" rtlCol="0" anchor="t"/>
          <a:lstStyle/>
          <a:p>
            <a:pPr algn="l" indent="0" marL="0">
              <a:buNone/>
            </a:pPr>
            <a:r>
              <a:rPr lang="en-US" sz="2800" b="1" dirty="0">
                <a:solidFill>
                  <a:srgbClr val="0F1A2B"/>
                </a:solidFill>
              </a:rPr>
              <a:t>Turn the camera video into hand and body keypoints, then classify the keypoints.</a:t>
            </a:r>
            <a:endParaRPr lang="en-US" sz="2800" dirty="0"/>
          </a:p>
        </p:txBody>
      </p:sp>
      <p:sp>
        <p:nvSpPr>
          <p:cNvPr id="4" name="card-letters"/>
          <p:cNvSpPr/>
          <p:nvPr/>
        </p:nvSpPr>
        <p:spPr>
          <a:xfrm>
            <a:off x="731520" y="3063240"/>
            <a:ext cx="5257800" cy="1828800"/>
          </a:xfrm>
          <a:prstGeom prst="roundRect">
            <a:avLst>
              <a:gd name="adj" fmla="val 6000"/>
            </a:avLst>
          </a:prstGeom>
          <a:solidFill>
            <a:srgbClr val="DCEEEB"/>
          </a:solidFill>
          <a:ln/>
        </p:spPr>
      </p:sp>
      <p:sp>
        <p:nvSpPr>
          <p:cNvPr id="5" name="Text 3"/>
          <p:cNvSpPr txBox="1"/>
          <p:nvPr/>
        </p:nvSpPr>
        <p:spPr>
          <a:xfrm>
            <a:off x="1005840" y="3291840"/>
            <a:ext cx="4709160" cy="1371600"/>
          </a:xfrm>
          <a:prstGeom prst="rect">
            <a:avLst/>
          </a:prstGeom>
          <a:noFill/>
          <a:ln/>
        </p:spPr>
        <p:txBody>
          <a:bodyPr wrap="square" lIns="0" tIns="0" rIns="0" bIns="0" rtlCol="0" anchor="t"/>
          <a:lstStyle/>
          <a:p>
            <a:pPr algn="l" indent="0" marL="0">
              <a:spcAft>
                <a:spcPts val="600"/>
              </a:spcAft>
              <a:buNone/>
            </a:pPr>
            <a:r>
              <a:rPr lang="en-US" sz="2400" b="1" dirty="0">
                <a:solidFill>
                  <a:srgbClr val="0F1A2B"/>
                </a:solidFill>
              </a:rPr>
              <a:t>Letters</a:t>
            </a:r>
            <a:endParaRPr lang="en-US" sz="2400" dirty="0"/>
          </a:p>
          <a:p>
            <a:pPr algn="l" indent="0" marL="0">
              <a:buNone/>
            </a:pPr>
            <a:r>
              <a:rPr lang="en-US" sz="1800" dirty="0">
                <a:solidFill>
                  <a:srgbClr val="0F1A2B"/>
                </a:solidFill>
              </a:rPr>
              <a:t>A small neural network (MLP) looks at one hand image.</a:t>
            </a:r>
            <a:endParaRPr lang="en-US" sz="2400" dirty="0"/>
          </a:p>
        </p:txBody>
      </p:sp>
      <p:sp>
        <p:nvSpPr>
          <p:cNvPr id="6" name="card-words"/>
          <p:cNvSpPr/>
          <p:nvPr/>
        </p:nvSpPr>
        <p:spPr>
          <a:xfrm>
            <a:off x="6199632" y="3063240"/>
            <a:ext cx="5257800" cy="1828800"/>
          </a:xfrm>
          <a:prstGeom prst="roundRect">
            <a:avLst>
              <a:gd name="adj" fmla="val 6000"/>
            </a:avLst>
          </a:prstGeom>
          <a:solidFill>
            <a:srgbClr val="F8E6C8"/>
          </a:solidFill>
          <a:ln/>
        </p:spPr>
      </p:sp>
      <p:sp>
        <p:nvSpPr>
          <p:cNvPr id="7" name="Text 5"/>
          <p:cNvSpPr txBox="1"/>
          <p:nvPr/>
        </p:nvSpPr>
        <p:spPr>
          <a:xfrm>
            <a:off x="6473952" y="3291840"/>
            <a:ext cx="4709160" cy="1371600"/>
          </a:xfrm>
          <a:prstGeom prst="rect">
            <a:avLst/>
          </a:prstGeom>
          <a:noFill/>
          <a:ln/>
        </p:spPr>
        <p:txBody>
          <a:bodyPr wrap="square" lIns="0" tIns="0" rIns="0" bIns="0" rtlCol="0" anchor="t"/>
          <a:lstStyle/>
          <a:p>
            <a:pPr algn="l" indent="0" marL="0">
              <a:spcAft>
                <a:spcPts val="600"/>
              </a:spcAft>
              <a:buNone/>
            </a:pPr>
            <a:r>
              <a:rPr lang="en-US" sz="2400" b="1" dirty="0">
                <a:solidFill>
                  <a:srgbClr val="0F1A2B"/>
                </a:solidFill>
              </a:rPr>
              <a:t>Words</a:t>
            </a:r>
            <a:endParaRPr lang="en-US" sz="2400" dirty="0"/>
          </a:p>
          <a:p>
            <a:pPr algn="l" indent="0" marL="0">
              <a:buNone/>
            </a:pPr>
            <a:r>
              <a:rPr lang="en-US" sz="1800" dirty="0">
                <a:solidFill>
                  <a:srgbClr val="0F1A2B"/>
                </a:solidFill>
              </a:rPr>
              <a:t>A transformer encoder looks at 32 frames of a moving sign.</a:t>
            </a:r>
            <a:endParaRPr lang="en-US" sz="2400" dirty="0"/>
          </a:p>
        </p:txBody>
      </p:sp>
      <p:sp>
        <p:nvSpPr>
          <p:cNvPr id="8" name="Text 6"/>
          <p:cNvSpPr txBox="1"/>
          <p:nvPr/>
        </p:nvSpPr>
        <p:spPr>
          <a:xfrm>
            <a:off x="731520" y="5257800"/>
            <a:ext cx="10725912" cy="731520"/>
          </a:xfrm>
          <a:prstGeom prst="rect">
            <a:avLst/>
          </a:prstGeom>
          <a:noFill/>
          <a:ln/>
        </p:spPr>
        <p:txBody>
          <a:bodyPr wrap="square" lIns="0" tIns="0" rIns="0" bIns="0" rtlCol="0" anchor="t"/>
          <a:lstStyle/>
          <a:p>
            <a:pPr algn="l" indent="0" marL="0">
              <a:buNone/>
            </a:pPr>
            <a:r>
              <a:rPr lang="en-US" sz="1600" dirty="0">
                <a:solidFill>
                  <a:srgbClr val="4A5568"/>
                </a:solidFill>
              </a:rPr>
              <a:t>The models never see pixels, only about 67 (x, y) points per frame. That keeps them small, fast and CPU-friendly.</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725912" cy="822960"/>
          </a:xfrm>
          <a:prstGeom prst="rect">
            <a:avLst/>
          </a:prstGeom>
          <a:noFill/>
          <a:ln/>
        </p:spPr>
        <p:txBody>
          <a:bodyPr wrap="square" lIns="0" tIns="0" rIns="0" bIns="0" rtlCol="0" anchor="ctr"/>
          <a:lstStyle/>
          <a:p>
            <a:pPr algn="l" indent="0" marL="0">
              <a:buNone/>
            </a:pPr>
            <a:r>
              <a:rPr lang="en-US" sz="3600" b="1" dirty="0">
                <a:solidFill>
                  <a:srgbClr val="0F1A2B"/>
                </a:solidFill>
              </a:rPr>
              <a:t>The pipeline</a:t>
            </a:r>
            <a:endParaRPr lang="en-US" sz="3600" dirty="0"/>
          </a:p>
        </p:txBody>
      </p:sp>
      <p:sp>
        <p:nvSpPr>
          <p:cNvPr id="3" name="step-1"/>
          <p:cNvSpPr/>
          <p:nvPr/>
        </p:nvSpPr>
        <p:spPr>
          <a:xfrm>
            <a:off x="731520" y="1783080"/>
            <a:ext cx="1828800" cy="2743200"/>
          </a:xfrm>
          <a:prstGeom prst="roundRect">
            <a:avLst>
              <a:gd name="adj" fmla="val 6000"/>
            </a:avLst>
          </a:prstGeom>
          <a:solidFill>
            <a:srgbClr val="FFFFFF"/>
          </a:solidFill>
          <a:ln w="12700">
            <a:solidFill>
              <a:srgbClr val="D5DAE0"/>
            </a:solidFill>
            <a:prstDash val="solid"/>
          </a:ln>
        </p:spPr>
      </p:sp>
      <p:sp>
        <p:nvSpPr>
          <p:cNvPr id="4" name="Text 2"/>
          <p:cNvSpPr txBox="1"/>
          <p:nvPr/>
        </p:nvSpPr>
        <p:spPr>
          <a:xfrm>
            <a:off x="896112" y="1965960"/>
            <a:ext cx="1499616" cy="2423160"/>
          </a:xfrm>
          <a:prstGeom prst="rect">
            <a:avLst/>
          </a:prstGeom>
          <a:noFill/>
          <a:ln/>
        </p:spPr>
        <p:txBody>
          <a:bodyPr wrap="square" lIns="0" tIns="0" rIns="0" bIns="0" rtlCol="0" anchor="t"/>
          <a:lstStyle/>
          <a:p>
            <a:pPr algn="l" indent="0" marL="0">
              <a:spcAft>
                <a:spcPts val="600"/>
              </a:spcAft>
              <a:buNone/>
            </a:pPr>
            <a:r>
              <a:rPr lang="en-US" sz="1300" b="1" dirty="0">
                <a:solidFill>
                  <a:srgbClr val="B45309"/>
                </a:solidFill>
              </a:rPr>
              <a:t>STEP 1</a:t>
            </a:r>
            <a:endParaRPr lang="en-US" sz="1300" dirty="0"/>
          </a:p>
          <a:p>
            <a:pPr algn="l" indent="0" marL="0">
              <a:spcAft>
                <a:spcPts val="800"/>
              </a:spcAft>
              <a:buNone/>
            </a:pPr>
            <a:r>
              <a:rPr lang="en-US" sz="2200" b="1" dirty="0">
                <a:solidFill>
                  <a:srgbClr val="0F1A2B"/>
                </a:solidFill>
              </a:rPr>
              <a:t>Video</a:t>
            </a:r>
            <a:endParaRPr lang="en-US" sz="1300" dirty="0"/>
          </a:p>
          <a:p>
            <a:pPr algn="l" indent="0" marL="0">
              <a:buNone/>
            </a:pPr>
            <a:r>
              <a:rPr lang="en-US" sz="1600" dirty="0">
                <a:solidFill>
                  <a:srgbClr val="4A5568"/>
                </a:solidFill>
              </a:rPr>
              <a:t>Webcam or a video clip</a:t>
            </a:r>
            <a:endParaRPr lang="en-US" sz="1300" dirty="0"/>
          </a:p>
        </p:txBody>
      </p:sp>
      <p:sp>
        <p:nvSpPr>
          <p:cNvPr id="5" name="Shape 3"/>
          <p:cNvSpPr/>
          <p:nvPr/>
        </p:nvSpPr>
        <p:spPr>
          <a:xfrm>
            <a:off x="2615184" y="3154680"/>
            <a:ext cx="285750" cy="0"/>
          </a:xfrm>
          <a:prstGeom prst="line">
            <a:avLst/>
          </a:prstGeom>
          <a:noFill/>
          <a:ln w="28575">
            <a:solidFill>
              <a:srgbClr val="0F766E"/>
            </a:solidFill>
            <a:prstDash val="solid"/>
            <a:tailEnd type="triangle"/>
          </a:ln>
        </p:spPr>
      </p:sp>
      <p:sp>
        <p:nvSpPr>
          <p:cNvPr id="6" name="step-2"/>
          <p:cNvSpPr/>
          <p:nvPr/>
        </p:nvSpPr>
        <p:spPr>
          <a:xfrm>
            <a:off x="2955798" y="1783080"/>
            <a:ext cx="1828800" cy="2743200"/>
          </a:xfrm>
          <a:prstGeom prst="roundRect">
            <a:avLst>
              <a:gd name="adj" fmla="val 6000"/>
            </a:avLst>
          </a:prstGeom>
          <a:solidFill>
            <a:srgbClr val="FFFFFF"/>
          </a:solidFill>
          <a:ln w="12700">
            <a:solidFill>
              <a:srgbClr val="D5DAE0"/>
            </a:solidFill>
            <a:prstDash val="solid"/>
          </a:ln>
        </p:spPr>
      </p:sp>
      <p:sp>
        <p:nvSpPr>
          <p:cNvPr id="7" name="Text 5"/>
          <p:cNvSpPr txBox="1"/>
          <p:nvPr/>
        </p:nvSpPr>
        <p:spPr>
          <a:xfrm>
            <a:off x="3120390" y="1965960"/>
            <a:ext cx="1499616" cy="2423160"/>
          </a:xfrm>
          <a:prstGeom prst="rect">
            <a:avLst/>
          </a:prstGeom>
          <a:noFill/>
          <a:ln/>
        </p:spPr>
        <p:txBody>
          <a:bodyPr wrap="square" lIns="0" tIns="0" rIns="0" bIns="0" rtlCol="0" anchor="t"/>
          <a:lstStyle/>
          <a:p>
            <a:pPr algn="l" indent="0" marL="0">
              <a:spcAft>
                <a:spcPts val="600"/>
              </a:spcAft>
              <a:buNone/>
            </a:pPr>
            <a:r>
              <a:rPr lang="en-US" sz="1300" b="1" dirty="0">
                <a:solidFill>
                  <a:srgbClr val="B45309"/>
                </a:solidFill>
              </a:rPr>
              <a:t>STEP 2</a:t>
            </a:r>
            <a:endParaRPr lang="en-US" sz="1300" dirty="0"/>
          </a:p>
          <a:p>
            <a:pPr algn="l" indent="0" marL="0">
              <a:spcAft>
                <a:spcPts val="800"/>
              </a:spcAft>
              <a:buNone/>
            </a:pPr>
            <a:r>
              <a:rPr lang="en-US" sz="2200" b="1" dirty="0">
                <a:solidFill>
                  <a:srgbClr val="0F1A2B"/>
                </a:solidFill>
              </a:rPr>
              <a:t>Keypoints</a:t>
            </a:r>
            <a:endParaRPr lang="en-US" sz="1300" dirty="0"/>
          </a:p>
          <a:p>
            <a:pPr algn="l" indent="0" marL="0">
              <a:buNone/>
            </a:pPr>
            <a:r>
              <a:rPr lang="en-US" sz="1600" dirty="0">
                <a:solidFill>
                  <a:srgbClr val="4A5568"/>
                </a:solidFill>
              </a:rPr>
              <a:t>MediaPipe finds 67 body and hand points per frame</a:t>
            </a:r>
            <a:endParaRPr lang="en-US" sz="1300" dirty="0"/>
          </a:p>
        </p:txBody>
      </p:sp>
      <p:sp>
        <p:nvSpPr>
          <p:cNvPr id="8" name="Shape 6"/>
          <p:cNvSpPr/>
          <p:nvPr/>
        </p:nvSpPr>
        <p:spPr>
          <a:xfrm>
            <a:off x="4839462" y="3154680"/>
            <a:ext cx="285750" cy="0"/>
          </a:xfrm>
          <a:prstGeom prst="line">
            <a:avLst/>
          </a:prstGeom>
          <a:noFill/>
          <a:ln w="28575">
            <a:solidFill>
              <a:srgbClr val="0F766E"/>
            </a:solidFill>
            <a:prstDash val="solid"/>
            <a:tailEnd type="triangle"/>
          </a:ln>
        </p:spPr>
      </p:sp>
      <p:sp>
        <p:nvSpPr>
          <p:cNvPr id="9" name="step-3"/>
          <p:cNvSpPr/>
          <p:nvPr/>
        </p:nvSpPr>
        <p:spPr>
          <a:xfrm>
            <a:off x="5180076" y="1783080"/>
            <a:ext cx="1828800" cy="2743200"/>
          </a:xfrm>
          <a:prstGeom prst="roundRect">
            <a:avLst>
              <a:gd name="adj" fmla="val 6000"/>
            </a:avLst>
          </a:prstGeom>
          <a:solidFill>
            <a:srgbClr val="FFFFFF"/>
          </a:solidFill>
          <a:ln w="12700">
            <a:solidFill>
              <a:srgbClr val="D5DAE0"/>
            </a:solidFill>
            <a:prstDash val="solid"/>
          </a:ln>
        </p:spPr>
      </p:sp>
      <p:sp>
        <p:nvSpPr>
          <p:cNvPr id="10" name="Text 8"/>
          <p:cNvSpPr txBox="1"/>
          <p:nvPr/>
        </p:nvSpPr>
        <p:spPr>
          <a:xfrm>
            <a:off x="5344668" y="1965960"/>
            <a:ext cx="1499616" cy="2423160"/>
          </a:xfrm>
          <a:prstGeom prst="rect">
            <a:avLst/>
          </a:prstGeom>
          <a:noFill/>
          <a:ln/>
        </p:spPr>
        <p:txBody>
          <a:bodyPr wrap="square" lIns="0" tIns="0" rIns="0" bIns="0" rtlCol="0" anchor="t"/>
          <a:lstStyle/>
          <a:p>
            <a:pPr algn="l" indent="0" marL="0">
              <a:spcAft>
                <a:spcPts val="600"/>
              </a:spcAft>
              <a:buNone/>
            </a:pPr>
            <a:r>
              <a:rPr lang="en-US" sz="1300" b="1" dirty="0">
                <a:solidFill>
                  <a:srgbClr val="B45309"/>
                </a:solidFill>
              </a:rPr>
              <a:t>STEP 3</a:t>
            </a:r>
            <a:endParaRPr lang="en-US" sz="1300" dirty="0"/>
          </a:p>
          <a:p>
            <a:pPr algn="l" indent="0" marL="0">
              <a:spcAft>
                <a:spcPts val="800"/>
              </a:spcAft>
              <a:buNone/>
            </a:pPr>
            <a:r>
              <a:rPr lang="en-US" sz="2200" b="1" dirty="0">
                <a:solidFill>
                  <a:srgbClr val="0F1A2B"/>
                </a:solidFill>
              </a:rPr>
              <a:t>Features</a:t>
            </a:r>
            <a:endParaRPr lang="en-US" sz="1300" dirty="0"/>
          </a:p>
          <a:p>
            <a:pPr algn="l" indent="0" marL="0">
              <a:buNone/>
            </a:pPr>
            <a:r>
              <a:rPr lang="en-US" sz="1600" dirty="0">
                <a:solidFill>
                  <a:srgbClr val="4A5568"/>
                </a:solidFill>
              </a:rPr>
              <a:t>Cleaned up to 32 frames × 270 numbers per sign</a:t>
            </a:r>
            <a:endParaRPr lang="en-US" sz="1300" dirty="0"/>
          </a:p>
        </p:txBody>
      </p:sp>
      <p:sp>
        <p:nvSpPr>
          <p:cNvPr id="11" name="Shape 9"/>
          <p:cNvSpPr/>
          <p:nvPr/>
        </p:nvSpPr>
        <p:spPr>
          <a:xfrm>
            <a:off x="7063740" y="3154680"/>
            <a:ext cx="285750" cy="0"/>
          </a:xfrm>
          <a:prstGeom prst="line">
            <a:avLst/>
          </a:prstGeom>
          <a:noFill/>
          <a:ln w="28575">
            <a:solidFill>
              <a:srgbClr val="0F766E"/>
            </a:solidFill>
            <a:prstDash val="solid"/>
            <a:tailEnd type="triangle"/>
          </a:ln>
        </p:spPr>
      </p:sp>
      <p:sp>
        <p:nvSpPr>
          <p:cNvPr id="12" name="step-4"/>
          <p:cNvSpPr/>
          <p:nvPr/>
        </p:nvSpPr>
        <p:spPr>
          <a:xfrm>
            <a:off x="7404354" y="1783080"/>
            <a:ext cx="1828800" cy="2743200"/>
          </a:xfrm>
          <a:prstGeom prst="roundRect">
            <a:avLst>
              <a:gd name="adj" fmla="val 6000"/>
            </a:avLst>
          </a:prstGeom>
          <a:solidFill>
            <a:srgbClr val="F8E6C8"/>
          </a:solidFill>
          <a:ln/>
        </p:spPr>
      </p:sp>
      <p:sp>
        <p:nvSpPr>
          <p:cNvPr id="13" name="Text 11"/>
          <p:cNvSpPr txBox="1"/>
          <p:nvPr/>
        </p:nvSpPr>
        <p:spPr>
          <a:xfrm>
            <a:off x="7568946" y="1965960"/>
            <a:ext cx="1499616" cy="2423160"/>
          </a:xfrm>
          <a:prstGeom prst="rect">
            <a:avLst/>
          </a:prstGeom>
          <a:noFill/>
          <a:ln/>
        </p:spPr>
        <p:txBody>
          <a:bodyPr wrap="square" lIns="0" tIns="0" rIns="0" bIns="0" rtlCol="0" anchor="t"/>
          <a:lstStyle/>
          <a:p>
            <a:pPr algn="l" indent="0" marL="0">
              <a:spcAft>
                <a:spcPts val="600"/>
              </a:spcAft>
              <a:buNone/>
            </a:pPr>
            <a:r>
              <a:rPr lang="en-US" sz="1300" b="1" dirty="0">
                <a:solidFill>
                  <a:srgbClr val="B45309"/>
                </a:solidFill>
              </a:rPr>
              <a:t>STEP 4</a:t>
            </a:r>
            <a:endParaRPr lang="en-US" sz="1300" dirty="0"/>
          </a:p>
          <a:p>
            <a:pPr algn="l" indent="0" marL="0">
              <a:spcAft>
                <a:spcPts val="800"/>
              </a:spcAft>
              <a:buNone/>
            </a:pPr>
            <a:r>
              <a:rPr lang="en-US" sz="2200" b="1" dirty="0">
                <a:solidFill>
                  <a:srgbClr val="0F1A2B"/>
                </a:solidFill>
              </a:rPr>
              <a:t>Model</a:t>
            </a:r>
            <a:endParaRPr lang="en-US" sz="1300" dirty="0"/>
          </a:p>
          <a:p>
            <a:pPr algn="l" indent="0" marL="0">
              <a:buNone/>
            </a:pPr>
            <a:r>
              <a:rPr lang="en-US" sz="1600" dirty="0">
                <a:solidFill>
                  <a:srgbClr val="4A5568"/>
                </a:solidFill>
              </a:rPr>
              <a:t>Transformer for words, MLP for letters</a:t>
            </a:r>
            <a:endParaRPr lang="en-US" sz="1300" dirty="0"/>
          </a:p>
        </p:txBody>
      </p:sp>
      <p:sp>
        <p:nvSpPr>
          <p:cNvPr id="14" name="Shape 12"/>
          <p:cNvSpPr/>
          <p:nvPr/>
        </p:nvSpPr>
        <p:spPr>
          <a:xfrm>
            <a:off x="9288018" y="3154680"/>
            <a:ext cx="285750" cy="0"/>
          </a:xfrm>
          <a:prstGeom prst="line">
            <a:avLst/>
          </a:prstGeom>
          <a:noFill/>
          <a:ln w="28575">
            <a:solidFill>
              <a:srgbClr val="0F766E"/>
            </a:solidFill>
            <a:prstDash val="solid"/>
            <a:tailEnd type="triangle"/>
          </a:ln>
        </p:spPr>
      </p:sp>
      <p:sp>
        <p:nvSpPr>
          <p:cNvPr id="15" name="step-5"/>
          <p:cNvSpPr/>
          <p:nvPr/>
        </p:nvSpPr>
        <p:spPr>
          <a:xfrm>
            <a:off x="9628632" y="1783080"/>
            <a:ext cx="1828800" cy="2743200"/>
          </a:xfrm>
          <a:prstGeom prst="roundRect">
            <a:avLst>
              <a:gd name="adj" fmla="val 6000"/>
            </a:avLst>
          </a:prstGeom>
          <a:solidFill>
            <a:srgbClr val="DCEEEB"/>
          </a:solidFill>
          <a:ln/>
        </p:spPr>
      </p:sp>
      <p:sp>
        <p:nvSpPr>
          <p:cNvPr id="16" name="Text 14"/>
          <p:cNvSpPr txBox="1"/>
          <p:nvPr/>
        </p:nvSpPr>
        <p:spPr>
          <a:xfrm>
            <a:off x="9793224" y="1965960"/>
            <a:ext cx="1499616" cy="2423160"/>
          </a:xfrm>
          <a:prstGeom prst="rect">
            <a:avLst/>
          </a:prstGeom>
          <a:noFill/>
          <a:ln/>
        </p:spPr>
        <p:txBody>
          <a:bodyPr wrap="square" lIns="0" tIns="0" rIns="0" bIns="0" rtlCol="0" anchor="t"/>
          <a:lstStyle/>
          <a:p>
            <a:pPr algn="l" indent="0" marL="0">
              <a:spcAft>
                <a:spcPts val="600"/>
              </a:spcAft>
              <a:buNone/>
            </a:pPr>
            <a:r>
              <a:rPr lang="en-US" sz="1300" b="1" dirty="0">
                <a:solidFill>
                  <a:srgbClr val="0F766E"/>
                </a:solidFill>
              </a:rPr>
              <a:t>STEP 5</a:t>
            </a:r>
            <a:endParaRPr lang="en-US" sz="1300" dirty="0"/>
          </a:p>
          <a:p>
            <a:pPr algn="l" indent="0" marL="0">
              <a:spcAft>
                <a:spcPts val="800"/>
              </a:spcAft>
              <a:buNone/>
            </a:pPr>
            <a:r>
              <a:rPr lang="en-US" sz="2200" b="1" dirty="0">
                <a:solidFill>
                  <a:srgbClr val="0F1A2B"/>
                </a:solidFill>
              </a:rPr>
              <a:t>Result</a:t>
            </a:r>
            <a:endParaRPr lang="en-US" sz="1300" dirty="0"/>
          </a:p>
          <a:p>
            <a:pPr algn="l" indent="0" marL="0">
              <a:buNone/>
            </a:pPr>
            <a:r>
              <a:rPr lang="en-US" sz="1600" dirty="0">
                <a:solidFill>
                  <a:srgbClr val="4A5568"/>
                </a:solidFill>
              </a:rPr>
              <a:t>The predicted word or letter, with its confidence</a:t>
            </a:r>
            <a:endParaRPr lang="en-US" sz="1300" dirty="0"/>
          </a:p>
        </p:txBody>
      </p:sp>
      <p:sp>
        <p:nvSpPr>
          <p:cNvPr id="17" name="Text 15"/>
          <p:cNvSpPr txBox="1"/>
          <p:nvPr/>
        </p:nvSpPr>
        <p:spPr>
          <a:xfrm>
            <a:off x="731520" y="5074920"/>
            <a:ext cx="10725912" cy="640080"/>
          </a:xfrm>
          <a:prstGeom prst="rect">
            <a:avLst/>
          </a:prstGeom>
          <a:noFill/>
          <a:ln/>
        </p:spPr>
        <p:txBody>
          <a:bodyPr wrap="square" lIns="0" tIns="0" rIns="0" bIns="0" rtlCol="0" anchor="t"/>
          <a:lstStyle/>
          <a:p>
            <a:pPr algn="l" indent="0" marL="0">
              <a:buNone/>
            </a:pPr>
            <a:r>
              <a:rPr lang="en-US" sz="2000" b="1" dirty="0">
                <a:solidFill>
                  <a:srgbClr val="0F1A2B"/>
                </a:solidFill>
              </a:rPr>
              <a:t>After MediaPipe, everything is numbers instead of pixels: small, fast and CPU-friendly.</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725912" cy="822960"/>
          </a:xfrm>
          <a:prstGeom prst="rect">
            <a:avLst/>
          </a:prstGeom>
          <a:noFill/>
          <a:ln/>
        </p:spPr>
        <p:txBody>
          <a:bodyPr wrap="square" lIns="0" tIns="0" rIns="0" bIns="0" rtlCol="0" anchor="ctr"/>
          <a:lstStyle/>
          <a:p>
            <a:pPr algn="l" indent="0" marL="0">
              <a:buNone/>
            </a:pPr>
            <a:r>
              <a:rPr lang="en-US" sz="3600" b="1" dirty="0">
                <a:solidFill>
                  <a:srgbClr val="F4F6F8"/>
                </a:solidFill>
              </a:rPr>
              <a:t>MediaPipe: 67 points per frame</a:t>
            </a:r>
            <a:endParaRPr lang="en-US" sz="3600" dirty="0"/>
          </a:p>
        </p:txBody>
      </p:sp>
      <p:sp>
        <p:nvSpPr>
          <p:cNvPr id="3" name="kp-1"/>
          <p:cNvSpPr/>
          <p:nvPr/>
        </p:nvSpPr>
        <p:spPr>
          <a:xfrm>
            <a:off x="731520" y="1691640"/>
            <a:ext cx="3383280" cy="2743200"/>
          </a:xfrm>
          <a:prstGeom prst="roundRect">
            <a:avLst>
              <a:gd name="adj" fmla="val 4000"/>
            </a:avLst>
          </a:prstGeom>
          <a:solidFill>
            <a:srgbClr val="1B2A41"/>
          </a:solidFill>
          <a:ln/>
        </p:spPr>
      </p:sp>
      <p:sp>
        <p:nvSpPr>
          <p:cNvPr id="4" name="Text 2"/>
          <p:cNvSpPr txBox="1"/>
          <p:nvPr/>
        </p:nvSpPr>
        <p:spPr>
          <a:xfrm>
            <a:off x="1005840" y="1828800"/>
            <a:ext cx="2834640" cy="2468880"/>
          </a:xfrm>
          <a:prstGeom prst="rect">
            <a:avLst/>
          </a:prstGeom>
          <a:noFill/>
          <a:ln/>
        </p:spPr>
        <p:txBody>
          <a:bodyPr wrap="square" lIns="0" tIns="0" rIns="0" bIns="0" rtlCol="0" anchor="t"/>
          <a:lstStyle/>
          <a:p>
            <a:pPr algn="l" indent="0" marL="0">
              <a:buNone/>
            </a:pPr>
            <a:r>
              <a:rPr lang="en-US" sz="6600" b="1" dirty="0">
                <a:solidFill>
                  <a:srgbClr val="F2A93B"/>
                </a:solidFill>
              </a:rPr>
              <a:t>25</a:t>
            </a:r>
            <a:endParaRPr lang="en-US" sz="6600" dirty="0"/>
          </a:p>
          <a:p>
            <a:pPr algn="l" indent="0" marL="0">
              <a:spcAft>
                <a:spcPts val="600"/>
              </a:spcAft>
              <a:buNone/>
            </a:pPr>
            <a:r>
              <a:rPr lang="en-US" sz="2200" b="1" dirty="0">
                <a:solidFill>
                  <a:srgbClr val="F4F6F8"/>
                </a:solidFill>
              </a:rPr>
              <a:t>Pose points</a:t>
            </a:r>
            <a:endParaRPr lang="en-US" sz="6600" dirty="0"/>
          </a:p>
          <a:p>
            <a:pPr algn="l" indent="0" marL="0">
              <a:buNone/>
            </a:pPr>
            <a:r>
              <a:rPr lang="en-US" sz="1600" dirty="0">
                <a:solidFill>
                  <a:srgbClr val="B8C4D6"/>
                </a:solidFill>
              </a:rPr>
              <a:t>Face outline, shoulders, arms and hips</a:t>
            </a:r>
            <a:endParaRPr lang="en-US" sz="6600" dirty="0"/>
          </a:p>
        </p:txBody>
      </p:sp>
      <p:sp>
        <p:nvSpPr>
          <p:cNvPr id="5" name="kp-2"/>
          <p:cNvSpPr/>
          <p:nvPr/>
        </p:nvSpPr>
        <p:spPr>
          <a:xfrm>
            <a:off x="4402836" y="1691640"/>
            <a:ext cx="3383280" cy="2743200"/>
          </a:xfrm>
          <a:prstGeom prst="roundRect">
            <a:avLst>
              <a:gd name="adj" fmla="val 4000"/>
            </a:avLst>
          </a:prstGeom>
          <a:solidFill>
            <a:srgbClr val="1B2A41"/>
          </a:solidFill>
          <a:ln/>
        </p:spPr>
      </p:sp>
      <p:sp>
        <p:nvSpPr>
          <p:cNvPr id="6" name="Text 4"/>
          <p:cNvSpPr txBox="1"/>
          <p:nvPr/>
        </p:nvSpPr>
        <p:spPr>
          <a:xfrm>
            <a:off x="4677156" y="1828800"/>
            <a:ext cx="2834640" cy="2468880"/>
          </a:xfrm>
          <a:prstGeom prst="rect">
            <a:avLst/>
          </a:prstGeom>
          <a:noFill/>
          <a:ln/>
        </p:spPr>
        <p:txBody>
          <a:bodyPr wrap="square" lIns="0" tIns="0" rIns="0" bIns="0" rtlCol="0" anchor="t"/>
          <a:lstStyle/>
          <a:p>
            <a:pPr algn="l" indent="0" marL="0">
              <a:buNone/>
            </a:pPr>
            <a:r>
              <a:rPr lang="en-US" sz="6600" b="1" dirty="0">
                <a:solidFill>
                  <a:srgbClr val="2BB5A5"/>
                </a:solidFill>
              </a:rPr>
              <a:t>21</a:t>
            </a:r>
            <a:endParaRPr lang="en-US" sz="6600" dirty="0"/>
          </a:p>
          <a:p>
            <a:pPr algn="l" indent="0" marL="0">
              <a:spcAft>
                <a:spcPts val="600"/>
              </a:spcAft>
              <a:buNone/>
            </a:pPr>
            <a:r>
              <a:rPr lang="en-US" sz="2200" b="1" dirty="0">
                <a:solidFill>
                  <a:srgbClr val="F4F6F8"/>
                </a:solidFill>
              </a:rPr>
              <a:t>Left-hand points</a:t>
            </a:r>
            <a:endParaRPr lang="en-US" sz="6600" dirty="0"/>
          </a:p>
          <a:p>
            <a:pPr algn="l" indent="0" marL="0">
              <a:buNone/>
            </a:pPr>
            <a:r>
              <a:rPr lang="en-US" sz="1600" dirty="0">
                <a:solidFill>
                  <a:srgbClr val="B8C4D6"/>
                </a:solidFill>
              </a:rPr>
              <a:t>Wrist, knuckles and fingertips</a:t>
            </a:r>
            <a:endParaRPr lang="en-US" sz="6600" dirty="0"/>
          </a:p>
        </p:txBody>
      </p:sp>
      <p:sp>
        <p:nvSpPr>
          <p:cNvPr id="7" name="kp-3"/>
          <p:cNvSpPr/>
          <p:nvPr/>
        </p:nvSpPr>
        <p:spPr>
          <a:xfrm>
            <a:off x="8074152" y="1691640"/>
            <a:ext cx="3383280" cy="2743200"/>
          </a:xfrm>
          <a:prstGeom prst="roundRect">
            <a:avLst>
              <a:gd name="adj" fmla="val 4000"/>
            </a:avLst>
          </a:prstGeom>
          <a:solidFill>
            <a:srgbClr val="1B2A41"/>
          </a:solidFill>
          <a:ln/>
        </p:spPr>
      </p:sp>
      <p:sp>
        <p:nvSpPr>
          <p:cNvPr id="8" name="Text 6"/>
          <p:cNvSpPr txBox="1"/>
          <p:nvPr/>
        </p:nvSpPr>
        <p:spPr>
          <a:xfrm>
            <a:off x="8348472" y="1828800"/>
            <a:ext cx="2834640" cy="2468880"/>
          </a:xfrm>
          <a:prstGeom prst="rect">
            <a:avLst/>
          </a:prstGeom>
          <a:noFill/>
          <a:ln/>
        </p:spPr>
        <p:txBody>
          <a:bodyPr wrap="square" lIns="0" tIns="0" rIns="0" bIns="0" rtlCol="0" anchor="t"/>
          <a:lstStyle/>
          <a:p>
            <a:pPr algn="l" indent="0" marL="0">
              <a:buNone/>
            </a:pPr>
            <a:r>
              <a:rPr lang="en-US" sz="6600" b="1" dirty="0">
                <a:solidFill>
                  <a:srgbClr val="2BB5A5"/>
                </a:solidFill>
              </a:rPr>
              <a:t>21</a:t>
            </a:r>
            <a:endParaRPr lang="en-US" sz="6600" dirty="0"/>
          </a:p>
          <a:p>
            <a:pPr algn="l" indent="0" marL="0">
              <a:spcAft>
                <a:spcPts val="600"/>
              </a:spcAft>
              <a:buNone/>
            </a:pPr>
            <a:r>
              <a:rPr lang="en-US" sz="2200" b="1" dirty="0">
                <a:solidFill>
                  <a:srgbClr val="F4F6F8"/>
                </a:solidFill>
              </a:rPr>
              <a:t>Right-hand points</a:t>
            </a:r>
            <a:endParaRPr lang="en-US" sz="6600" dirty="0"/>
          </a:p>
          <a:p>
            <a:pPr algn="l" indent="0" marL="0">
              <a:buNone/>
            </a:pPr>
            <a:r>
              <a:rPr lang="en-US" sz="1600" dirty="0">
                <a:solidFill>
                  <a:srgbClr val="B8C4D6"/>
                </a:solidFill>
              </a:rPr>
              <a:t>The same layout for the right hand</a:t>
            </a:r>
            <a:endParaRPr lang="en-US" sz="6600" dirty="0"/>
          </a:p>
        </p:txBody>
      </p:sp>
      <p:sp>
        <p:nvSpPr>
          <p:cNvPr id="9" name="Text 7"/>
          <p:cNvSpPr txBox="1"/>
          <p:nvPr/>
        </p:nvSpPr>
        <p:spPr>
          <a:xfrm>
            <a:off x="731520" y="4754880"/>
            <a:ext cx="10725912" cy="731520"/>
          </a:xfrm>
          <a:prstGeom prst="rect">
            <a:avLst/>
          </a:prstGeom>
          <a:noFill/>
          <a:ln/>
        </p:spPr>
        <p:txBody>
          <a:bodyPr wrap="square" lIns="0" tIns="0" rIns="0" bIns="0" rtlCol="0" anchor="t"/>
          <a:lstStyle/>
          <a:p>
            <a:pPr algn="l" indent="0" marL="0">
              <a:buNone/>
            </a:pPr>
            <a:r>
              <a:rPr lang="en-US" sz="2000" b="1" dirty="0">
                <a:solidFill>
                  <a:srgbClr val="F4F6F8"/>
                </a:solidFill>
              </a:rPr>
              <a:t>25 + 21 + 21 = 67 points per frame, each with an x and a y. A point that is not detected stays empty.</a:t>
            </a:r>
            <a:endParaRPr lang="en-US" sz="2000" dirty="0"/>
          </a:p>
        </p:txBody>
      </p:sp>
      <p:sp>
        <p:nvSpPr>
          <p:cNvPr id="10" name="Text 8"/>
          <p:cNvSpPr txBox="1"/>
          <p:nvPr/>
        </p:nvSpPr>
        <p:spPr>
          <a:xfrm>
            <a:off x="731520" y="5669280"/>
            <a:ext cx="10725912" cy="457200"/>
          </a:xfrm>
          <a:prstGeom prst="rect">
            <a:avLst/>
          </a:prstGeom>
          <a:noFill/>
          <a:ln/>
        </p:spPr>
        <p:txBody>
          <a:bodyPr wrap="square" lIns="0" tIns="0" rIns="0" bIns="0" rtlCol="0" anchor="t"/>
          <a:lstStyle/>
          <a:p>
            <a:pPr algn="l" indent="0" marL="0">
              <a:buNone/>
            </a:pPr>
            <a:r>
              <a:rPr lang="en-US" sz="1500" dirty="0">
                <a:solidFill>
                  <a:srgbClr val="B8C4D6"/>
                </a:solidFill>
              </a:rPr>
              <a:t>MediaPipe is Google’s pretrained detector. We use it as it is; we did not train it.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725912" cy="822960"/>
          </a:xfrm>
          <a:prstGeom prst="rect">
            <a:avLst/>
          </a:prstGeom>
          <a:noFill/>
          <a:ln/>
        </p:spPr>
        <p:txBody>
          <a:bodyPr wrap="square" lIns="0" tIns="0" rIns="0" bIns="0" rtlCol="0" anchor="ctr"/>
          <a:lstStyle/>
          <a:p>
            <a:pPr algn="l" indent="0" marL="0">
              <a:buNone/>
            </a:pPr>
            <a:r>
              <a:rPr lang="en-US" sz="3600" b="1" dirty="0">
                <a:solidFill>
                  <a:srgbClr val="0F1A2B"/>
                </a:solidFill>
              </a:rPr>
              <a:t>Every sign becomes a 32 × 270 table</a:t>
            </a:r>
            <a:endParaRPr lang="en-US" sz="3600" dirty="0"/>
          </a:p>
        </p:txBody>
      </p:sp>
      <p:sp>
        <p:nvSpPr>
          <p:cNvPr id="3" name="Text 1"/>
          <p:cNvSpPr txBox="1"/>
          <p:nvPr/>
        </p:nvSpPr>
        <p:spPr>
          <a:xfrm>
            <a:off x="731520" y="1737360"/>
            <a:ext cx="5029200" cy="3200400"/>
          </a:xfrm>
          <a:prstGeom prst="rect">
            <a:avLst/>
          </a:prstGeom>
          <a:noFill/>
          <a:ln/>
        </p:spPr>
        <p:txBody>
          <a:bodyPr wrap="square" lIns="0" tIns="0" rIns="0" bIns="0" rtlCol="0" anchor="t"/>
          <a:lstStyle/>
          <a:p>
            <a:pPr algn="l" marL="342900" indent="-342900">
              <a:spcAft>
                <a:spcPts val="1400"/>
              </a:spcAft>
              <a:buSzPct val="100000"/>
              <a:buFont typeface="+mj-lt"/>
              <a:buAutoNum type="arabicPeriod" startAt="1"/>
            </a:pPr>
            <a:r>
              <a:rPr lang="en-US" sz="2000" dirty="0">
                <a:solidFill>
                  <a:srgbClr val="0F1A2B"/>
                </a:solidFill>
              </a:rPr>
              <a:t>Trim the clip to the frames where a hand is visible</a:t>
            </a:r>
            <a:endParaRPr lang="en-US" sz="2000" dirty="0"/>
          </a:p>
          <a:p>
            <a:pPr algn="l" marL="342900" indent="-342900">
              <a:spcAft>
                <a:spcPts val="1400"/>
              </a:spcAft>
              <a:buSzPct val="100000"/>
              <a:buFont typeface="+mj-lt"/>
              <a:buAutoNum type="arabicPeriod" startAt="1"/>
            </a:pPr>
            <a:r>
              <a:rPr lang="en-US" sz="2000" dirty="0">
                <a:solidFill>
                  <a:srgbClr val="0F1A2B"/>
                </a:solidFill>
              </a:rPr>
              <a:t>Resample it to exactly 32 frames</a:t>
            </a:r>
            <a:endParaRPr lang="en-US" sz="2000" dirty="0"/>
          </a:p>
          <a:p>
            <a:pPr algn="l" marL="342900" indent="-342900">
              <a:spcAft>
                <a:spcPts val="1400"/>
              </a:spcAft>
              <a:buSzPct val="100000"/>
              <a:buFont typeface="+mj-lt"/>
              <a:buAutoNum type="arabicPeriod" startAt="1"/>
            </a:pPr>
            <a:r>
              <a:rPr lang="en-US" sz="2000" dirty="0">
                <a:solidFill>
                  <a:srgbClr val="0F1A2B"/>
                </a:solidFill>
              </a:rPr>
              <a:t>Centre on the shoulders and scale by shoulder width</a:t>
            </a:r>
            <a:endParaRPr lang="en-US" sz="2000" dirty="0"/>
          </a:p>
          <a:p>
            <a:pPr algn="l" marL="342900" indent="-342900">
              <a:spcAft>
                <a:spcPts val="1400"/>
              </a:spcAft>
              <a:buSzPct val="100000"/>
              <a:buFont typeface="+mj-lt"/>
              <a:buAutoNum type="arabicPeriod" startAt="1"/>
            </a:pPr>
            <a:r>
              <a:rPr lang="en-US" sz="2000" dirty="0">
                <a:solidFill>
                  <a:srgbClr val="0F1A2B"/>
                </a:solidFill>
              </a:rPr>
              <a:t>Add motion and hand-present flags</a:t>
            </a:r>
            <a:endParaRPr lang="en-US" sz="2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309360" y="1737360"/>
          <a:ext cx="5148072" cy="914400"/>
        </p:xfrm>
        <a:graphic>
          <a:graphicData uri="http://schemas.openxmlformats.org/drawingml/2006/table">
            <a:tbl>
              <a:tblPr/>
              <a:tblGrid>
                <a:gridCol w="3657600"/>
                <a:gridCol w="1490472"/>
              </a:tblGrid>
              <a:tr h="457200">
                <a:tc>
                  <a:txBody>
                    <a:bodyPr/>
                    <a:lstStyle/>
                    <a:p>
                      <a:pPr indent="0" marL="0">
                        <a:buNone/>
                      </a:pPr>
                      <a:r>
                        <a:rPr lang="en-US" sz="1600" b="1" dirty="0">
                          <a:solidFill>
                            <a:srgbClr val="FFFFFF"/>
                          </a:solidFill>
                        </a:rPr>
                        <a:t>Part of each frame</a:t>
                      </a:r>
                      <a:endParaRPr lang="en-US" sz="1600" dirty="0"/>
                    </a:p>
                  </a:txBody>
                  <a:tcPr marL="109728" marR="109728"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0F1A2B"/>
                    </a:solidFill>
                  </a:tcPr>
                </a:tc>
                <a:tc>
                  <a:txBody>
                    <a:bodyPr/>
                    <a:lstStyle/>
                    <a:p>
                      <a:pPr indent="0" marL="0">
                        <a:buNone/>
                      </a:pPr>
                      <a:r>
                        <a:rPr lang="en-US" sz="1600" b="1" dirty="0">
                          <a:solidFill>
                            <a:srgbClr val="FFFFFF"/>
                          </a:solidFill>
                        </a:rPr>
                        <a:t>Numbers</a:t>
                      </a:r>
                      <a:endParaRPr lang="en-US" sz="1600" dirty="0"/>
                    </a:p>
                  </a:txBody>
                  <a:tcPr marL="109728" marR="109728"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0F1A2B"/>
                    </a:solidFill>
                  </a:tcPr>
                </a:tc>
              </a:tr>
              <a:tr h="594360">
                <a:tc>
                  <a:txBody>
                    <a:bodyPr/>
                    <a:lstStyle/>
                    <a:p>
                      <a:pPr indent="0" marL="0">
                        <a:buNone/>
                      </a:pPr>
                      <a:r>
                        <a:rPr lang="en-US" sz="1600" dirty="0">
                          <a:solidFill>
                            <a:srgbClr val="0F1A2B"/>
                          </a:solidFill>
                        </a:rPr>
                        <a:t>Positions: 67 points × (x, y)</a:t>
                      </a:r>
                      <a:endParaRPr lang="en-US" sz="1600" dirty="0"/>
                    </a:p>
                  </a:txBody>
                  <a:tcPr marL="109728" marR="109728"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600" dirty="0">
                          <a:solidFill>
                            <a:srgbClr val="0F1A2B"/>
                          </a:solidFill>
                        </a:rPr>
                        <a:t>134</a:t>
                      </a:r>
                      <a:endParaRPr lang="en-US" sz="1600" dirty="0"/>
                    </a:p>
                  </a:txBody>
                  <a:tcPr marL="109728" marR="109728"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594360">
                <a:tc>
                  <a:txBody>
                    <a:bodyPr/>
                    <a:lstStyle/>
                    <a:p>
                      <a:pPr indent="0" marL="0">
                        <a:buNone/>
                      </a:pPr>
                      <a:r>
                        <a:rPr lang="en-US" sz="1600" dirty="0">
                          <a:solidFill>
                            <a:srgbClr val="0F1A2B"/>
                          </a:solidFill>
                        </a:rPr>
                        <a:t>Motion: change since the last frame</a:t>
                      </a:r>
                      <a:endParaRPr lang="en-US" sz="1600" dirty="0"/>
                    </a:p>
                  </a:txBody>
                  <a:tcPr marL="109728" marR="109728"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600" dirty="0">
                          <a:solidFill>
                            <a:srgbClr val="0F1A2B"/>
                          </a:solidFill>
                        </a:rPr>
                        <a:t>134</a:t>
                      </a:r>
                      <a:endParaRPr lang="en-US" sz="1600" dirty="0"/>
                    </a:p>
                  </a:txBody>
                  <a:tcPr marL="109728" marR="109728"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594360">
                <a:tc>
                  <a:txBody>
                    <a:bodyPr/>
                    <a:lstStyle/>
                    <a:p>
                      <a:pPr indent="0" marL="0">
                        <a:buNone/>
                      </a:pPr>
                      <a:r>
                        <a:rPr lang="en-US" sz="1600" dirty="0">
                          <a:solidFill>
                            <a:srgbClr val="0F1A2B"/>
                          </a:solidFill>
                        </a:rPr>
                        <a:t>Hand-present flags (left, right)</a:t>
                      </a:r>
                      <a:endParaRPr lang="en-US" sz="1600" dirty="0"/>
                    </a:p>
                  </a:txBody>
                  <a:tcPr marL="109728" marR="109728"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600" dirty="0">
                          <a:solidFill>
                            <a:srgbClr val="0F1A2B"/>
                          </a:solidFill>
                        </a:rPr>
                        <a:t>2</a:t>
                      </a:r>
                      <a:endParaRPr lang="en-US" sz="1600" dirty="0"/>
                    </a:p>
                  </a:txBody>
                  <a:tcPr marL="109728" marR="109728"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502920">
                <a:tc>
                  <a:txBody>
                    <a:bodyPr/>
                    <a:lstStyle/>
                    <a:p>
                      <a:pPr indent="0" marL="0">
                        <a:buNone/>
                      </a:pPr>
                      <a:r>
                        <a:rPr lang="en-US" sz="1600" b="1" dirty="0">
                          <a:solidFill>
                            <a:srgbClr val="0F1A2B"/>
                          </a:solidFill>
                        </a:rPr>
                        <a:t>Total per frame</a:t>
                      </a:r>
                      <a:endParaRPr lang="en-US" sz="1600" dirty="0"/>
                    </a:p>
                  </a:txBody>
                  <a:tcPr marL="109728" marR="109728"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600" b="1" dirty="0">
                          <a:solidFill>
                            <a:srgbClr val="0F1A2B"/>
                          </a:solidFill>
                        </a:rPr>
                        <a:t>270</a:t>
                      </a:r>
                      <a:endParaRPr lang="en-US" sz="1600" dirty="0"/>
                    </a:p>
                  </a:txBody>
                  <a:tcPr marL="109728" marR="109728"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731520" y="5394960"/>
            <a:ext cx="10725912" cy="640080"/>
          </a:xfrm>
          <a:prstGeom prst="rect">
            <a:avLst/>
          </a:prstGeom>
          <a:noFill/>
          <a:ln/>
        </p:spPr>
        <p:txBody>
          <a:bodyPr wrap="square" lIns="0" tIns="0" rIns="0" bIns="0" rtlCol="0" anchor="t"/>
          <a:lstStyle/>
          <a:p>
            <a:pPr algn="l" indent="0" marL="0">
              <a:buNone/>
            </a:pPr>
            <a:r>
              <a:rPr lang="en-US" sz="2000" b="1" dirty="0">
                <a:solidFill>
                  <a:srgbClr val="0F1A2B"/>
                </a:solidFill>
              </a:rPr>
              <a:t>32 frames × 270 numbers: the same size for every sign, however long it took.</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725912" cy="822960"/>
          </a:xfrm>
          <a:prstGeom prst="rect">
            <a:avLst/>
          </a:prstGeom>
          <a:noFill/>
          <a:ln/>
        </p:spPr>
        <p:txBody>
          <a:bodyPr wrap="square" lIns="0" tIns="0" rIns="0" bIns="0" rtlCol="0" anchor="ctr"/>
          <a:lstStyle/>
          <a:p>
            <a:pPr algn="l" indent="0" marL="0">
              <a:buNone/>
            </a:pPr>
            <a:r>
              <a:rPr lang="en-US" sz="3600" b="1" dirty="0">
                <a:solidFill>
                  <a:srgbClr val="0F1A2B"/>
                </a:solidFill>
              </a:rPr>
              <a:t>Two models for two jobs</a:t>
            </a:r>
            <a:endParaRPr lang="en-US" sz="3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31520" y="1645920"/>
          <a:ext cx="10725912" cy="914400"/>
        </p:xfrm>
        <a:graphic>
          <a:graphicData uri="http://schemas.openxmlformats.org/drawingml/2006/table">
            <a:tbl>
              <a:tblPr/>
              <a:tblGrid>
                <a:gridCol w="1645920"/>
                <a:gridCol w="4572000"/>
                <a:gridCol w="4507992"/>
              </a:tblGrid>
              <a:tr h="457200">
                <a:tc>
                  <a:txBody>
                    <a:bodyPr/>
                    <a:lstStyle/>
                    <a:p>
                      <a:pPr indent="0" marL="0">
                        <a:buNone/>
                      </a:pPr>
                      <a:r>
                        <a:rPr lang="en-US" sz="1600" b="1" dirty="0">
                          <a:solidFill>
                            <a:srgbClr val="FFFFFF"/>
                          </a:solidFill>
                        </a:rPr>
                        <a:t>Compared</a:t>
                      </a:r>
                      <a:endParaRPr lang="en-US" sz="1600" dirty="0"/>
                    </a:p>
                  </a:txBody>
                  <a:tcPr marL="109728" marR="109728"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0F1A2B"/>
                    </a:solidFill>
                  </a:tcPr>
                </a:tc>
                <a:tc>
                  <a:txBody>
                    <a:bodyPr/>
                    <a:lstStyle/>
                    <a:p>
                      <a:pPr indent="0" marL="0">
                        <a:buNone/>
                      </a:pPr>
                      <a:r>
                        <a:rPr lang="en-US" sz="1600" b="1" dirty="0">
                          <a:solidFill>
                            <a:srgbClr val="FFFFFF"/>
                          </a:solidFill>
                        </a:rPr>
                        <a:t>Letters</a:t>
                      </a:r>
                      <a:endParaRPr lang="en-US" sz="1600" dirty="0"/>
                    </a:p>
                  </a:txBody>
                  <a:tcPr marL="109728" marR="109728"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0F1A2B"/>
                    </a:solidFill>
                  </a:tcPr>
                </a:tc>
                <a:tc>
                  <a:txBody>
                    <a:bodyPr/>
                    <a:lstStyle/>
                    <a:p>
                      <a:pPr indent="0" marL="0">
                        <a:buNone/>
                      </a:pPr>
                      <a:r>
                        <a:rPr lang="en-US" sz="1600" b="1" dirty="0">
                          <a:solidFill>
                            <a:srgbClr val="FFFFFF"/>
                          </a:solidFill>
                        </a:rPr>
                        <a:t>Words</a:t>
                      </a:r>
                      <a:endParaRPr lang="en-US" sz="1600" dirty="0"/>
                    </a:p>
                  </a:txBody>
                  <a:tcPr marL="109728" marR="109728"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0F1A2B"/>
                    </a:solidFill>
                  </a:tcPr>
                </a:tc>
              </a:tr>
              <a:tr h="822960">
                <a:tc>
                  <a:txBody>
                    <a:bodyPr/>
                    <a:lstStyle/>
                    <a:p>
                      <a:pPr indent="0" marL="0">
                        <a:buNone/>
                      </a:pPr>
                      <a:r>
                        <a:rPr lang="en-US" sz="1600" b="1" dirty="0">
                          <a:solidFill>
                            <a:srgbClr val="0F1A2B"/>
                          </a:solidFill>
                        </a:rPr>
                        <a:t>Input</a:t>
                      </a:r>
                      <a:endParaRPr lang="en-US" sz="1600" dirty="0"/>
                    </a:p>
                  </a:txBody>
                  <a:tcPr marL="109728" marR="109728"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600" dirty="0">
                          <a:solidFill>
                            <a:srgbClr val="0F1A2B"/>
                          </a:solidFill>
                        </a:rPr>
                        <a:t>One image: 21 hand points (63 numbers; 129 for two-hand ISL)</a:t>
                      </a:r>
                      <a:endParaRPr lang="en-US" sz="1600" dirty="0"/>
                    </a:p>
                  </a:txBody>
                  <a:tcPr marL="109728" marR="109728"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600" dirty="0">
                          <a:solidFill>
                            <a:srgbClr val="0F1A2B"/>
                          </a:solidFill>
                        </a:rPr>
                        <a:t>One sign: 32 frames × 270 numbers</a:t>
                      </a:r>
                      <a:endParaRPr lang="en-US" sz="1600" dirty="0"/>
                    </a:p>
                  </a:txBody>
                  <a:tcPr marL="109728" marR="109728"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548640">
                <a:tc>
                  <a:txBody>
                    <a:bodyPr/>
                    <a:lstStyle/>
                    <a:p>
                      <a:pPr indent="0" marL="0">
                        <a:buNone/>
                      </a:pPr>
                      <a:r>
                        <a:rPr lang="en-US" sz="1600" b="1" dirty="0">
                          <a:solidFill>
                            <a:srgbClr val="0F1A2B"/>
                          </a:solidFill>
                        </a:rPr>
                        <a:t>Model</a:t>
                      </a:r>
                      <a:endParaRPr lang="en-US" sz="1600" dirty="0"/>
                    </a:p>
                  </a:txBody>
                  <a:tcPr marL="109728" marR="109728"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600" dirty="0">
                          <a:solidFill>
                            <a:srgbClr val="0F1A2B"/>
                          </a:solidFill>
                        </a:rPr>
                        <a:t>MLP neural network</a:t>
                      </a:r>
                      <a:endParaRPr lang="en-US" sz="1600" dirty="0"/>
                    </a:p>
                  </a:txBody>
                  <a:tcPr marL="109728" marR="109728"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600" dirty="0">
                          <a:solidFill>
                            <a:srgbClr val="0F1A2B"/>
                          </a:solidFill>
                        </a:rPr>
                        <a:t>Transformer encoder</a:t>
                      </a:r>
                      <a:endParaRPr lang="en-US" sz="1600" dirty="0"/>
                    </a:p>
                  </a:txBody>
                  <a:tcPr marL="109728" marR="109728"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822960">
                <a:tc>
                  <a:txBody>
                    <a:bodyPr/>
                    <a:lstStyle/>
                    <a:p>
                      <a:pPr indent="0" marL="0">
                        <a:buNone/>
                      </a:pPr>
                      <a:r>
                        <a:rPr lang="en-US" sz="1600" b="1" dirty="0">
                          <a:solidFill>
                            <a:srgbClr val="0F1A2B"/>
                          </a:solidFill>
                        </a:rPr>
                        <a:t>Inside</a:t>
                      </a:r>
                      <a:endParaRPr lang="en-US" sz="1600" dirty="0"/>
                    </a:p>
                  </a:txBody>
                  <a:tcPr marL="109728" marR="109728"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600" dirty="0">
                          <a:solidFill>
                            <a:srgbClr val="0F1A2B"/>
                          </a:solidFill>
                        </a:rPr>
                        <a:t>2 hidden layers: 256 and 128 units</a:t>
                      </a:r>
                      <a:endParaRPr lang="en-US" sz="1600" dirty="0"/>
                    </a:p>
                  </a:txBody>
                  <a:tcPr marL="109728" marR="109728"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600" dirty="0">
                          <a:solidFill>
                            <a:srgbClr val="0F1A2B"/>
                          </a:solidFill>
                        </a:rPr>
                        <a:t>3 attention layers, 4 heads, 128-number embeddings</a:t>
                      </a:r>
                      <a:endParaRPr lang="en-US" sz="1600" dirty="0"/>
                    </a:p>
                  </a:txBody>
                  <a:tcPr marL="109728" marR="109728"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548640">
                <a:tc>
                  <a:txBody>
                    <a:bodyPr/>
                    <a:lstStyle/>
                    <a:p>
                      <a:pPr indent="0" marL="0">
                        <a:buNone/>
                      </a:pPr>
                      <a:r>
                        <a:rPr lang="en-US" sz="1600" b="1" dirty="0">
                          <a:solidFill>
                            <a:srgbClr val="0F1A2B"/>
                          </a:solidFill>
                        </a:rPr>
                        <a:t>Output</a:t>
                      </a:r>
                      <a:endParaRPr lang="en-US" sz="1600" dirty="0"/>
                    </a:p>
                  </a:txBody>
                  <a:tcPr marL="109728" marR="109728"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600" dirty="0">
                          <a:solidFill>
                            <a:srgbClr val="0F1A2B"/>
                          </a:solidFill>
                        </a:rPr>
                        <a:t>One letter</a:t>
                      </a:r>
                      <a:endParaRPr lang="en-US" sz="1600" dirty="0"/>
                    </a:p>
                  </a:txBody>
                  <a:tcPr marL="109728" marR="109728"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600" dirty="0">
                          <a:solidFill>
                            <a:srgbClr val="0F1A2B"/>
                          </a:solidFill>
                        </a:rPr>
                        <a:t>One word</a:t>
                      </a:r>
                      <a:endParaRPr lang="en-US" sz="1600" dirty="0"/>
                    </a:p>
                  </a:txBody>
                  <a:tcPr marL="109728" marR="109728"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548640">
                <a:tc>
                  <a:txBody>
                    <a:bodyPr/>
                    <a:lstStyle/>
                    <a:p>
                      <a:pPr indent="0" marL="0">
                        <a:buNone/>
                      </a:pPr>
                      <a:r>
                        <a:rPr lang="en-US" sz="1600" b="1" dirty="0">
                          <a:solidFill>
                            <a:srgbClr val="0F1A2B"/>
                          </a:solidFill>
                        </a:rPr>
                        <a:t>Languages</a:t>
                      </a:r>
                      <a:endParaRPr lang="en-US" sz="1600" dirty="0"/>
                    </a:p>
                  </a:txBody>
                  <a:tcPr marL="109728" marR="109728"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600" dirty="0">
                          <a:solidFill>
                            <a:srgbClr val="0F1A2B"/>
                          </a:solidFill>
                        </a:rPr>
                        <a:t>ASL and ISL</a:t>
                      </a:r>
                      <a:endParaRPr lang="en-US" sz="1600" dirty="0"/>
                    </a:p>
                  </a:txBody>
                  <a:tcPr marL="109728" marR="109728"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600" dirty="0">
                          <a:solidFill>
                            <a:srgbClr val="0F1A2B"/>
                          </a:solidFill>
                        </a:rPr>
                        <a:t>ASL: 23 words · ISL: 51 words</a:t>
                      </a:r>
                      <a:endParaRPr lang="en-US" sz="1600" dirty="0"/>
                    </a:p>
                  </a:txBody>
                  <a:tcPr marL="109728" marR="109728"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731520" y="5623560"/>
            <a:ext cx="10725912" cy="548640"/>
          </a:xfrm>
          <a:prstGeom prst="rect">
            <a:avLst/>
          </a:prstGeom>
          <a:noFill/>
          <a:ln/>
        </p:spPr>
        <p:txBody>
          <a:bodyPr wrap="square" lIns="0" tIns="0" rIns="0" bIns="0" rtlCol="0" anchor="t"/>
          <a:lstStyle/>
          <a:p>
            <a:pPr algn="l" indent="0" marL="0">
              <a:buNone/>
            </a:pPr>
            <a:r>
              <a:rPr lang="en-US" sz="2000" b="1" dirty="0">
                <a:solidFill>
                  <a:srgbClr val="0F1A2B"/>
                </a:solidFill>
              </a:rPr>
              <a:t>Both read keypoints, never pixels. Only the words need a model that understands time.</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725912" cy="822960"/>
          </a:xfrm>
          <a:prstGeom prst="rect">
            <a:avLst/>
          </a:prstGeom>
          <a:noFill/>
          <a:ln/>
        </p:spPr>
        <p:txBody>
          <a:bodyPr wrap="square" lIns="0" tIns="0" rIns="0" bIns="0" rtlCol="0" anchor="ctr"/>
          <a:lstStyle/>
          <a:p>
            <a:pPr algn="l" indent="0" marL="0">
              <a:buNone/>
            </a:pPr>
            <a:r>
              <a:rPr lang="en-US" sz="3600" b="1" dirty="0">
                <a:solidFill>
                  <a:srgbClr val="0F1A2B"/>
                </a:solidFill>
              </a:rPr>
              <a:t>Letters: a small neural network (MLP)</a:t>
            </a:r>
            <a:endParaRPr lang="en-US" sz="3600" dirty="0"/>
          </a:p>
        </p:txBody>
      </p:sp>
      <p:sp>
        <p:nvSpPr>
          <p:cNvPr id="3" name="mlp-1"/>
          <p:cNvSpPr/>
          <p:nvPr/>
        </p:nvSpPr>
        <p:spPr>
          <a:xfrm>
            <a:off x="731520" y="1691640"/>
            <a:ext cx="1828800" cy="1463040"/>
          </a:xfrm>
          <a:prstGeom prst="roundRect">
            <a:avLst>
              <a:gd name="adj" fmla="val 7500"/>
            </a:avLst>
          </a:prstGeom>
          <a:solidFill>
            <a:srgbClr val="FFFFFF"/>
          </a:solidFill>
          <a:ln w="12700">
            <a:solidFill>
              <a:srgbClr val="D5DAE0"/>
            </a:solidFill>
            <a:prstDash val="solid"/>
          </a:ln>
        </p:spPr>
      </p:sp>
      <p:sp>
        <p:nvSpPr>
          <p:cNvPr id="4" name="Text 2"/>
          <p:cNvSpPr txBox="1"/>
          <p:nvPr/>
        </p:nvSpPr>
        <p:spPr>
          <a:xfrm>
            <a:off x="868680" y="1828800"/>
            <a:ext cx="1554480" cy="1234440"/>
          </a:xfrm>
          <a:prstGeom prst="rect">
            <a:avLst/>
          </a:prstGeom>
          <a:noFill/>
          <a:ln/>
        </p:spPr>
        <p:txBody>
          <a:bodyPr wrap="square" lIns="0" tIns="0" rIns="0" bIns="0" rtlCol="0" anchor="t"/>
          <a:lstStyle/>
          <a:p>
            <a:pPr algn="l" indent="0" marL="0">
              <a:spcAft>
                <a:spcPts val="400"/>
              </a:spcAft>
              <a:buNone/>
            </a:pPr>
            <a:r>
              <a:rPr lang="en-US" sz="1800" b="1" dirty="0">
                <a:solidFill>
                  <a:srgbClr val="0F1A2B"/>
                </a:solidFill>
              </a:rPr>
              <a:t>One image</a:t>
            </a:r>
            <a:endParaRPr lang="en-US" sz="1800" dirty="0"/>
          </a:p>
          <a:p>
            <a:pPr algn="l" indent="0" marL="0">
              <a:buNone/>
            </a:pPr>
            <a:r>
              <a:rPr lang="en-US" sz="1500" dirty="0">
                <a:solidFill>
                  <a:srgbClr val="4A5568"/>
                </a:solidFill>
              </a:rPr>
              <a:t>MediaPipe finds the hand</a:t>
            </a:r>
            <a:endParaRPr lang="en-US" sz="1800" dirty="0"/>
          </a:p>
        </p:txBody>
      </p:sp>
      <p:sp>
        <p:nvSpPr>
          <p:cNvPr id="5" name="Shape 3"/>
          <p:cNvSpPr/>
          <p:nvPr/>
        </p:nvSpPr>
        <p:spPr>
          <a:xfrm>
            <a:off x="2615184" y="2423160"/>
            <a:ext cx="285750" cy="0"/>
          </a:xfrm>
          <a:prstGeom prst="line">
            <a:avLst/>
          </a:prstGeom>
          <a:noFill/>
          <a:ln w="28575">
            <a:solidFill>
              <a:srgbClr val="0F766E"/>
            </a:solidFill>
            <a:prstDash val="solid"/>
            <a:tailEnd type="triangle"/>
          </a:ln>
        </p:spPr>
      </p:sp>
      <p:sp>
        <p:nvSpPr>
          <p:cNvPr id="6" name="mlp-2"/>
          <p:cNvSpPr/>
          <p:nvPr/>
        </p:nvSpPr>
        <p:spPr>
          <a:xfrm>
            <a:off x="2955798" y="1691640"/>
            <a:ext cx="1828800" cy="1463040"/>
          </a:xfrm>
          <a:prstGeom prst="roundRect">
            <a:avLst>
              <a:gd name="adj" fmla="val 7500"/>
            </a:avLst>
          </a:prstGeom>
          <a:solidFill>
            <a:srgbClr val="FFFFFF"/>
          </a:solidFill>
          <a:ln w="12700">
            <a:solidFill>
              <a:srgbClr val="D5DAE0"/>
            </a:solidFill>
            <a:prstDash val="solid"/>
          </a:ln>
        </p:spPr>
      </p:sp>
      <p:sp>
        <p:nvSpPr>
          <p:cNvPr id="7" name="Text 5"/>
          <p:cNvSpPr txBox="1"/>
          <p:nvPr/>
        </p:nvSpPr>
        <p:spPr>
          <a:xfrm>
            <a:off x="3092958" y="1828800"/>
            <a:ext cx="1554480" cy="1234440"/>
          </a:xfrm>
          <a:prstGeom prst="rect">
            <a:avLst/>
          </a:prstGeom>
          <a:noFill/>
          <a:ln/>
        </p:spPr>
        <p:txBody>
          <a:bodyPr wrap="square" lIns="0" tIns="0" rIns="0" bIns="0" rtlCol="0" anchor="t"/>
          <a:lstStyle/>
          <a:p>
            <a:pPr algn="l" indent="0" marL="0">
              <a:spcAft>
                <a:spcPts val="400"/>
              </a:spcAft>
              <a:buNone/>
            </a:pPr>
            <a:r>
              <a:rPr lang="en-US" sz="1800" b="1" dirty="0">
                <a:solidFill>
                  <a:srgbClr val="0F1A2B"/>
                </a:solidFill>
              </a:rPr>
              <a:t>63 inputs</a:t>
            </a:r>
            <a:endParaRPr lang="en-US" sz="1800" dirty="0"/>
          </a:p>
          <a:p>
            <a:pPr algn="l" indent="0" marL="0">
              <a:buNone/>
            </a:pPr>
            <a:r>
              <a:rPr lang="en-US" sz="1500" dirty="0">
                <a:solidFill>
                  <a:srgbClr val="4A5568"/>
                </a:solidFill>
              </a:rPr>
              <a:t>21 points × (x, y, z)</a:t>
            </a:r>
            <a:endParaRPr lang="en-US" sz="1800" dirty="0"/>
          </a:p>
        </p:txBody>
      </p:sp>
      <p:sp>
        <p:nvSpPr>
          <p:cNvPr id="8" name="Shape 6"/>
          <p:cNvSpPr/>
          <p:nvPr/>
        </p:nvSpPr>
        <p:spPr>
          <a:xfrm>
            <a:off x="4839462" y="2423160"/>
            <a:ext cx="285750" cy="0"/>
          </a:xfrm>
          <a:prstGeom prst="line">
            <a:avLst/>
          </a:prstGeom>
          <a:noFill/>
          <a:ln w="28575">
            <a:solidFill>
              <a:srgbClr val="0F766E"/>
            </a:solidFill>
            <a:prstDash val="solid"/>
            <a:tailEnd type="triangle"/>
          </a:ln>
        </p:spPr>
      </p:sp>
      <p:sp>
        <p:nvSpPr>
          <p:cNvPr id="9" name="mlp-3"/>
          <p:cNvSpPr/>
          <p:nvPr/>
        </p:nvSpPr>
        <p:spPr>
          <a:xfrm>
            <a:off x="5180076" y="1691640"/>
            <a:ext cx="1828800" cy="1463040"/>
          </a:xfrm>
          <a:prstGeom prst="roundRect">
            <a:avLst>
              <a:gd name="adj" fmla="val 7500"/>
            </a:avLst>
          </a:prstGeom>
          <a:solidFill>
            <a:srgbClr val="F8E6C8"/>
          </a:solidFill>
          <a:ln/>
        </p:spPr>
      </p:sp>
      <p:sp>
        <p:nvSpPr>
          <p:cNvPr id="10" name="Text 8"/>
          <p:cNvSpPr txBox="1"/>
          <p:nvPr/>
        </p:nvSpPr>
        <p:spPr>
          <a:xfrm>
            <a:off x="5317236" y="1828800"/>
            <a:ext cx="1554480" cy="1234440"/>
          </a:xfrm>
          <a:prstGeom prst="rect">
            <a:avLst/>
          </a:prstGeom>
          <a:noFill/>
          <a:ln/>
        </p:spPr>
        <p:txBody>
          <a:bodyPr wrap="square" lIns="0" tIns="0" rIns="0" bIns="0" rtlCol="0" anchor="t"/>
          <a:lstStyle/>
          <a:p>
            <a:pPr algn="l" indent="0" marL="0">
              <a:spcAft>
                <a:spcPts val="400"/>
              </a:spcAft>
              <a:buNone/>
            </a:pPr>
            <a:r>
              <a:rPr lang="en-US" sz="1800" b="1" dirty="0">
                <a:solidFill>
                  <a:srgbClr val="0F1A2B"/>
                </a:solidFill>
              </a:rPr>
              <a:t>Hidden 1</a:t>
            </a:r>
            <a:endParaRPr lang="en-US" sz="1800" dirty="0"/>
          </a:p>
          <a:p>
            <a:pPr algn="l" indent="0" marL="0">
              <a:buNone/>
            </a:pPr>
            <a:r>
              <a:rPr lang="en-US" sz="1500" dirty="0">
                <a:solidFill>
                  <a:srgbClr val="4A5568"/>
                </a:solidFill>
              </a:rPr>
              <a:t>256 units · ReLU</a:t>
            </a:r>
            <a:endParaRPr lang="en-US" sz="1800" dirty="0"/>
          </a:p>
        </p:txBody>
      </p:sp>
      <p:sp>
        <p:nvSpPr>
          <p:cNvPr id="11" name="Shape 9"/>
          <p:cNvSpPr/>
          <p:nvPr/>
        </p:nvSpPr>
        <p:spPr>
          <a:xfrm>
            <a:off x="7063740" y="2423160"/>
            <a:ext cx="285750" cy="0"/>
          </a:xfrm>
          <a:prstGeom prst="line">
            <a:avLst/>
          </a:prstGeom>
          <a:noFill/>
          <a:ln w="28575">
            <a:solidFill>
              <a:srgbClr val="0F766E"/>
            </a:solidFill>
            <a:prstDash val="solid"/>
            <a:tailEnd type="triangle"/>
          </a:ln>
        </p:spPr>
      </p:sp>
      <p:sp>
        <p:nvSpPr>
          <p:cNvPr id="12" name="mlp-4"/>
          <p:cNvSpPr/>
          <p:nvPr/>
        </p:nvSpPr>
        <p:spPr>
          <a:xfrm>
            <a:off x="7404354" y="1691640"/>
            <a:ext cx="1828800" cy="1463040"/>
          </a:xfrm>
          <a:prstGeom prst="roundRect">
            <a:avLst>
              <a:gd name="adj" fmla="val 7500"/>
            </a:avLst>
          </a:prstGeom>
          <a:solidFill>
            <a:srgbClr val="F8E6C8"/>
          </a:solidFill>
          <a:ln/>
        </p:spPr>
      </p:sp>
      <p:sp>
        <p:nvSpPr>
          <p:cNvPr id="13" name="Text 11"/>
          <p:cNvSpPr txBox="1"/>
          <p:nvPr/>
        </p:nvSpPr>
        <p:spPr>
          <a:xfrm>
            <a:off x="7541514" y="1828800"/>
            <a:ext cx="1554480" cy="1234440"/>
          </a:xfrm>
          <a:prstGeom prst="rect">
            <a:avLst/>
          </a:prstGeom>
          <a:noFill/>
          <a:ln/>
        </p:spPr>
        <p:txBody>
          <a:bodyPr wrap="square" lIns="0" tIns="0" rIns="0" bIns="0" rtlCol="0" anchor="t"/>
          <a:lstStyle/>
          <a:p>
            <a:pPr algn="l" indent="0" marL="0">
              <a:spcAft>
                <a:spcPts val="400"/>
              </a:spcAft>
              <a:buNone/>
            </a:pPr>
            <a:r>
              <a:rPr lang="en-US" sz="1800" b="1" dirty="0">
                <a:solidFill>
                  <a:srgbClr val="0F1A2B"/>
                </a:solidFill>
              </a:rPr>
              <a:t>Hidden 2</a:t>
            </a:r>
            <a:endParaRPr lang="en-US" sz="1800" dirty="0"/>
          </a:p>
          <a:p>
            <a:pPr algn="l" indent="0" marL="0">
              <a:buNone/>
            </a:pPr>
            <a:r>
              <a:rPr lang="en-US" sz="1500" dirty="0">
                <a:solidFill>
                  <a:srgbClr val="4A5568"/>
                </a:solidFill>
              </a:rPr>
              <a:t>128 units · ReLU</a:t>
            </a:r>
            <a:endParaRPr lang="en-US" sz="1800" dirty="0"/>
          </a:p>
        </p:txBody>
      </p:sp>
      <p:sp>
        <p:nvSpPr>
          <p:cNvPr id="14" name="Shape 12"/>
          <p:cNvSpPr/>
          <p:nvPr/>
        </p:nvSpPr>
        <p:spPr>
          <a:xfrm>
            <a:off x="9288018" y="2423160"/>
            <a:ext cx="285750" cy="0"/>
          </a:xfrm>
          <a:prstGeom prst="line">
            <a:avLst/>
          </a:prstGeom>
          <a:noFill/>
          <a:ln w="28575">
            <a:solidFill>
              <a:srgbClr val="0F766E"/>
            </a:solidFill>
            <a:prstDash val="solid"/>
            <a:tailEnd type="triangle"/>
          </a:ln>
        </p:spPr>
      </p:sp>
      <p:sp>
        <p:nvSpPr>
          <p:cNvPr id="15" name="mlp-5"/>
          <p:cNvSpPr/>
          <p:nvPr/>
        </p:nvSpPr>
        <p:spPr>
          <a:xfrm>
            <a:off x="9628632" y="1691640"/>
            <a:ext cx="1828800" cy="1463040"/>
          </a:xfrm>
          <a:prstGeom prst="roundRect">
            <a:avLst>
              <a:gd name="adj" fmla="val 7500"/>
            </a:avLst>
          </a:prstGeom>
          <a:solidFill>
            <a:srgbClr val="DCEEEB"/>
          </a:solidFill>
          <a:ln/>
        </p:spPr>
      </p:sp>
      <p:sp>
        <p:nvSpPr>
          <p:cNvPr id="16" name="Text 14"/>
          <p:cNvSpPr txBox="1"/>
          <p:nvPr/>
        </p:nvSpPr>
        <p:spPr>
          <a:xfrm>
            <a:off x="9765792" y="1828800"/>
            <a:ext cx="1554480" cy="1234440"/>
          </a:xfrm>
          <a:prstGeom prst="rect">
            <a:avLst/>
          </a:prstGeom>
          <a:noFill/>
          <a:ln/>
        </p:spPr>
        <p:txBody>
          <a:bodyPr wrap="square" lIns="0" tIns="0" rIns="0" bIns="0" rtlCol="0" anchor="t"/>
          <a:lstStyle/>
          <a:p>
            <a:pPr algn="l" indent="0" marL="0">
              <a:spcAft>
                <a:spcPts val="400"/>
              </a:spcAft>
              <a:buNone/>
            </a:pPr>
            <a:r>
              <a:rPr lang="en-US" sz="1800" b="1" dirty="0">
                <a:solidFill>
                  <a:srgbClr val="0F1A2B"/>
                </a:solidFill>
              </a:rPr>
              <a:t>Output</a:t>
            </a:r>
            <a:endParaRPr lang="en-US" sz="1800" dirty="0"/>
          </a:p>
          <a:p>
            <a:pPr algn="l" indent="0" marL="0">
              <a:buNone/>
            </a:pPr>
            <a:r>
              <a:rPr lang="en-US" sz="1500" dirty="0">
                <a:solidFill>
                  <a:srgbClr val="4A5568"/>
                </a:solidFill>
              </a:rPr>
              <a:t>One score per letter, softmax</a:t>
            </a:r>
            <a:endParaRPr lang="en-US" sz="1800" dirty="0"/>
          </a:p>
        </p:txBody>
      </p:sp>
      <p:sp>
        <p:nvSpPr>
          <p:cNvPr id="17" name="Text 15"/>
          <p:cNvSpPr txBox="1"/>
          <p:nvPr/>
        </p:nvSpPr>
        <p:spPr>
          <a:xfrm>
            <a:off x="731520" y="3611880"/>
            <a:ext cx="10725912" cy="2468880"/>
          </a:xfrm>
          <a:prstGeom prst="rect">
            <a:avLst/>
          </a:prstGeom>
          <a:noFill/>
          <a:ln/>
        </p:spPr>
        <p:txBody>
          <a:bodyPr wrap="square" lIns="0" tIns="0" rIns="0" bIns="0" rtlCol="0" anchor="t"/>
          <a:lstStyle/>
          <a:p>
            <a:pPr algn="l" marL="342900" indent="-342900">
              <a:spcAft>
                <a:spcPts val="1000"/>
              </a:spcAft>
              <a:buSzPct val="100000"/>
              <a:buChar char="•"/>
            </a:pPr>
            <a:r>
              <a:rPr lang="en-US" sz="1800" dirty="0">
                <a:solidFill>
                  <a:srgbClr val="0F1A2B"/>
                </a:solidFill>
              </a:rPr>
              <a:t>About 300 images per letter, plus a mirrored copy of each</a:t>
            </a:r>
            <a:endParaRPr lang="en-US" sz="1800" dirty="0"/>
          </a:p>
          <a:p>
            <a:pPr algn="l" marL="342900" indent="-342900">
              <a:spcAft>
                <a:spcPts val="1000"/>
              </a:spcAft>
              <a:buSzPct val="100000"/>
              <a:buChar char="•"/>
            </a:pPr>
            <a:r>
              <a:rPr lang="en-US" sz="1800" dirty="0">
                <a:solidFill>
                  <a:srgbClr val="0F1A2B"/>
                </a:solidFill>
              </a:rPr>
              <a:t>Points are centred on the wrist and scaled, so hand size and position do not matter</a:t>
            </a:r>
            <a:endParaRPr lang="en-US" sz="1800" dirty="0"/>
          </a:p>
          <a:p>
            <a:pPr algn="l" marL="342900" indent="-342900">
              <a:spcAft>
                <a:spcPts val="1000"/>
              </a:spcAft>
              <a:buSzPct val="100000"/>
              <a:buChar char="•"/>
            </a:pPr>
            <a:r>
              <a:rPr lang="en-US" sz="1800" dirty="0">
                <a:solidFill>
                  <a:srgbClr val="0F1A2B"/>
                </a:solidFill>
              </a:rPr>
              <a:t>ASL uses 1 hand (63 inputs); ISL uses 2 hands (129 inputs)</a:t>
            </a:r>
            <a:endParaRPr lang="en-US" sz="1800" dirty="0"/>
          </a:p>
          <a:p>
            <a:pPr algn="l" marL="342900" indent="-342900">
              <a:spcAft>
                <a:spcPts val="1000"/>
              </a:spcAft>
              <a:buSzPct val="100000"/>
              <a:buChar char="•"/>
            </a:pPr>
            <a:r>
              <a:rPr lang="en-US" sz="1800" dirty="0">
                <a:solidFill>
                  <a:srgbClr val="0F1A2B"/>
                </a:solidFill>
              </a:rPr>
              <a:t>We trained SVC, MLP and ExtraTrees; the MLP is exported to plain numpy for the app</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725912" cy="822960"/>
          </a:xfrm>
          <a:prstGeom prst="rect">
            <a:avLst/>
          </a:prstGeom>
          <a:noFill/>
          <a:ln/>
        </p:spPr>
        <p:txBody>
          <a:bodyPr wrap="square" lIns="0" tIns="0" rIns="0" bIns="0" rtlCol="0" anchor="ctr"/>
          <a:lstStyle/>
          <a:p>
            <a:pPr algn="l" indent="0" marL="0">
              <a:buNone/>
            </a:pPr>
            <a:r>
              <a:rPr lang="en-US" sz="3600" b="1" dirty="0">
                <a:solidFill>
                  <a:srgbClr val="F4F6F8"/>
                </a:solidFill>
              </a:rPr>
              <a:t>Words: the transformer architecture</a:t>
            </a:r>
            <a:endParaRPr lang="en-US" sz="3600" dirty="0"/>
          </a:p>
        </p:txBody>
      </p:sp>
      <p:sp>
        <p:nvSpPr>
          <p:cNvPr id="3" name="tf-box-1"/>
          <p:cNvSpPr/>
          <p:nvPr/>
        </p:nvSpPr>
        <p:spPr>
          <a:xfrm>
            <a:off x="731520" y="1463040"/>
            <a:ext cx="6035040" cy="438912"/>
          </a:xfrm>
          <a:prstGeom prst="roundRect">
            <a:avLst>
              <a:gd name="adj" fmla="val 20833"/>
            </a:avLst>
          </a:prstGeom>
          <a:solidFill>
            <a:srgbClr val="1B2A41"/>
          </a:solidFill>
          <a:ln w="12700">
            <a:solidFill>
              <a:srgbClr val="3A4D6B"/>
            </a:solidFill>
            <a:prstDash val="solid"/>
          </a:ln>
        </p:spPr>
      </p:sp>
      <p:sp>
        <p:nvSpPr>
          <p:cNvPr id="4" name="Text 2"/>
          <p:cNvSpPr txBox="1"/>
          <p:nvPr/>
        </p:nvSpPr>
        <p:spPr>
          <a:xfrm>
            <a:off x="914400" y="1463040"/>
            <a:ext cx="5669280" cy="438912"/>
          </a:xfrm>
          <a:prstGeom prst="rect">
            <a:avLst/>
          </a:prstGeom>
          <a:noFill/>
          <a:ln/>
        </p:spPr>
        <p:txBody>
          <a:bodyPr wrap="square" lIns="0" tIns="0" rIns="0" bIns="0" rtlCol="0" anchor="ctr"/>
          <a:lstStyle/>
          <a:p>
            <a:pPr algn="l" indent="0" marL="0">
              <a:buNone/>
            </a:pPr>
            <a:r>
              <a:rPr lang="en-US" sz="1600" dirty="0">
                <a:solidFill>
                  <a:srgbClr val="F4F6F8"/>
                </a:solidFill>
              </a:rPr>
              <a:t>Input: one sign, 32 frames × 270 features</a:t>
            </a:r>
            <a:endParaRPr lang="en-US" sz="1600" dirty="0"/>
          </a:p>
        </p:txBody>
      </p:sp>
      <p:sp>
        <p:nvSpPr>
          <p:cNvPr id="5" name="Text 3"/>
          <p:cNvSpPr txBox="1"/>
          <p:nvPr/>
        </p:nvSpPr>
        <p:spPr>
          <a:xfrm>
            <a:off x="7223760" y="1463040"/>
            <a:ext cx="4233672" cy="438912"/>
          </a:xfrm>
          <a:prstGeom prst="rect">
            <a:avLst/>
          </a:prstGeom>
          <a:noFill/>
          <a:ln/>
        </p:spPr>
        <p:txBody>
          <a:bodyPr wrap="square" lIns="0" tIns="0" rIns="0" bIns="0" rtlCol="0" anchor="ctr"/>
          <a:lstStyle/>
          <a:p>
            <a:pPr algn="l" indent="0" marL="0">
              <a:buNone/>
            </a:pPr>
            <a:r>
              <a:rPr lang="en-US" sz="1600" b="1" dirty="0">
                <a:solidFill>
                  <a:srgbClr val="F2A93B"/>
                </a:solidFill>
              </a:rPr>
              <a:t>32 × 270</a:t>
            </a:r>
            <a:pPr algn="l" indent="0" marL="0">
              <a:buNone/>
            </a:pPr>
            <a:r>
              <a:rPr lang="en-US" sz="1600" dirty="0">
                <a:solidFill>
                  <a:srgbClr val="B8C4D6"/>
                </a:solidFill>
              </a:rPr>
              <a:t>  ·  keypoints per frame</a:t>
            </a:r>
            <a:endParaRPr lang="en-US" sz="1600" dirty="0"/>
          </a:p>
        </p:txBody>
      </p:sp>
      <p:sp>
        <p:nvSpPr>
          <p:cNvPr id="6" name="Shape 4"/>
          <p:cNvSpPr/>
          <p:nvPr/>
        </p:nvSpPr>
        <p:spPr>
          <a:xfrm>
            <a:off x="3749040" y="1929384"/>
            <a:ext cx="0" cy="182880"/>
          </a:xfrm>
          <a:prstGeom prst="line">
            <a:avLst/>
          </a:prstGeom>
          <a:noFill/>
          <a:ln w="28575">
            <a:solidFill>
              <a:srgbClr val="6C82A3"/>
            </a:solidFill>
            <a:prstDash val="solid"/>
            <a:tailEnd type="triangle"/>
          </a:ln>
        </p:spPr>
      </p:sp>
      <p:sp>
        <p:nvSpPr>
          <p:cNvPr id="7" name="tf-box-2"/>
          <p:cNvSpPr/>
          <p:nvPr/>
        </p:nvSpPr>
        <p:spPr>
          <a:xfrm>
            <a:off x="731520" y="2139696"/>
            <a:ext cx="6035040" cy="438912"/>
          </a:xfrm>
          <a:prstGeom prst="roundRect">
            <a:avLst>
              <a:gd name="adj" fmla="val 20833"/>
            </a:avLst>
          </a:prstGeom>
          <a:solidFill>
            <a:srgbClr val="14403F"/>
          </a:solidFill>
          <a:ln w="12700">
            <a:solidFill>
              <a:srgbClr val="2BB5A5"/>
            </a:solidFill>
            <a:prstDash val="solid"/>
          </a:ln>
        </p:spPr>
      </p:sp>
      <p:sp>
        <p:nvSpPr>
          <p:cNvPr id="8" name="Text 6"/>
          <p:cNvSpPr txBox="1"/>
          <p:nvPr/>
        </p:nvSpPr>
        <p:spPr>
          <a:xfrm>
            <a:off x="914400" y="2139696"/>
            <a:ext cx="5669280" cy="438912"/>
          </a:xfrm>
          <a:prstGeom prst="rect">
            <a:avLst/>
          </a:prstGeom>
          <a:noFill/>
          <a:ln/>
        </p:spPr>
        <p:txBody>
          <a:bodyPr wrap="square" lIns="0" tIns="0" rIns="0" bIns="0" rtlCol="0" anchor="ctr"/>
          <a:lstStyle/>
          <a:p>
            <a:pPr algn="l" indent="0" marL="0">
              <a:buNone/>
            </a:pPr>
            <a:r>
              <a:rPr lang="en-US" sz="1600" dirty="0">
                <a:solidFill>
                  <a:srgbClr val="F4F6F8"/>
                </a:solidFill>
              </a:rPr>
              <a:t>Embedding: Linear 270 → 128 + LayerNorm + Dropout</a:t>
            </a:r>
            <a:endParaRPr lang="en-US" sz="1600" dirty="0"/>
          </a:p>
        </p:txBody>
      </p:sp>
      <p:sp>
        <p:nvSpPr>
          <p:cNvPr id="9" name="Text 7"/>
          <p:cNvSpPr txBox="1"/>
          <p:nvPr/>
        </p:nvSpPr>
        <p:spPr>
          <a:xfrm>
            <a:off x="7223760" y="2139696"/>
            <a:ext cx="4233672" cy="438912"/>
          </a:xfrm>
          <a:prstGeom prst="rect">
            <a:avLst/>
          </a:prstGeom>
          <a:noFill/>
          <a:ln/>
        </p:spPr>
        <p:txBody>
          <a:bodyPr wrap="square" lIns="0" tIns="0" rIns="0" bIns="0" rtlCol="0" anchor="ctr"/>
          <a:lstStyle/>
          <a:p>
            <a:pPr algn="l" indent="0" marL="0">
              <a:buNone/>
            </a:pPr>
            <a:r>
              <a:rPr lang="en-US" sz="1600" b="1" dirty="0">
                <a:solidFill>
                  <a:srgbClr val="F2A93B"/>
                </a:solidFill>
              </a:rPr>
              <a:t>32 × 128</a:t>
            </a:r>
            <a:pPr algn="l" indent="0" marL="0">
              <a:buNone/>
            </a:pPr>
            <a:r>
              <a:rPr lang="en-US" sz="1600" dirty="0">
                <a:solidFill>
                  <a:srgbClr val="B8C4D6"/>
                </a:solidFill>
              </a:rPr>
              <a:t>  ·  one vector per frame</a:t>
            </a:r>
            <a:endParaRPr lang="en-US" sz="1600" dirty="0"/>
          </a:p>
        </p:txBody>
      </p:sp>
      <p:sp>
        <p:nvSpPr>
          <p:cNvPr id="10" name="Shape 8"/>
          <p:cNvSpPr/>
          <p:nvPr/>
        </p:nvSpPr>
        <p:spPr>
          <a:xfrm>
            <a:off x="3749040" y="2606040"/>
            <a:ext cx="0" cy="182880"/>
          </a:xfrm>
          <a:prstGeom prst="line">
            <a:avLst/>
          </a:prstGeom>
          <a:noFill/>
          <a:ln w="28575">
            <a:solidFill>
              <a:srgbClr val="6C82A3"/>
            </a:solidFill>
            <a:prstDash val="solid"/>
            <a:tailEnd type="triangle"/>
          </a:ln>
        </p:spPr>
      </p:sp>
      <p:sp>
        <p:nvSpPr>
          <p:cNvPr id="11" name="tf-box-3"/>
          <p:cNvSpPr/>
          <p:nvPr/>
        </p:nvSpPr>
        <p:spPr>
          <a:xfrm>
            <a:off x="731520" y="2816352"/>
            <a:ext cx="6035040" cy="438912"/>
          </a:xfrm>
          <a:prstGeom prst="roundRect">
            <a:avLst>
              <a:gd name="adj" fmla="val 20833"/>
            </a:avLst>
          </a:prstGeom>
          <a:solidFill>
            <a:srgbClr val="14403F"/>
          </a:solidFill>
          <a:ln w="12700">
            <a:solidFill>
              <a:srgbClr val="2BB5A5"/>
            </a:solidFill>
            <a:prstDash val="solid"/>
          </a:ln>
        </p:spPr>
      </p:sp>
      <p:sp>
        <p:nvSpPr>
          <p:cNvPr id="12" name="Text 10"/>
          <p:cNvSpPr txBox="1"/>
          <p:nvPr/>
        </p:nvSpPr>
        <p:spPr>
          <a:xfrm>
            <a:off x="914400" y="2816352"/>
            <a:ext cx="5669280" cy="438912"/>
          </a:xfrm>
          <a:prstGeom prst="rect">
            <a:avLst/>
          </a:prstGeom>
          <a:noFill/>
          <a:ln/>
        </p:spPr>
        <p:txBody>
          <a:bodyPr wrap="square" lIns="0" tIns="0" rIns="0" bIns="0" rtlCol="0" anchor="ctr"/>
          <a:lstStyle/>
          <a:p>
            <a:pPr algn="l" indent="0" marL="0">
              <a:buNone/>
            </a:pPr>
            <a:r>
              <a:rPr lang="en-US" sz="1600" dirty="0">
                <a:solidFill>
                  <a:srgbClr val="F4F6F8"/>
                </a:solidFill>
              </a:rPr>
              <a:t>+ Positional embedding (learned)</a:t>
            </a:r>
            <a:endParaRPr lang="en-US" sz="1600" dirty="0"/>
          </a:p>
        </p:txBody>
      </p:sp>
      <p:sp>
        <p:nvSpPr>
          <p:cNvPr id="13" name="Text 11"/>
          <p:cNvSpPr txBox="1"/>
          <p:nvPr/>
        </p:nvSpPr>
        <p:spPr>
          <a:xfrm>
            <a:off x="7223760" y="2816352"/>
            <a:ext cx="4233672" cy="438912"/>
          </a:xfrm>
          <a:prstGeom prst="rect">
            <a:avLst/>
          </a:prstGeom>
          <a:noFill/>
          <a:ln/>
        </p:spPr>
        <p:txBody>
          <a:bodyPr wrap="square" lIns="0" tIns="0" rIns="0" bIns="0" rtlCol="0" anchor="ctr"/>
          <a:lstStyle/>
          <a:p>
            <a:pPr algn="l" indent="0" marL="0">
              <a:buNone/>
            </a:pPr>
            <a:r>
              <a:rPr lang="en-US" sz="1600" b="1" dirty="0">
                <a:solidFill>
                  <a:srgbClr val="F2A93B"/>
                </a:solidFill>
              </a:rPr>
              <a:t>32 × 128</a:t>
            </a:r>
            <a:pPr algn="l" indent="0" marL="0">
              <a:buNone/>
            </a:pPr>
            <a:r>
              <a:rPr lang="en-US" sz="1600" dirty="0">
                <a:solidFill>
                  <a:srgbClr val="B8C4D6"/>
                </a:solidFill>
              </a:rPr>
              <a:t>  ·  adds the frame order</a:t>
            </a:r>
            <a:endParaRPr lang="en-US" sz="1600" dirty="0"/>
          </a:p>
        </p:txBody>
      </p:sp>
      <p:sp>
        <p:nvSpPr>
          <p:cNvPr id="14" name="Shape 12"/>
          <p:cNvSpPr/>
          <p:nvPr/>
        </p:nvSpPr>
        <p:spPr>
          <a:xfrm>
            <a:off x="3749040" y="3282696"/>
            <a:ext cx="0" cy="182880"/>
          </a:xfrm>
          <a:prstGeom prst="line">
            <a:avLst/>
          </a:prstGeom>
          <a:noFill/>
          <a:ln w="28575">
            <a:solidFill>
              <a:srgbClr val="6C82A3"/>
            </a:solidFill>
            <a:prstDash val="solid"/>
            <a:tailEnd type="triangle"/>
          </a:ln>
        </p:spPr>
      </p:sp>
      <p:sp>
        <p:nvSpPr>
          <p:cNvPr id="15" name="tf-box-4"/>
          <p:cNvSpPr/>
          <p:nvPr/>
        </p:nvSpPr>
        <p:spPr>
          <a:xfrm>
            <a:off x="731520" y="3493008"/>
            <a:ext cx="6035040" cy="731520"/>
          </a:xfrm>
          <a:prstGeom prst="roundRect">
            <a:avLst>
              <a:gd name="adj" fmla="val 12500"/>
            </a:avLst>
          </a:prstGeom>
          <a:solidFill>
            <a:srgbClr val="3A2C12"/>
          </a:solidFill>
          <a:ln w="28575">
            <a:solidFill>
              <a:srgbClr val="F2A93B"/>
            </a:solidFill>
            <a:prstDash val="solid"/>
          </a:ln>
        </p:spPr>
      </p:sp>
      <p:sp>
        <p:nvSpPr>
          <p:cNvPr id="16" name="Text 14"/>
          <p:cNvSpPr txBox="1"/>
          <p:nvPr/>
        </p:nvSpPr>
        <p:spPr>
          <a:xfrm>
            <a:off x="914400" y="3493008"/>
            <a:ext cx="5669280" cy="731520"/>
          </a:xfrm>
          <a:prstGeom prst="rect">
            <a:avLst/>
          </a:prstGeom>
          <a:noFill/>
          <a:ln/>
        </p:spPr>
        <p:txBody>
          <a:bodyPr wrap="square" lIns="0" tIns="0" rIns="0" bIns="0" rtlCol="0" anchor="ctr"/>
          <a:lstStyle/>
          <a:p>
            <a:pPr algn="l" indent="0" marL="0">
              <a:buNone/>
            </a:pPr>
            <a:r>
              <a:rPr lang="en-US" sz="1600" b="1" dirty="0">
                <a:solidFill>
                  <a:srgbClr val="F4F6F8"/>
                </a:solidFill>
              </a:rPr>
              <a:t>Transformer encoder layer × 3</a:t>
            </a:r>
            <a:endParaRPr lang="en-US" sz="1600" dirty="0"/>
          </a:p>
          <a:p>
            <a:pPr algn="l" indent="0" marL="0">
              <a:buNone/>
            </a:pPr>
            <a:r>
              <a:rPr lang="en-US" sz="1600" dirty="0">
                <a:solidFill>
                  <a:srgbClr val="F4F6F8"/>
                </a:solidFill>
              </a:rPr>
              <a:t>self-attention (4 heads) + feed-forward 256</a:t>
            </a:r>
            <a:endParaRPr lang="en-US" sz="1600" dirty="0"/>
          </a:p>
        </p:txBody>
      </p:sp>
      <p:sp>
        <p:nvSpPr>
          <p:cNvPr id="17" name="Text 15"/>
          <p:cNvSpPr txBox="1"/>
          <p:nvPr/>
        </p:nvSpPr>
        <p:spPr>
          <a:xfrm>
            <a:off x="7223760" y="3493008"/>
            <a:ext cx="4233672" cy="731520"/>
          </a:xfrm>
          <a:prstGeom prst="rect">
            <a:avLst/>
          </a:prstGeom>
          <a:noFill/>
          <a:ln/>
        </p:spPr>
        <p:txBody>
          <a:bodyPr wrap="square" lIns="0" tIns="0" rIns="0" bIns="0" rtlCol="0" anchor="ctr"/>
          <a:lstStyle/>
          <a:p>
            <a:pPr algn="l" indent="0" marL="0">
              <a:buNone/>
            </a:pPr>
            <a:r>
              <a:rPr lang="en-US" sz="1600" b="1" dirty="0">
                <a:solidFill>
                  <a:srgbClr val="F2A93B"/>
                </a:solidFill>
              </a:rPr>
              <a:t>32 × 128</a:t>
            </a:r>
            <a:pPr algn="l" indent="0" marL="0">
              <a:buNone/>
            </a:pPr>
            <a:r>
              <a:rPr lang="en-US" sz="1600" dirty="0">
                <a:solidFill>
                  <a:srgbClr val="B8C4D6"/>
                </a:solidFill>
              </a:rPr>
              <a:t>  ·  frames share information</a:t>
            </a:r>
            <a:endParaRPr lang="en-US" sz="1600" dirty="0"/>
          </a:p>
        </p:txBody>
      </p:sp>
      <p:sp>
        <p:nvSpPr>
          <p:cNvPr id="18" name="Shape 16"/>
          <p:cNvSpPr/>
          <p:nvPr/>
        </p:nvSpPr>
        <p:spPr>
          <a:xfrm>
            <a:off x="3749040" y="4251960"/>
            <a:ext cx="0" cy="182880"/>
          </a:xfrm>
          <a:prstGeom prst="line">
            <a:avLst/>
          </a:prstGeom>
          <a:noFill/>
          <a:ln w="28575">
            <a:solidFill>
              <a:srgbClr val="6C82A3"/>
            </a:solidFill>
            <a:prstDash val="solid"/>
            <a:tailEnd type="triangle"/>
          </a:ln>
        </p:spPr>
      </p:sp>
      <p:sp>
        <p:nvSpPr>
          <p:cNvPr id="19" name="tf-box-5"/>
          <p:cNvSpPr/>
          <p:nvPr/>
        </p:nvSpPr>
        <p:spPr>
          <a:xfrm>
            <a:off x="731520" y="4462272"/>
            <a:ext cx="6035040" cy="438912"/>
          </a:xfrm>
          <a:prstGeom prst="roundRect">
            <a:avLst>
              <a:gd name="adj" fmla="val 20833"/>
            </a:avLst>
          </a:prstGeom>
          <a:solidFill>
            <a:srgbClr val="1B2A41"/>
          </a:solidFill>
          <a:ln w="12700">
            <a:solidFill>
              <a:srgbClr val="3A4D6B"/>
            </a:solidFill>
            <a:prstDash val="solid"/>
          </a:ln>
        </p:spPr>
      </p:sp>
      <p:sp>
        <p:nvSpPr>
          <p:cNvPr id="20" name="Text 18"/>
          <p:cNvSpPr txBox="1"/>
          <p:nvPr/>
        </p:nvSpPr>
        <p:spPr>
          <a:xfrm>
            <a:off x="914400" y="4462272"/>
            <a:ext cx="5669280" cy="438912"/>
          </a:xfrm>
          <a:prstGeom prst="rect">
            <a:avLst/>
          </a:prstGeom>
          <a:noFill/>
          <a:ln/>
        </p:spPr>
        <p:txBody>
          <a:bodyPr wrap="square" lIns="0" tIns="0" rIns="0" bIns="0" rtlCol="0" anchor="ctr"/>
          <a:lstStyle/>
          <a:p>
            <a:pPr algn="l" indent="0" marL="0">
              <a:buNone/>
            </a:pPr>
            <a:r>
              <a:rPr lang="en-US" sz="1600" dirty="0">
                <a:solidFill>
                  <a:srgbClr val="F4F6F8"/>
                </a:solidFill>
              </a:rPr>
              <a:t>Mean over the 32 frames</a:t>
            </a:r>
            <a:endParaRPr lang="en-US" sz="1600" dirty="0"/>
          </a:p>
        </p:txBody>
      </p:sp>
      <p:sp>
        <p:nvSpPr>
          <p:cNvPr id="21" name="Text 19"/>
          <p:cNvSpPr txBox="1"/>
          <p:nvPr/>
        </p:nvSpPr>
        <p:spPr>
          <a:xfrm>
            <a:off x="7223760" y="4462272"/>
            <a:ext cx="4233672" cy="438912"/>
          </a:xfrm>
          <a:prstGeom prst="rect">
            <a:avLst/>
          </a:prstGeom>
          <a:noFill/>
          <a:ln/>
        </p:spPr>
        <p:txBody>
          <a:bodyPr wrap="square" lIns="0" tIns="0" rIns="0" bIns="0" rtlCol="0" anchor="ctr"/>
          <a:lstStyle/>
          <a:p>
            <a:pPr algn="l" indent="0" marL="0">
              <a:buNone/>
            </a:pPr>
            <a:r>
              <a:rPr lang="en-US" sz="1600" b="1" dirty="0">
                <a:solidFill>
                  <a:srgbClr val="F2A93B"/>
                </a:solidFill>
              </a:rPr>
              <a:t>128</a:t>
            </a:r>
            <a:pPr algn="l" indent="0" marL="0">
              <a:buNone/>
            </a:pPr>
            <a:r>
              <a:rPr lang="en-US" sz="1600" dirty="0">
                <a:solidFill>
                  <a:srgbClr val="B8C4D6"/>
                </a:solidFill>
              </a:rPr>
              <a:t>  ·  one summary of the sign</a:t>
            </a:r>
            <a:endParaRPr lang="en-US" sz="1600" dirty="0"/>
          </a:p>
        </p:txBody>
      </p:sp>
      <p:sp>
        <p:nvSpPr>
          <p:cNvPr id="22" name="Shape 20"/>
          <p:cNvSpPr/>
          <p:nvPr/>
        </p:nvSpPr>
        <p:spPr>
          <a:xfrm>
            <a:off x="3749040" y="4928616"/>
            <a:ext cx="0" cy="182880"/>
          </a:xfrm>
          <a:prstGeom prst="line">
            <a:avLst/>
          </a:prstGeom>
          <a:noFill/>
          <a:ln w="28575">
            <a:solidFill>
              <a:srgbClr val="6C82A3"/>
            </a:solidFill>
            <a:prstDash val="solid"/>
            <a:tailEnd type="triangle"/>
          </a:ln>
        </p:spPr>
      </p:sp>
      <p:sp>
        <p:nvSpPr>
          <p:cNvPr id="23" name="tf-box-6"/>
          <p:cNvSpPr/>
          <p:nvPr/>
        </p:nvSpPr>
        <p:spPr>
          <a:xfrm>
            <a:off x="731520" y="5138928"/>
            <a:ext cx="6035040" cy="438912"/>
          </a:xfrm>
          <a:prstGeom prst="roundRect">
            <a:avLst>
              <a:gd name="adj" fmla="val 20833"/>
            </a:avLst>
          </a:prstGeom>
          <a:solidFill>
            <a:srgbClr val="1B2A41"/>
          </a:solidFill>
          <a:ln w="12700">
            <a:solidFill>
              <a:srgbClr val="3A4D6B"/>
            </a:solidFill>
            <a:prstDash val="solid"/>
          </a:ln>
        </p:spPr>
      </p:sp>
      <p:sp>
        <p:nvSpPr>
          <p:cNvPr id="24" name="Text 22"/>
          <p:cNvSpPr txBox="1"/>
          <p:nvPr/>
        </p:nvSpPr>
        <p:spPr>
          <a:xfrm>
            <a:off x="914400" y="5138928"/>
            <a:ext cx="5669280" cy="438912"/>
          </a:xfrm>
          <a:prstGeom prst="rect">
            <a:avLst/>
          </a:prstGeom>
          <a:noFill/>
          <a:ln/>
        </p:spPr>
        <p:txBody>
          <a:bodyPr wrap="square" lIns="0" tIns="0" rIns="0" bIns="0" rtlCol="0" anchor="ctr"/>
          <a:lstStyle/>
          <a:p>
            <a:pPr algn="l" indent="0" marL="0">
              <a:buNone/>
            </a:pPr>
            <a:r>
              <a:rPr lang="en-US" sz="1600" dirty="0">
                <a:solidFill>
                  <a:srgbClr val="F4F6F8"/>
                </a:solidFill>
              </a:rPr>
              <a:t>LayerNorm + Linear 128 → number of words</a:t>
            </a:r>
            <a:endParaRPr lang="en-US" sz="1600" dirty="0"/>
          </a:p>
        </p:txBody>
      </p:sp>
      <p:sp>
        <p:nvSpPr>
          <p:cNvPr id="25" name="Text 23"/>
          <p:cNvSpPr txBox="1"/>
          <p:nvPr/>
        </p:nvSpPr>
        <p:spPr>
          <a:xfrm>
            <a:off x="7223760" y="5138928"/>
            <a:ext cx="4233672" cy="438912"/>
          </a:xfrm>
          <a:prstGeom prst="rect">
            <a:avLst/>
          </a:prstGeom>
          <a:noFill/>
          <a:ln/>
        </p:spPr>
        <p:txBody>
          <a:bodyPr wrap="square" lIns="0" tIns="0" rIns="0" bIns="0" rtlCol="0" anchor="ctr"/>
          <a:lstStyle/>
          <a:p>
            <a:pPr algn="l" indent="0" marL="0">
              <a:buNone/>
            </a:pPr>
            <a:r>
              <a:rPr lang="en-US" sz="1600" b="1" dirty="0">
                <a:solidFill>
                  <a:srgbClr val="F2A93B"/>
                </a:solidFill>
              </a:rPr>
              <a:t>23 or 51</a:t>
            </a:r>
            <a:pPr algn="l" indent="0" marL="0">
              <a:buNone/>
            </a:pPr>
            <a:r>
              <a:rPr lang="en-US" sz="1600" dirty="0">
                <a:solidFill>
                  <a:srgbClr val="B8C4D6"/>
                </a:solidFill>
              </a:rPr>
              <a:t>  ·  ASL or ISL words</a:t>
            </a:r>
            <a:endParaRPr lang="en-US" sz="1600" dirty="0"/>
          </a:p>
        </p:txBody>
      </p:sp>
      <p:sp>
        <p:nvSpPr>
          <p:cNvPr id="26" name="Shape 24"/>
          <p:cNvSpPr/>
          <p:nvPr/>
        </p:nvSpPr>
        <p:spPr>
          <a:xfrm>
            <a:off x="3749040" y="5605272"/>
            <a:ext cx="0" cy="182880"/>
          </a:xfrm>
          <a:prstGeom prst="line">
            <a:avLst/>
          </a:prstGeom>
          <a:noFill/>
          <a:ln w="28575">
            <a:solidFill>
              <a:srgbClr val="6C82A3"/>
            </a:solidFill>
            <a:prstDash val="solid"/>
            <a:tailEnd type="triangle"/>
          </a:ln>
        </p:spPr>
      </p:sp>
      <p:sp>
        <p:nvSpPr>
          <p:cNvPr id="27" name="tf-box-7"/>
          <p:cNvSpPr/>
          <p:nvPr/>
        </p:nvSpPr>
        <p:spPr>
          <a:xfrm>
            <a:off x="731520" y="5815584"/>
            <a:ext cx="6035040" cy="438912"/>
          </a:xfrm>
          <a:prstGeom prst="roundRect">
            <a:avLst>
              <a:gd name="adj" fmla="val 20833"/>
            </a:avLst>
          </a:prstGeom>
          <a:solidFill>
            <a:srgbClr val="1B2A41"/>
          </a:solidFill>
          <a:ln w="12700">
            <a:solidFill>
              <a:srgbClr val="3A4D6B"/>
            </a:solidFill>
            <a:prstDash val="solid"/>
          </a:ln>
        </p:spPr>
      </p:sp>
      <p:sp>
        <p:nvSpPr>
          <p:cNvPr id="28" name="Text 26"/>
          <p:cNvSpPr txBox="1"/>
          <p:nvPr/>
        </p:nvSpPr>
        <p:spPr>
          <a:xfrm>
            <a:off x="914400" y="5815584"/>
            <a:ext cx="5669280" cy="438912"/>
          </a:xfrm>
          <a:prstGeom prst="rect">
            <a:avLst/>
          </a:prstGeom>
          <a:noFill/>
          <a:ln/>
        </p:spPr>
        <p:txBody>
          <a:bodyPr wrap="square" lIns="0" tIns="0" rIns="0" bIns="0" rtlCol="0" anchor="ctr"/>
          <a:lstStyle/>
          <a:p>
            <a:pPr algn="l" indent="0" marL="0">
              <a:buNone/>
            </a:pPr>
            <a:r>
              <a:rPr lang="en-US" sz="1600" dirty="0">
                <a:solidFill>
                  <a:srgbClr val="F4F6F8"/>
                </a:solidFill>
              </a:rPr>
              <a:t>Softmax → word probabilities</a:t>
            </a:r>
            <a:endParaRPr lang="en-US" sz="1600" dirty="0"/>
          </a:p>
        </p:txBody>
      </p:sp>
      <p:sp>
        <p:nvSpPr>
          <p:cNvPr id="29" name="Text 27"/>
          <p:cNvSpPr txBox="1"/>
          <p:nvPr/>
        </p:nvSpPr>
        <p:spPr>
          <a:xfrm>
            <a:off x="7223760" y="5815584"/>
            <a:ext cx="4233672" cy="438912"/>
          </a:xfrm>
          <a:prstGeom prst="rect">
            <a:avLst/>
          </a:prstGeom>
          <a:noFill/>
          <a:ln/>
        </p:spPr>
        <p:txBody>
          <a:bodyPr wrap="square" lIns="0" tIns="0" rIns="0" bIns="0" rtlCol="0" anchor="ctr"/>
          <a:lstStyle/>
          <a:p>
            <a:pPr algn="l" indent="0" marL="0">
              <a:buNone/>
            </a:pPr>
            <a:r>
              <a:rPr lang="en-US" sz="1600" dirty="0">
                <a:solidFill>
                  <a:srgbClr val="B8C4D6"/>
                </a:solidFill>
              </a:rPr>
              <a:t>the top 3 guesses are shown</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725912" cy="822960"/>
          </a:xfrm>
          <a:prstGeom prst="rect">
            <a:avLst/>
          </a:prstGeom>
          <a:noFill/>
          <a:ln/>
        </p:spPr>
        <p:txBody>
          <a:bodyPr wrap="square" lIns="0" tIns="0" rIns="0" bIns="0" rtlCol="0" anchor="ctr"/>
          <a:lstStyle/>
          <a:p>
            <a:pPr algn="l" indent="0" marL="0">
              <a:buNone/>
            </a:pPr>
            <a:r>
              <a:rPr lang="en-US" sz="3600" b="1" dirty="0">
                <a:solidFill>
                  <a:srgbClr val="0F1A2B"/>
                </a:solidFill>
              </a:rPr>
              <a:t>Self-attention in three ideas</a:t>
            </a:r>
            <a:endParaRPr lang="en-US" sz="3600" dirty="0"/>
          </a:p>
        </p:txBody>
      </p:sp>
      <p:sp>
        <p:nvSpPr>
          <p:cNvPr id="3" name="att-1"/>
          <p:cNvSpPr/>
          <p:nvPr/>
        </p:nvSpPr>
        <p:spPr>
          <a:xfrm>
            <a:off x="731520" y="1737360"/>
            <a:ext cx="3383280" cy="3108960"/>
          </a:xfrm>
          <a:prstGeom prst="roundRect">
            <a:avLst>
              <a:gd name="adj" fmla="val 3529"/>
            </a:avLst>
          </a:prstGeom>
          <a:solidFill>
            <a:srgbClr val="FFFFFF"/>
          </a:solidFill>
          <a:ln w="12700">
            <a:solidFill>
              <a:srgbClr val="D5DAE0"/>
            </a:solidFill>
            <a:prstDash val="solid"/>
          </a:ln>
        </p:spPr>
      </p:sp>
      <p:sp>
        <p:nvSpPr>
          <p:cNvPr id="4" name="Text 2"/>
          <p:cNvSpPr txBox="1"/>
          <p:nvPr/>
        </p:nvSpPr>
        <p:spPr>
          <a:xfrm>
            <a:off x="1005840" y="1965960"/>
            <a:ext cx="2834640" cy="2743200"/>
          </a:xfrm>
          <a:prstGeom prst="rect">
            <a:avLst/>
          </a:prstGeom>
          <a:noFill/>
          <a:ln/>
        </p:spPr>
        <p:txBody>
          <a:bodyPr wrap="square" lIns="0" tIns="0" rIns="0" bIns="0" rtlCol="0" anchor="t"/>
          <a:lstStyle/>
          <a:p>
            <a:pPr algn="l" indent="0" marL="0">
              <a:spcAft>
                <a:spcPts val="800"/>
              </a:spcAft>
              <a:buNone/>
            </a:pPr>
            <a:r>
              <a:rPr lang="en-US" sz="1300" b="1" dirty="0">
                <a:solidFill>
                  <a:srgbClr val="B45309"/>
                </a:solidFill>
              </a:rPr>
              <a:t>1 · ASK</a:t>
            </a:r>
            <a:endParaRPr lang="en-US" sz="1300" dirty="0"/>
          </a:p>
          <a:p>
            <a:pPr algn="l" indent="0" marL="0">
              <a:spcAft>
                <a:spcPts val="800"/>
              </a:spcAft>
              <a:buNone/>
            </a:pPr>
            <a:r>
              <a:rPr lang="en-US" sz="2200" b="1" dirty="0">
                <a:solidFill>
                  <a:srgbClr val="0F1A2B"/>
                </a:solidFill>
              </a:rPr>
              <a:t>Which frames matter?</a:t>
            </a:r>
            <a:endParaRPr lang="en-US" sz="1300" dirty="0"/>
          </a:p>
          <a:p>
            <a:pPr algn="l" indent="0" marL="0">
              <a:buNone/>
            </a:pPr>
            <a:r>
              <a:rPr lang="en-US" sz="1700" dirty="0">
                <a:solidFill>
                  <a:srgbClr val="4A5568"/>
                </a:solidFill>
              </a:rPr>
              <a:t>Every frame asks: which of the other frames are important for me?</a:t>
            </a:r>
            <a:endParaRPr lang="en-US" sz="1300" dirty="0"/>
          </a:p>
        </p:txBody>
      </p:sp>
      <p:sp>
        <p:nvSpPr>
          <p:cNvPr id="5" name="att-2"/>
          <p:cNvSpPr/>
          <p:nvPr/>
        </p:nvSpPr>
        <p:spPr>
          <a:xfrm>
            <a:off x="4402836" y="1737360"/>
            <a:ext cx="3383280" cy="3108960"/>
          </a:xfrm>
          <a:prstGeom prst="roundRect">
            <a:avLst>
              <a:gd name="adj" fmla="val 3529"/>
            </a:avLst>
          </a:prstGeom>
          <a:solidFill>
            <a:srgbClr val="FFFFFF"/>
          </a:solidFill>
          <a:ln w="12700">
            <a:solidFill>
              <a:srgbClr val="D5DAE0"/>
            </a:solidFill>
            <a:prstDash val="solid"/>
          </a:ln>
        </p:spPr>
      </p:sp>
      <p:sp>
        <p:nvSpPr>
          <p:cNvPr id="6" name="Text 4"/>
          <p:cNvSpPr txBox="1"/>
          <p:nvPr/>
        </p:nvSpPr>
        <p:spPr>
          <a:xfrm>
            <a:off x="4677156" y="1965960"/>
            <a:ext cx="2834640" cy="2743200"/>
          </a:xfrm>
          <a:prstGeom prst="rect">
            <a:avLst/>
          </a:prstGeom>
          <a:noFill/>
          <a:ln/>
        </p:spPr>
        <p:txBody>
          <a:bodyPr wrap="square" lIns="0" tIns="0" rIns="0" bIns="0" rtlCol="0" anchor="t"/>
          <a:lstStyle/>
          <a:p>
            <a:pPr algn="l" indent="0" marL="0">
              <a:spcAft>
                <a:spcPts val="800"/>
              </a:spcAft>
              <a:buNone/>
            </a:pPr>
            <a:r>
              <a:rPr lang="en-US" sz="1300" b="1" dirty="0">
                <a:solidFill>
                  <a:srgbClr val="B45309"/>
                </a:solidFill>
              </a:rPr>
              <a:t>2 · SCORE</a:t>
            </a:r>
            <a:endParaRPr lang="en-US" sz="1300" dirty="0"/>
          </a:p>
          <a:p>
            <a:pPr algn="l" indent="0" marL="0">
              <a:spcAft>
                <a:spcPts val="800"/>
              </a:spcAft>
              <a:buNone/>
            </a:pPr>
            <a:r>
              <a:rPr lang="en-US" sz="2200" b="1" dirty="0">
                <a:solidFill>
                  <a:srgbClr val="0F1A2B"/>
                </a:solidFill>
              </a:rPr>
              <a:t>Weighted mix</a:t>
            </a:r>
            <a:endParaRPr lang="en-US" sz="1300" dirty="0"/>
          </a:p>
          <a:p>
            <a:pPr algn="l" indent="0" marL="0">
              <a:buNone/>
            </a:pPr>
            <a:r>
              <a:rPr lang="en-US" sz="1700" dirty="0">
                <a:solidFill>
                  <a:srgbClr val="4A5568"/>
                </a:solidFill>
              </a:rPr>
              <a:t>It scores all 32 frames, turns the scores into weights with softmax, and blends the frames by those weights.</a:t>
            </a:r>
            <a:endParaRPr lang="en-US" sz="1300" dirty="0"/>
          </a:p>
        </p:txBody>
      </p:sp>
      <p:sp>
        <p:nvSpPr>
          <p:cNvPr id="7" name="att-3"/>
          <p:cNvSpPr/>
          <p:nvPr/>
        </p:nvSpPr>
        <p:spPr>
          <a:xfrm>
            <a:off x="8074152" y="1737360"/>
            <a:ext cx="3383280" cy="3108960"/>
          </a:xfrm>
          <a:prstGeom prst="roundRect">
            <a:avLst>
              <a:gd name="adj" fmla="val 3529"/>
            </a:avLst>
          </a:prstGeom>
          <a:solidFill>
            <a:srgbClr val="F8E6C8"/>
          </a:solidFill>
          <a:ln/>
        </p:spPr>
      </p:sp>
      <p:sp>
        <p:nvSpPr>
          <p:cNvPr id="8" name="Text 6"/>
          <p:cNvSpPr txBox="1"/>
          <p:nvPr/>
        </p:nvSpPr>
        <p:spPr>
          <a:xfrm>
            <a:off x="8348472" y="1965960"/>
            <a:ext cx="2834640" cy="2743200"/>
          </a:xfrm>
          <a:prstGeom prst="rect">
            <a:avLst/>
          </a:prstGeom>
          <a:noFill/>
          <a:ln/>
        </p:spPr>
        <p:txBody>
          <a:bodyPr wrap="square" lIns="0" tIns="0" rIns="0" bIns="0" rtlCol="0" anchor="t"/>
          <a:lstStyle/>
          <a:p>
            <a:pPr algn="l" indent="0" marL="0">
              <a:spcAft>
                <a:spcPts val="800"/>
              </a:spcAft>
              <a:buNone/>
            </a:pPr>
            <a:r>
              <a:rPr lang="en-US" sz="1300" b="1" dirty="0">
                <a:solidFill>
                  <a:srgbClr val="B45309"/>
                </a:solidFill>
              </a:rPr>
              <a:t>3 · REPEAT</a:t>
            </a:r>
            <a:endParaRPr lang="en-US" sz="1300" dirty="0"/>
          </a:p>
          <a:p>
            <a:pPr algn="l" indent="0" marL="0">
              <a:spcAft>
                <a:spcPts val="800"/>
              </a:spcAft>
              <a:buNone/>
            </a:pPr>
            <a:r>
              <a:rPr lang="en-US" sz="2200" b="1" dirty="0">
                <a:solidFill>
                  <a:srgbClr val="0F1A2B"/>
                </a:solidFill>
              </a:rPr>
              <a:t>4 heads</a:t>
            </a:r>
            <a:endParaRPr lang="en-US" sz="1300" dirty="0"/>
          </a:p>
          <a:p>
            <a:pPr algn="l" indent="0" marL="0">
              <a:buNone/>
            </a:pPr>
            <a:r>
              <a:rPr lang="en-US" sz="1700" dirty="0">
                <a:solidFill>
                  <a:srgbClr val="4A5568"/>
                </a:solidFill>
              </a:rPr>
              <a:t>Four attention heads run in parallel, 32 numbers each, so the model can look for four kinds of pattern at once.</a:t>
            </a:r>
            <a:endParaRPr lang="en-US" sz="1300" dirty="0"/>
          </a:p>
        </p:txBody>
      </p:sp>
      <p:sp>
        <p:nvSpPr>
          <p:cNvPr id="9" name="Text 7"/>
          <p:cNvSpPr txBox="1"/>
          <p:nvPr/>
        </p:nvSpPr>
        <p:spPr>
          <a:xfrm>
            <a:off x="731520" y="5212080"/>
            <a:ext cx="10725912" cy="822960"/>
          </a:xfrm>
          <a:prstGeom prst="rect">
            <a:avLst/>
          </a:prstGeom>
          <a:noFill/>
          <a:ln/>
        </p:spPr>
        <p:txBody>
          <a:bodyPr wrap="square" lIns="0" tIns="0" rIns="0" bIns="0" rtlCol="0" anchor="t"/>
          <a:lstStyle/>
          <a:p>
            <a:pPr algn="l" indent="0" marL="0">
              <a:buNone/>
            </a:pPr>
            <a:r>
              <a:rPr lang="en-US" sz="2000" b="1" dirty="0">
                <a:solidFill>
                  <a:srgbClr val="0F1A2B"/>
                </a:solidFill>
              </a:rPr>
              <a:t>Why it suits signs: the start, the middle and the end of a gesture are related directly, however far apart they are.</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725912" cy="822960"/>
          </a:xfrm>
          <a:prstGeom prst="rect">
            <a:avLst/>
          </a:prstGeom>
          <a:noFill/>
          <a:ln/>
        </p:spPr>
        <p:txBody>
          <a:bodyPr wrap="square" lIns="0" tIns="0" rIns="0" bIns="0" rtlCol="0" anchor="ctr"/>
          <a:lstStyle/>
          <a:p>
            <a:pPr algn="l" indent="0" marL="0">
              <a:buNone/>
            </a:pPr>
            <a:r>
              <a:rPr lang="en-US" sz="3600" b="1" dirty="0">
                <a:solidFill>
                  <a:srgbClr val="0F1A2B"/>
                </a:solidFill>
              </a:rPr>
              <a:t>Inside one encoder layer (there are 3)</a:t>
            </a:r>
            <a:endParaRPr lang="en-US" sz="3600" dirty="0"/>
          </a:p>
        </p:txBody>
      </p:sp>
      <p:sp>
        <p:nvSpPr>
          <p:cNvPr id="3" name="sub-1"/>
          <p:cNvSpPr/>
          <p:nvPr/>
        </p:nvSpPr>
        <p:spPr>
          <a:xfrm>
            <a:off x="731520" y="1554480"/>
            <a:ext cx="10725912" cy="1783080"/>
          </a:xfrm>
          <a:prstGeom prst="roundRect">
            <a:avLst>
              <a:gd name="adj" fmla="val 6154"/>
            </a:avLst>
          </a:prstGeom>
          <a:solidFill>
            <a:srgbClr val="FFFFFF"/>
          </a:solidFill>
          <a:ln w="12700">
            <a:solidFill>
              <a:srgbClr val="D5DAE0"/>
            </a:solidFill>
            <a:prstDash val="solid"/>
          </a:ln>
        </p:spPr>
      </p:sp>
      <p:sp>
        <p:nvSpPr>
          <p:cNvPr id="4" name="Text 2"/>
          <p:cNvSpPr txBox="1"/>
          <p:nvPr/>
        </p:nvSpPr>
        <p:spPr>
          <a:xfrm>
            <a:off x="1005840" y="1691640"/>
            <a:ext cx="9144000" cy="365760"/>
          </a:xfrm>
          <a:prstGeom prst="rect">
            <a:avLst/>
          </a:prstGeom>
          <a:noFill/>
          <a:ln/>
        </p:spPr>
        <p:txBody>
          <a:bodyPr wrap="square" lIns="0" tIns="0" rIns="0" bIns="0" rtlCol="0" anchor="t"/>
          <a:lstStyle/>
          <a:p>
            <a:pPr algn="l" indent="0" marL="0">
              <a:buNone/>
            </a:pPr>
            <a:r>
              <a:rPr lang="en-US" sz="2000" b="1" dirty="0">
                <a:solidFill>
                  <a:srgbClr val="0F1A2B"/>
                </a:solidFill>
              </a:rPr>
              <a:t>Sub-block 1: look at the other frames</a:t>
            </a:r>
            <a:endParaRPr lang="en-US" sz="2000" dirty="0"/>
          </a:p>
        </p:txBody>
      </p:sp>
      <p:sp>
        <p:nvSpPr>
          <p:cNvPr id="5" name="attn-1"/>
          <p:cNvSpPr/>
          <p:nvPr/>
        </p:nvSpPr>
        <p:spPr>
          <a:xfrm>
            <a:off x="1005840" y="2331720"/>
            <a:ext cx="2194560" cy="777240"/>
          </a:xfrm>
          <a:prstGeom prst="roundRect">
            <a:avLst>
              <a:gd name="adj" fmla="val 11765"/>
            </a:avLst>
          </a:prstGeom>
          <a:solidFill>
            <a:srgbClr val="E6E9EE"/>
          </a:solidFill>
          <a:ln/>
        </p:spPr>
      </p:sp>
      <p:sp>
        <p:nvSpPr>
          <p:cNvPr id="6" name="Text 4"/>
          <p:cNvSpPr txBox="1"/>
          <p:nvPr/>
        </p:nvSpPr>
        <p:spPr>
          <a:xfrm>
            <a:off x="1143000" y="2331720"/>
            <a:ext cx="1920240" cy="777240"/>
          </a:xfrm>
          <a:prstGeom prst="rect">
            <a:avLst/>
          </a:prstGeom>
          <a:noFill/>
          <a:ln/>
        </p:spPr>
        <p:txBody>
          <a:bodyPr wrap="square" lIns="0" tIns="0" rIns="0" bIns="0" rtlCol="0" anchor="ctr"/>
          <a:lstStyle/>
          <a:p>
            <a:pPr algn="l" indent="0" marL="0">
              <a:buNone/>
            </a:pPr>
            <a:r>
              <a:rPr lang="en-US" sz="1600" dirty="0">
                <a:solidFill>
                  <a:srgbClr val="0F1A2B"/>
                </a:solidFill>
              </a:rPr>
              <a:t>LayerNorm</a:t>
            </a:r>
            <a:endParaRPr lang="en-US" sz="1600" dirty="0"/>
          </a:p>
        </p:txBody>
      </p:sp>
      <p:sp>
        <p:nvSpPr>
          <p:cNvPr id="7" name="Shape 5"/>
          <p:cNvSpPr/>
          <p:nvPr/>
        </p:nvSpPr>
        <p:spPr>
          <a:xfrm>
            <a:off x="3291840" y="2720340"/>
            <a:ext cx="790956" cy="0"/>
          </a:xfrm>
          <a:prstGeom prst="line">
            <a:avLst/>
          </a:prstGeom>
          <a:noFill/>
          <a:ln w="28575">
            <a:solidFill>
              <a:srgbClr val="0F766E"/>
            </a:solidFill>
            <a:prstDash val="solid"/>
            <a:tailEnd type="triangle"/>
          </a:ln>
        </p:spPr>
      </p:sp>
      <p:sp>
        <p:nvSpPr>
          <p:cNvPr id="8" name="attn-2"/>
          <p:cNvSpPr/>
          <p:nvPr/>
        </p:nvSpPr>
        <p:spPr>
          <a:xfrm>
            <a:off x="4174236" y="2331720"/>
            <a:ext cx="3840480" cy="777240"/>
          </a:xfrm>
          <a:prstGeom prst="roundRect">
            <a:avLst>
              <a:gd name="adj" fmla="val 11765"/>
            </a:avLst>
          </a:prstGeom>
          <a:solidFill>
            <a:srgbClr val="F8E6C8"/>
          </a:solidFill>
          <a:ln/>
        </p:spPr>
      </p:sp>
      <p:sp>
        <p:nvSpPr>
          <p:cNvPr id="9" name="Text 7"/>
          <p:cNvSpPr txBox="1"/>
          <p:nvPr/>
        </p:nvSpPr>
        <p:spPr>
          <a:xfrm>
            <a:off x="4311396" y="2331720"/>
            <a:ext cx="3566160" cy="777240"/>
          </a:xfrm>
          <a:prstGeom prst="rect">
            <a:avLst/>
          </a:prstGeom>
          <a:noFill/>
          <a:ln/>
        </p:spPr>
        <p:txBody>
          <a:bodyPr wrap="square" lIns="0" tIns="0" rIns="0" bIns="0" rtlCol="0" anchor="ctr"/>
          <a:lstStyle/>
          <a:p>
            <a:pPr algn="l" indent="0" marL="0">
              <a:buNone/>
            </a:pPr>
            <a:r>
              <a:rPr lang="en-US" sz="1600" b="1" dirty="0">
                <a:solidFill>
                  <a:srgbClr val="0F1A2B"/>
                </a:solidFill>
              </a:rPr>
              <a:t>Multi-head self-attention</a:t>
            </a:r>
            <a:endParaRPr lang="en-US" sz="1600" dirty="0"/>
          </a:p>
          <a:p>
            <a:pPr algn="l" indent="0" marL="0">
              <a:buNone/>
            </a:pPr>
            <a:r>
              <a:rPr lang="en-US" sz="1600" dirty="0">
                <a:solidFill>
                  <a:srgbClr val="0F1A2B"/>
                </a:solidFill>
              </a:rPr>
              <a:t>4 heads × 32 numbers</a:t>
            </a:r>
            <a:endParaRPr lang="en-US" sz="1600" dirty="0"/>
          </a:p>
        </p:txBody>
      </p:sp>
      <p:sp>
        <p:nvSpPr>
          <p:cNvPr id="10" name="Shape 8"/>
          <p:cNvSpPr/>
          <p:nvPr/>
        </p:nvSpPr>
        <p:spPr>
          <a:xfrm>
            <a:off x="8106156" y="2720340"/>
            <a:ext cx="790956" cy="0"/>
          </a:xfrm>
          <a:prstGeom prst="line">
            <a:avLst/>
          </a:prstGeom>
          <a:noFill/>
          <a:ln w="28575">
            <a:solidFill>
              <a:srgbClr val="0F766E"/>
            </a:solidFill>
            <a:prstDash val="solid"/>
            <a:tailEnd type="triangle"/>
          </a:ln>
        </p:spPr>
      </p:sp>
      <p:sp>
        <p:nvSpPr>
          <p:cNvPr id="11" name="attn-3"/>
          <p:cNvSpPr/>
          <p:nvPr/>
        </p:nvSpPr>
        <p:spPr>
          <a:xfrm>
            <a:off x="8988552" y="2331720"/>
            <a:ext cx="2194560" cy="777240"/>
          </a:xfrm>
          <a:prstGeom prst="roundRect">
            <a:avLst>
              <a:gd name="adj" fmla="val 11765"/>
            </a:avLst>
          </a:prstGeom>
          <a:solidFill>
            <a:srgbClr val="DCEEEB"/>
          </a:solidFill>
          <a:ln/>
        </p:spPr>
      </p:sp>
      <p:sp>
        <p:nvSpPr>
          <p:cNvPr id="12" name="Text 10"/>
          <p:cNvSpPr txBox="1"/>
          <p:nvPr/>
        </p:nvSpPr>
        <p:spPr>
          <a:xfrm>
            <a:off x="9125712" y="2331720"/>
            <a:ext cx="1920240" cy="777240"/>
          </a:xfrm>
          <a:prstGeom prst="rect">
            <a:avLst/>
          </a:prstGeom>
          <a:noFill/>
          <a:ln/>
        </p:spPr>
        <p:txBody>
          <a:bodyPr wrap="square" lIns="0" tIns="0" rIns="0" bIns="0" rtlCol="0" anchor="ctr"/>
          <a:lstStyle/>
          <a:p>
            <a:pPr algn="l" indent="0" marL="0">
              <a:buNone/>
            </a:pPr>
            <a:r>
              <a:rPr lang="en-US" sz="1600" dirty="0">
                <a:solidFill>
                  <a:srgbClr val="0F1A2B"/>
                </a:solidFill>
              </a:rPr>
              <a:t>Add the input back</a:t>
            </a:r>
            <a:endParaRPr lang="en-US" sz="1600" dirty="0"/>
          </a:p>
        </p:txBody>
      </p:sp>
      <p:sp>
        <p:nvSpPr>
          <p:cNvPr id="13" name="sub-2"/>
          <p:cNvSpPr/>
          <p:nvPr/>
        </p:nvSpPr>
        <p:spPr>
          <a:xfrm>
            <a:off x="731520" y="3520440"/>
            <a:ext cx="10725912" cy="1783080"/>
          </a:xfrm>
          <a:prstGeom prst="roundRect">
            <a:avLst>
              <a:gd name="adj" fmla="val 6154"/>
            </a:avLst>
          </a:prstGeom>
          <a:solidFill>
            <a:srgbClr val="FFFFFF"/>
          </a:solidFill>
          <a:ln w="12700">
            <a:solidFill>
              <a:srgbClr val="D5DAE0"/>
            </a:solidFill>
            <a:prstDash val="solid"/>
          </a:ln>
        </p:spPr>
      </p:sp>
      <p:sp>
        <p:nvSpPr>
          <p:cNvPr id="14" name="Text 12"/>
          <p:cNvSpPr txBox="1"/>
          <p:nvPr/>
        </p:nvSpPr>
        <p:spPr>
          <a:xfrm>
            <a:off x="1005840" y="3657600"/>
            <a:ext cx="9144000" cy="365760"/>
          </a:xfrm>
          <a:prstGeom prst="rect">
            <a:avLst/>
          </a:prstGeom>
          <a:noFill/>
          <a:ln/>
        </p:spPr>
        <p:txBody>
          <a:bodyPr wrap="square" lIns="0" tIns="0" rIns="0" bIns="0" rtlCol="0" anchor="t"/>
          <a:lstStyle/>
          <a:p>
            <a:pPr algn="l" indent="0" marL="0">
              <a:buNone/>
            </a:pPr>
            <a:r>
              <a:rPr lang="en-US" sz="2000" b="1" dirty="0">
                <a:solidFill>
                  <a:srgbClr val="0F1A2B"/>
                </a:solidFill>
              </a:rPr>
              <a:t>Sub-block 2: the feed-forward hidden layer</a:t>
            </a:r>
            <a:endParaRPr lang="en-US" sz="2000" dirty="0"/>
          </a:p>
        </p:txBody>
      </p:sp>
      <p:sp>
        <p:nvSpPr>
          <p:cNvPr id="15" name="ffn-1"/>
          <p:cNvSpPr/>
          <p:nvPr/>
        </p:nvSpPr>
        <p:spPr>
          <a:xfrm>
            <a:off x="1005840" y="4297680"/>
            <a:ext cx="1828800" cy="777240"/>
          </a:xfrm>
          <a:prstGeom prst="roundRect">
            <a:avLst>
              <a:gd name="adj" fmla="val 11765"/>
            </a:avLst>
          </a:prstGeom>
          <a:solidFill>
            <a:srgbClr val="E6E9EE"/>
          </a:solidFill>
          <a:ln/>
        </p:spPr>
      </p:sp>
      <p:sp>
        <p:nvSpPr>
          <p:cNvPr id="16" name="Text 14"/>
          <p:cNvSpPr txBox="1"/>
          <p:nvPr/>
        </p:nvSpPr>
        <p:spPr>
          <a:xfrm>
            <a:off x="1143000" y="4297680"/>
            <a:ext cx="1554480" cy="777240"/>
          </a:xfrm>
          <a:prstGeom prst="rect">
            <a:avLst/>
          </a:prstGeom>
          <a:noFill/>
          <a:ln/>
        </p:spPr>
        <p:txBody>
          <a:bodyPr wrap="square" lIns="0" tIns="0" rIns="0" bIns="0" rtlCol="0" anchor="ctr"/>
          <a:lstStyle/>
          <a:p>
            <a:pPr algn="l" indent="0" marL="0">
              <a:buNone/>
            </a:pPr>
            <a:r>
              <a:rPr lang="en-US" sz="1600" dirty="0">
                <a:solidFill>
                  <a:srgbClr val="0F1A2B"/>
                </a:solidFill>
              </a:rPr>
              <a:t>LayerNorm</a:t>
            </a:r>
            <a:endParaRPr lang="en-US" sz="1600" dirty="0"/>
          </a:p>
        </p:txBody>
      </p:sp>
      <p:sp>
        <p:nvSpPr>
          <p:cNvPr id="17" name="Shape 15"/>
          <p:cNvSpPr/>
          <p:nvPr/>
        </p:nvSpPr>
        <p:spPr>
          <a:xfrm>
            <a:off x="2926080" y="4686300"/>
            <a:ext cx="344424" cy="0"/>
          </a:xfrm>
          <a:prstGeom prst="line">
            <a:avLst/>
          </a:prstGeom>
          <a:noFill/>
          <a:ln w="28575">
            <a:solidFill>
              <a:srgbClr val="0F766E"/>
            </a:solidFill>
            <a:prstDash val="solid"/>
            <a:tailEnd type="triangle"/>
          </a:ln>
        </p:spPr>
      </p:sp>
      <p:sp>
        <p:nvSpPr>
          <p:cNvPr id="18" name="ffn-2"/>
          <p:cNvSpPr/>
          <p:nvPr/>
        </p:nvSpPr>
        <p:spPr>
          <a:xfrm>
            <a:off x="3361944" y="4297680"/>
            <a:ext cx="2377440" cy="777240"/>
          </a:xfrm>
          <a:prstGeom prst="roundRect">
            <a:avLst>
              <a:gd name="adj" fmla="val 11765"/>
            </a:avLst>
          </a:prstGeom>
          <a:solidFill>
            <a:srgbClr val="F8E6C8"/>
          </a:solidFill>
          <a:ln/>
        </p:spPr>
      </p:sp>
      <p:sp>
        <p:nvSpPr>
          <p:cNvPr id="19" name="Text 17"/>
          <p:cNvSpPr txBox="1"/>
          <p:nvPr/>
        </p:nvSpPr>
        <p:spPr>
          <a:xfrm>
            <a:off x="3499104" y="4297680"/>
            <a:ext cx="2103120" cy="777240"/>
          </a:xfrm>
          <a:prstGeom prst="rect">
            <a:avLst/>
          </a:prstGeom>
          <a:noFill/>
          <a:ln/>
        </p:spPr>
        <p:txBody>
          <a:bodyPr wrap="square" lIns="0" tIns="0" rIns="0" bIns="0" rtlCol="0" anchor="ctr"/>
          <a:lstStyle/>
          <a:p>
            <a:pPr algn="l" indent="0" marL="0">
              <a:buNone/>
            </a:pPr>
            <a:r>
              <a:rPr lang="en-US" sz="1600" b="1" dirty="0">
                <a:solidFill>
                  <a:srgbClr val="0F1A2B"/>
                </a:solidFill>
              </a:rPr>
              <a:t>Linear 128 → 256</a:t>
            </a:r>
            <a:endParaRPr lang="en-US" sz="1600" dirty="0"/>
          </a:p>
          <a:p>
            <a:pPr algn="l" indent="0" marL="0">
              <a:buNone/>
            </a:pPr>
            <a:r>
              <a:rPr lang="en-US" sz="1600" dirty="0">
                <a:solidFill>
                  <a:srgbClr val="0F1A2B"/>
                </a:solidFill>
              </a:rPr>
              <a:t>+ ReLU</a:t>
            </a:r>
            <a:endParaRPr lang="en-US" sz="1600" dirty="0"/>
          </a:p>
        </p:txBody>
      </p:sp>
      <p:sp>
        <p:nvSpPr>
          <p:cNvPr id="20" name="Shape 18"/>
          <p:cNvSpPr/>
          <p:nvPr/>
        </p:nvSpPr>
        <p:spPr>
          <a:xfrm>
            <a:off x="5830824" y="4686300"/>
            <a:ext cx="344424" cy="0"/>
          </a:xfrm>
          <a:prstGeom prst="line">
            <a:avLst/>
          </a:prstGeom>
          <a:noFill/>
          <a:ln w="28575">
            <a:solidFill>
              <a:srgbClr val="0F766E"/>
            </a:solidFill>
            <a:prstDash val="solid"/>
            <a:tailEnd type="triangle"/>
          </a:ln>
        </p:spPr>
      </p:sp>
      <p:sp>
        <p:nvSpPr>
          <p:cNvPr id="21" name="ffn-3"/>
          <p:cNvSpPr/>
          <p:nvPr/>
        </p:nvSpPr>
        <p:spPr>
          <a:xfrm>
            <a:off x="6266688" y="4297680"/>
            <a:ext cx="2377440" cy="777240"/>
          </a:xfrm>
          <a:prstGeom prst="roundRect">
            <a:avLst>
              <a:gd name="adj" fmla="val 11765"/>
            </a:avLst>
          </a:prstGeom>
          <a:solidFill>
            <a:srgbClr val="F8E6C8"/>
          </a:solidFill>
          <a:ln/>
        </p:spPr>
      </p:sp>
      <p:sp>
        <p:nvSpPr>
          <p:cNvPr id="22" name="Text 20"/>
          <p:cNvSpPr txBox="1"/>
          <p:nvPr/>
        </p:nvSpPr>
        <p:spPr>
          <a:xfrm>
            <a:off x="6403848" y="4297680"/>
            <a:ext cx="2103120" cy="777240"/>
          </a:xfrm>
          <a:prstGeom prst="rect">
            <a:avLst/>
          </a:prstGeom>
          <a:noFill/>
          <a:ln/>
        </p:spPr>
        <p:txBody>
          <a:bodyPr wrap="square" lIns="0" tIns="0" rIns="0" bIns="0" rtlCol="0" anchor="ctr"/>
          <a:lstStyle/>
          <a:p>
            <a:pPr algn="l" indent="0" marL="0">
              <a:buNone/>
            </a:pPr>
            <a:r>
              <a:rPr lang="en-US" sz="1600" b="1" dirty="0">
                <a:solidFill>
                  <a:srgbClr val="0F1A2B"/>
                </a:solidFill>
              </a:rPr>
              <a:t>Linear 256 → 128</a:t>
            </a:r>
            <a:endParaRPr lang="en-US" sz="1600" dirty="0"/>
          </a:p>
        </p:txBody>
      </p:sp>
      <p:sp>
        <p:nvSpPr>
          <p:cNvPr id="23" name="Shape 21"/>
          <p:cNvSpPr/>
          <p:nvPr/>
        </p:nvSpPr>
        <p:spPr>
          <a:xfrm>
            <a:off x="8735568" y="4686300"/>
            <a:ext cx="344424" cy="0"/>
          </a:xfrm>
          <a:prstGeom prst="line">
            <a:avLst/>
          </a:prstGeom>
          <a:noFill/>
          <a:ln w="28575">
            <a:solidFill>
              <a:srgbClr val="0F766E"/>
            </a:solidFill>
            <a:prstDash val="solid"/>
            <a:tailEnd type="triangle"/>
          </a:ln>
        </p:spPr>
      </p:sp>
      <p:sp>
        <p:nvSpPr>
          <p:cNvPr id="24" name="ffn-4"/>
          <p:cNvSpPr/>
          <p:nvPr/>
        </p:nvSpPr>
        <p:spPr>
          <a:xfrm>
            <a:off x="9171432" y="4297680"/>
            <a:ext cx="2011680" cy="777240"/>
          </a:xfrm>
          <a:prstGeom prst="roundRect">
            <a:avLst>
              <a:gd name="adj" fmla="val 11765"/>
            </a:avLst>
          </a:prstGeom>
          <a:solidFill>
            <a:srgbClr val="DCEEEB"/>
          </a:solidFill>
          <a:ln/>
        </p:spPr>
      </p:sp>
      <p:sp>
        <p:nvSpPr>
          <p:cNvPr id="25" name="Text 23"/>
          <p:cNvSpPr txBox="1"/>
          <p:nvPr/>
        </p:nvSpPr>
        <p:spPr>
          <a:xfrm>
            <a:off x="9308592" y="4297680"/>
            <a:ext cx="1737360" cy="777240"/>
          </a:xfrm>
          <a:prstGeom prst="rect">
            <a:avLst/>
          </a:prstGeom>
          <a:noFill/>
          <a:ln/>
        </p:spPr>
        <p:txBody>
          <a:bodyPr wrap="square" lIns="0" tIns="0" rIns="0" bIns="0" rtlCol="0" anchor="ctr"/>
          <a:lstStyle/>
          <a:p>
            <a:pPr algn="l" indent="0" marL="0">
              <a:buNone/>
            </a:pPr>
            <a:r>
              <a:rPr lang="en-US" sz="1600" dirty="0">
                <a:solidFill>
                  <a:srgbClr val="0F1A2B"/>
                </a:solidFill>
              </a:rPr>
              <a:t>Add the input back</a:t>
            </a:r>
            <a:endParaRPr lang="en-US" sz="1600" dirty="0"/>
          </a:p>
        </p:txBody>
      </p:sp>
      <p:sp>
        <p:nvSpPr>
          <p:cNvPr id="26" name="Text 24"/>
          <p:cNvSpPr txBox="1"/>
          <p:nvPr/>
        </p:nvSpPr>
        <p:spPr>
          <a:xfrm>
            <a:off x="731520" y="5532120"/>
            <a:ext cx="10725912" cy="731520"/>
          </a:xfrm>
          <a:prstGeom prst="rect">
            <a:avLst/>
          </a:prstGeom>
          <a:noFill/>
          <a:ln/>
        </p:spPr>
        <p:txBody>
          <a:bodyPr wrap="square" lIns="0" tIns="0" rIns="0" bIns="0" rtlCol="0" anchor="t"/>
          <a:lstStyle/>
          <a:p>
            <a:pPr algn="l" indent="0" marL="0">
              <a:buNone/>
            </a:pPr>
            <a:r>
              <a:rPr lang="en-US" sz="1500" dirty="0">
                <a:solidFill>
                  <a:srgbClr val="4A5568"/>
                </a:solidFill>
              </a:rPr>
              <a:t>“Add the input back” is a residual connection. Dropout 0.2 is used inside each block. One layer has about 132,000 parameters; three layers hold about 397,000 of the model’s 440,000.</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725912" cy="822960"/>
          </a:xfrm>
          <a:prstGeom prst="rect">
            <a:avLst/>
          </a:prstGeom>
          <a:noFill/>
          <a:ln/>
        </p:spPr>
        <p:txBody>
          <a:bodyPr wrap="square" lIns="0" tIns="0" rIns="0" bIns="0" rtlCol="0" anchor="ctr"/>
          <a:lstStyle/>
          <a:p>
            <a:pPr algn="l" indent="0" marL="0">
              <a:buNone/>
            </a:pPr>
            <a:r>
              <a:rPr lang="en-US" sz="3600" b="1" dirty="0">
                <a:solidFill>
                  <a:srgbClr val="0F1A2B"/>
                </a:solidFill>
              </a:rPr>
              <a:t>The data behind the word models</a:t>
            </a:r>
            <a:endParaRPr lang="en-US" sz="3600" dirty="0"/>
          </a:p>
        </p:txBody>
      </p:sp>
      <p:sp>
        <p:nvSpPr>
          <p:cNvPr id="3" name="data-asl"/>
          <p:cNvSpPr/>
          <p:nvPr/>
        </p:nvSpPr>
        <p:spPr>
          <a:xfrm>
            <a:off x="731520" y="1645920"/>
            <a:ext cx="5257800" cy="4206240"/>
          </a:xfrm>
          <a:prstGeom prst="roundRect">
            <a:avLst>
              <a:gd name="adj" fmla="val 2609"/>
            </a:avLst>
          </a:prstGeom>
          <a:solidFill>
            <a:srgbClr val="DCEEEB"/>
          </a:solidFill>
          <a:ln/>
        </p:spPr>
      </p:sp>
      <p:sp>
        <p:nvSpPr>
          <p:cNvPr id="4" name="Text 2"/>
          <p:cNvSpPr txBox="1"/>
          <p:nvPr/>
        </p:nvSpPr>
        <p:spPr>
          <a:xfrm>
            <a:off x="1005840" y="1874520"/>
            <a:ext cx="4709160" cy="3840480"/>
          </a:xfrm>
          <a:prstGeom prst="rect">
            <a:avLst/>
          </a:prstGeom>
          <a:noFill/>
          <a:ln/>
        </p:spPr>
        <p:txBody>
          <a:bodyPr wrap="square" lIns="0" tIns="0" rIns="0" bIns="0" rtlCol="0" anchor="t"/>
          <a:lstStyle/>
          <a:p>
            <a:pPr algn="l" indent="0" marL="0">
              <a:spcAft>
                <a:spcPts val="1200"/>
              </a:spcAft>
              <a:buNone/>
            </a:pPr>
            <a:r>
              <a:rPr lang="en-US" sz="2600" b="1" dirty="0">
                <a:solidFill>
                  <a:srgbClr val="0F1A2B"/>
                </a:solidFill>
              </a:rPr>
              <a:t>ASL words</a:t>
            </a:r>
            <a:endParaRPr lang="en-US" sz="2600" dirty="0"/>
          </a:p>
          <a:p>
            <a:pPr algn="l" marL="342900" indent="-342900">
              <a:spcAft>
                <a:spcPts val="1000"/>
              </a:spcAft>
              <a:buSzPct val="100000"/>
              <a:buChar char="•"/>
            </a:pPr>
            <a:r>
              <a:rPr lang="en-US" sz="1700" dirty="0">
                <a:solidFill>
                  <a:srgbClr val="0F1A2B"/>
                </a:solidFill>
              </a:rPr>
              <a:t>Google “Isolated Sign Language Recognition” (asl-signs), already stored as landmarks</a:t>
            </a:r>
            <a:endParaRPr lang="en-US" sz="2600" dirty="0"/>
          </a:p>
          <a:p>
            <a:pPr algn="l" marL="342900" indent="-342900">
              <a:spcAft>
                <a:spcPts val="1000"/>
              </a:spcAft>
              <a:buSzPct val="100000"/>
              <a:buChar char="•"/>
            </a:pPr>
            <a:r>
              <a:rPr lang="en-US" sz="1700" dirty="0">
                <a:solidFill>
                  <a:srgbClr val="0F1A2B"/>
                </a:solidFill>
              </a:rPr>
              <a:t>25 words chosen, 23 found in its vocabulary</a:t>
            </a:r>
            <a:endParaRPr lang="en-US" sz="2600" dirty="0"/>
          </a:p>
          <a:p>
            <a:pPr algn="l" marL="342900" indent="-342900">
              <a:spcAft>
                <a:spcPts val="1000"/>
              </a:spcAft>
              <a:buSzPct val="100000"/>
              <a:buChar char="•"/>
            </a:pPr>
            <a:r>
              <a:rPr lang="en-US" sz="1700" dirty="0">
                <a:solidFill>
                  <a:srgbClr val="0F1A2B"/>
                </a:solidFill>
              </a:rPr>
              <a:t>Up to 300 clips per word</a:t>
            </a:r>
            <a:endParaRPr lang="en-US" sz="2600" dirty="0"/>
          </a:p>
          <a:p>
            <a:pPr algn="l" marL="342900" indent="-342900">
              <a:spcAft>
                <a:spcPts val="1000"/>
              </a:spcAft>
              <a:buSzPct val="100000"/>
              <a:buChar char="•"/>
            </a:pPr>
            <a:r>
              <a:rPr lang="en-US" sz="1700" dirty="0">
                <a:solidFill>
                  <a:srgbClr val="0F1A2B"/>
                </a:solidFill>
              </a:rPr>
              <a:t>Split by signer, so the test set holds people the model never saw</a:t>
            </a:r>
            <a:endParaRPr lang="en-US" sz="2600" dirty="0"/>
          </a:p>
        </p:txBody>
      </p:sp>
      <p:sp>
        <p:nvSpPr>
          <p:cNvPr id="5" name="data-isl"/>
          <p:cNvSpPr/>
          <p:nvPr/>
        </p:nvSpPr>
        <p:spPr>
          <a:xfrm>
            <a:off x="6199632" y="1645920"/>
            <a:ext cx="5257800" cy="4206240"/>
          </a:xfrm>
          <a:prstGeom prst="roundRect">
            <a:avLst>
              <a:gd name="adj" fmla="val 2609"/>
            </a:avLst>
          </a:prstGeom>
          <a:solidFill>
            <a:srgbClr val="F8E6C8"/>
          </a:solidFill>
          <a:ln/>
        </p:spPr>
      </p:sp>
      <p:sp>
        <p:nvSpPr>
          <p:cNvPr id="6" name="Text 4"/>
          <p:cNvSpPr txBox="1"/>
          <p:nvPr/>
        </p:nvSpPr>
        <p:spPr>
          <a:xfrm>
            <a:off x="6473952" y="1874520"/>
            <a:ext cx="4709160" cy="3840480"/>
          </a:xfrm>
          <a:prstGeom prst="rect">
            <a:avLst/>
          </a:prstGeom>
          <a:noFill/>
          <a:ln/>
        </p:spPr>
        <p:txBody>
          <a:bodyPr wrap="square" lIns="0" tIns="0" rIns="0" bIns="0" rtlCol="0" anchor="t"/>
          <a:lstStyle/>
          <a:p>
            <a:pPr algn="l" indent="0" marL="0">
              <a:spcAft>
                <a:spcPts val="1200"/>
              </a:spcAft>
              <a:buNone/>
            </a:pPr>
            <a:r>
              <a:rPr lang="en-US" sz="2600" b="1" dirty="0">
                <a:solidFill>
                  <a:srgbClr val="0F1A2B"/>
                </a:solidFill>
              </a:rPr>
              <a:t>ISL words</a:t>
            </a:r>
            <a:endParaRPr lang="en-US" sz="2600" dirty="0"/>
          </a:p>
          <a:p>
            <a:pPr algn="l" marL="342900" indent="-342900">
              <a:spcAft>
                <a:spcPts val="1000"/>
              </a:spcAft>
              <a:buSzPct val="100000"/>
              <a:buChar char="•"/>
            </a:pPr>
            <a:r>
              <a:rPr lang="en-US" sz="1700" dirty="0">
                <a:solidFill>
                  <a:srgbClr val="0F1A2B"/>
                </a:solidFill>
              </a:rPr>
              <a:t>INCLUDE dataset (AI4Bharat), the INCLUDE-50 subset: 51 word labels in our model</a:t>
            </a:r>
            <a:endParaRPr lang="en-US" sz="2600" dirty="0"/>
          </a:p>
          <a:p>
            <a:pPr algn="l" marL="342900" indent="-342900">
              <a:spcAft>
                <a:spcPts val="1000"/>
              </a:spcAft>
              <a:buSzPct val="100000"/>
              <a:buChar char="•"/>
            </a:pPr>
            <a:r>
              <a:rPr lang="en-US" sz="1700" dirty="0">
                <a:solidFill>
                  <a:srgbClr val="0F1A2B"/>
                </a:solidFill>
              </a:rPr>
              <a:t>Videos streamed from Zenodo one at a time; MediaPipe runs on each, then the video is deleted</a:t>
            </a:r>
            <a:endParaRPr lang="en-US" sz="2600" dirty="0"/>
          </a:p>
          <a:p>
            <a:pPr algn="l" marL="342900" indent="-342900">
              <a:spcAft>
                <a:spcPts val="1000"/>
              </a:spcAft>
              <a:buSzPct val="100000"/>
              <a:buChar char="•"/>
            </a:pPr>
            <a:r>
              <a:rPr lang="en-US" sz="1700" dirty="0">
                <a:solidFill>
                  <a:srgbClr val="0F1A2B"/>
                </a:solidFill>
              </a:rPr>
              <a:t>Every second frame is kept</a:t>
            </a:r>
            <a:endParaRPr lang="en-US" sz="2600" dirty="0"/>
          </a:p>
          <a:p>
            <a:pPr algn="l" marL="342900" indent="-342900">
              <a:spcAft>
                <a:spcPts val="1000"/>
              </a:spcAft>
              <a:buSzPct val="100000"/>
              <a:buChar char="•"/>
            </a:pPr>
            <a:r>
              <a:rPr lang="en-US" sz="1700" dirty="0">
                <a:solidFill>
                  <a:srgbClr val="0F1A2B"/>
                </a:solidFill>
              </a:rPr>
              <a:t>Official train, validation and test lists</a:t>
            </a:r>
            <a:endParaRPr lang="en-US" sz="2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725912" cy="822960"/>
          </a:xfrm>
          <a:prstGeom prst="rect">
            <a:avLst/>
          </a:prstGeom>
          <a:noFill/>
          <a:ln/>
        </p:spPr>
        <p:txBody>
          <a:bodyPr wrap="square" lIns="0" tIns="0" rIns="0" bIns="0" rtlCol="0" anchor="ctr"/>
          <a:lstStyle/>
          <a:p>
            <a:pPr algn="l" indent="0" marL="0">
              <a:buNone/>
            </a:pPr>
            <a:r>
              <a:rPr lang="en-US" sz="3600" b="1" dirty="0">
                <a:solidFill>
                  <a:srgbClr val="0F1A2B"/>
                </a:solidFill>
              </a:rPr>
              <a:t>How the word transformer is trained</a:t>
            </a:r>
            <a:endParaRPr lang="en-US" sz="3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731520" y="1645920"/>
          <a:ext cx="6766560" cy="914400"/>
        </p:xfrm>
        <a:graphic>
          <a:graphicData uri="http://schemas.openxmlformats.org/drawingml/2006/table">
            <a:tbl>
              <a:tblPr/>
              <a:tblGrid>
                <a:gridCol w="1828800"/>
                <a:gridCol w="4937760"/>
              </a:tblGrid>
              <a:tr h="457200">
                <a:tc>
                  <a:txBody>
                    <a:bodyPr/>
                    <a:lstStyle/>
                    <a:p>
                      <a:pPr indent="0" marL="0">
                        <a:buNone/>
                      </a:pPr>
                      <a:r>
                        <a:rPr lang="en-US" sz="1600" b="1" dirty="0">
                          <a:solidFill>
                            <a:srgbClr val="FFFFFF"/>
                          </a:solidFill>
                        </a:rPr>
                        <a:t>Setting</a:t>
                      </a:r>
                      <a:endParaRPr lang="en-US" sz="1600" dirty="0"/>
                    </a:p>
                  </a:txBody>
                  <a:tcPr marL="109728" marR="109728"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0F1A2B"/>
                    </a:solidFill>
                  </a:tcPr>
                </a:tc>
                <a:tc>
                  <a:txBody>
                    <a:bodyPr/>
                    <a:lstStyle/>
                    <a:p>
                      <a:pPr indent="0" marL="0">
                        <a:buNone/>
                      </a:pPr>
                      <a:r>
                        <a:rPr lang="en-US" sz="1600" b="1" dirty="0">
                          <a:solidFill>
                            <a:srgbClr val="FFFFFF"/>
                          </a:solidFill>
                        </a:rPr>
                        <a:t>Value</a:t>
                      </a:r>
                      <a:endParaRPr lang="en-US" sz="1600" dirty="0"/>
                    </a:p>
                  </a:txBody>
                  <a:tcPr marL="109728" marR="109728"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0F1A2B"/>
                    </a:solidFill>
                  </a:tcPr>
                </a:tc>
              </a:tr>
              <a:tr h="502920">
                <a:tc>
                  <a:txBody>
                    <a:bodyPr/>
                    <a:lstStyle/>
                    <a:p>
                      <a:pPr indent="0" marL="0">
                        <a:buNone/>
                      </a:pPr>
                      <a:r>
                        <a:rPr lang="en-US" sz="1600" dirty="0">
                          <a:solidFill>
                            <a:srgbClr val="0F1A2B"/>
                          </a:solidFill>
                        </a:rPr>
                        <a:t>Model</a:t>
                      </a:r>
                      <a:endParaRPr lang="en-US" sz="1600" dirty="0"/>
                    </a:p>
                  </a:txBody>
                  <a:tcPr marL="109728" marR="109728"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600" dirty="0">
                          <a:solidFill>
                            <a:srgbClr val="0F1A2B"/>
                          </a:solidFill>
                        </a:rPr>
                        <a:t>WordTransformer, about 440,000 parameters</a:t>
                      </a:r>
                      <a:endParaRPr lang="en-US" sz="1600" dirty="0"/>
                    </a:p>
                  </a:txBody>
                  <a:tcPr marL="109728" marR="109728"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502920">
                <a:tc>
                  <a:txBody>
                    <a:bodyPr/>
                    <a:lstStyle/>
                    <a:p>
                      <a:pPr indent="0" marL="0">
                        <a:buNone/>
                      </a:pPr>
                      <a:r>
                        <a:rPr lang="en-US" sz="1600" dirty="0">
                          <a:solidFill>
                            <a:srgbClr val="0F1A2B"/>
                          </a:solidFill>
                        </a:rPr>
                        <a:t>Loss</a:t>
                      </a:r>
                      <a:endParaRPr lang="en-US" sz="1600" dirty="0"/>
                    </a:p>
                  </a:txBody>
                  <a:tcPr marL="109728" marR="109728"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600" dirty="0">
                          <a:solidFill>
                            <a:srgbClr val="0F1A2B"/>
                          </a:solidFill>
                        </a:rPr>
                        <a:t>Cross-entropy, label smoothing 0.1</a:t>
                      </a:r>
                      <a:endParaRPr lang="en-US" sz="1600" dirty="0"/>
                    </a:p>
                  </a:txBody>
                  <a:tcPr marL="109728" marR="109728"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502920">
                <a:tc>
                  <a:txBody>
                    <a:bodyPr/>
                    <a:lstStyle/>
                    <a:p>
                      <a:pPr indent="0" marL="0">
                        <a:buNone/>
                      </a:pPr>
                      <a:r>
                        <a:rPr lang="en-US" sz="1600" dirty="0">
                          <a:solidFill>
                            <a:srgbClr val="0F1A2B"/>
                          </a:solidFill>
                        </a:rPr>
                        <a:t>Optimiser</a:t>
                      </a:r>
                      <a:endParaRPr lang="en-US" sz="1600" dirty="0"/>
                    </a:p>
                  </a:txBody>
                  <a:tcPr marL="109728" marR="109728"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600" dirty="0">
                          <a:solidFill>
                            <a:srgbClr val="0F1A2B"/>
                          </a:solidFill>
                        </a:rPr>
                        <a:t>AdamW · learning rate 2e-3 · weight decay 0.05</a:t>
                      </a:r>
                      <a:endParaRPr lang="en-US" sz="1600" dirty="0"/>
                    </a:p>
                  </a:txBody>
                  <a:tcPr marL="109728" marR="109728"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502920">
                <a:tc>
                  <a:txBody>
                    <a:bodyPr/>
                    <a:lstStyle/>
                    <a:p>
                      <a:pPr indent="0" marL="0">
                        <a:buNone/>
                      </a:pPr>
                      <a:r>
                        <a:rPr lang="en-US" sz="1600" dirty="0">
                          <a:solidFill>
                            <a:srgbClr val="0F1A2B"/>
                          </a:solidFill>
                        </a:rPr>
                        <a:t>Schedule</a:t>
                      </a:r>
                      <a:endParaRPr lang="en-US" sz="1600" dirty="0"/>
                    </a:p>
                  </a:txBody>
                  <a:tcPr marL="109728" marR="109728"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600" dirty="0">
                          <a:solidFill>
                            <a:srgbClr val="0F1A2B"/>
                          </a:solidFill>
                        </a:rPr>
                        <a:t>OneCycle learning rate</a:t>
                      </a:r>
                      <a:endParaRPr lang="en-US" sz="1600" dirty="0"/>
                    </a:p>
                  </a:txBody>
                  <a:tcPr marL="109728" marR="109728"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502920">
                <a:tc>
                  <a:txBody>
                    <a:bodyPr/>
                    <a:lstStyle/>
                    <a:p>
                      <a:pPr indent="0" marL="0">
                        <a:buNone/>
                      </a:pPr>
                      <a:r>
                        <a:rPr lang="en-US" sz="1600" dirty="0">
                          <a:solidFill>
                            <a:srgbClr val="0F1A2B"/>
                          </a:solidFill>
                        </a:rPr>
                        <a:t>Batch · epochs</a:t>
                      </a:r>
                      <a:endParaRPr lang="en-US" sz="1600" dirty="0"/>
                    </a:p>
                  </a:txBody>
                  <a:tcPr marL="109728" marR="109728"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600" dirty="0">
                          <a:solidFill>
                            <a:srgbClr val="0F1A2B"/>
                          </a:solidFill>
                        </a:rPr>
                        <a:t>32 · ASL 60 · ISL 150 (3 seeds)</a:t>
                      </a:r>
                      <a:endParaRPr lang="en-US" sz="1600" dirty="0"/>
                    </a:p>
                  </a:txBody>
                  <a:tcPr marL="109728" marR="109728"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640080">
                <a:tc>
                  <a:txBody>
                    <a:bodyPr/>
                    <a:lstStyle/>
                    <a:p>
                      <a:pPr indent="0" marL="0">
                        <a:buNone/>
                      </a:pPr>
                      <a:r>
                        <a:rPr lang="en-US" sz="1600" dirty="0">
                          <a:solidFill>
                            <a:srgbClr val="0F1A2B"/>
                          </a:solidFill>
                        </a:rPr>
                        <a:t>Best model</a:t>
                      </a:r>
                      <a:endParaRPr lang="en-US" sz="1600" dirty="0"/>
                    </a:p>
                  </a:txBody>
                  <a:tcPr marL="109728" marR="109728"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600" dirty="0">
                          <a:solidFill>
                            <a:srgbClr val="0F1A2B"/>
                          </a:solidFill>
                        </a:rPr>
                        <a:t>Highest validation accuracy, checked every 5 epochs</a:t>
                      </a:r>
                      <a:endParaRPr lang="en-US" sz="1600" dirty="0"/>
                    </a:p>
                  </a:txBody>
                  <a:tcPr marL="109728" marR="109728"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502920">
                <a:tc>
                  <a:txBody>
                    <a:bodyPr/>
                    <a:lstStyle/>
                    <a:p>
                      <a:pPr indent="0" marL="0">
                        <a:buNone/>
                      </a:pPr>
                      <a:r>
                        <a:rPr lang="en-US" sz="1600" dirty="0">
                          <a:solidFill>
                            <a:srgbClr val="0F1A2B"/>
                          </a:solidFill>
                        </a:rPr>
                        <a:t>Dropout</a:t>
                      </a:r>
                      <a:endParaRPr lang="en-US" sz="1600" dirty="0"/>
                    </a:p>
                  </a:txBody>
                  <a:tcPr marL="109728" marR="109728"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600" dirty="0">
                          <a:solidFill>
                            <a:srgbClr val="0F1A2B"/>
                          </a:solidFill>
                        </a:rPr>
                        <a:t>0.2</a:t>
                      </a:r>
                      <a:endParaRPr lang="en-US" sz="1600" dirty="0"/>
                    </a:p>
                  </a:txBody>
                  <a:tcPr marL="109728" marR="109728"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bl>
          </a:graphicData>
        </a:graphic>
      </p:graphicFrame>
      <p:sp>
        <p:nvSpPr>
          <p:cNvPr id="4" name="aug-card"/>
          <p:cNvSpPr/>
          <p:nvPr/>
        </p:nvSpPr>
        <p:spPr>
          <a:xfrm>
            <a:off x="7772400" y="1645920"/>
            <a:ext cx="3685032" cy="4114800"/>
          </a:xfrm>
          <a:prstGeom prst="roundRect">
            <a:avLst>
              <a:gd name="adj" fmla="val 2978"/>
            </a:avLst>
          </a:prstGeom>
          <a:solidFill>
            <a:srgbClr val="F8E6C8"/>
          </a:solidFill>
          <a:ln/>
        </p:spPr>
      </p:sp>
      <p:sp>
        <p:nvSpPr>
          <p:cNvPr id="5" name="Text 2"/>
          <p:cNvSpPr txBox="1"/>
          <p:nvPr/>
        </p:nvSpPr>
        <p:spPr>
          <a:xfrm>
            <a:off x="8046720" y="1874520"/>
            <a:ext cx="3154680" cy="3749040"/>
          </a:xfrm>
          <a:prstGeom prst="rect">
            <a:avLst/>
          </a:prstGeom>
          <a:noFill/>
          <a:ln/>
        </p:spPr>
        <p:txBody>
          <a:bodyPr wrap="square" lIns="0" tIns="0" rIns="0" bIns="0" rtlCol="0" anchor="t"/>
          <a:lstStyle/>
          <a:p>
            <a:pPr algn="l" indent="0" marL="0">
              <a:spcAft>
                <a:spcPts val="1200"/>
              </a:spcAft>
              <a:buNone/>
            </a:pPr>
            <a:r>
              <a:rPr lang="en-US" sz="2200" b="1" dirty="0">
                <a:solidFill>
                  <a:srgbClr val="0F1A2B"/>
                </a:solidFill>
              </a:rPr>
              <a:t>Augmentation</a:t>
            </a:r>
            <a:endParaRPr lang="en-US" sz="2200" dirty="0"/>
          </a:p>
          <a:p>
            <a:pPr algn="l" marL="342900" indent="-342900">
              <a:spcAft>
                <a:spcPts val="800"/>
              </a:spcAft>
              <a:buSzPct val="100000"/>
              <a:buChar char="•"/>
            </a:pPr>
            <a:r>
              <a:rPr lang="en-US" sz="1700" dirty="0">
                <a:solidFill>
                  <a:srgbClr val="0F1A2B"/>
                </a:solidFill>
              </a:rPr>
              <a:t>Mirror (30% of clips)</a:t>
            </a:r>
            <a:endParaRPr lang="en-US" sz="2200" dirty="0"/>
          </a:p>
          <a:p>
            <a:pPr algn="l" marL="342900" indent="-342900">
              <a:spcAft>
                <a:spcPts val="800"/>
              </a:spcAft>
              <a:buSzPct val="100000"/>
              <a:buChar char="•"/>
            </a:pPr>
            <a:r>
              <a:rPr lang="en-US" sz="1700" dirty="0">
                <a:solidFill>
                  <a:srgbClr val="0F1A2B"/>
                </a:solidFill>
              </a:rPr>
              <a:t>Rotate up to ±12°</a:t>
            </a:r>
            <a:endParaRPr lang="en-US" sz="2200" dirty="0"/>
          </a:p>
          <a:p>
            <a:pPr algn="l" marL="342900" indent="-342900">
              <a:spcAft>
                <a:spcPts val="800"/>
              </a:spcAft>
              <a:buSzPct val="100000"/>
              <a:buChar char="•"/>
            </a:pPr>
            <a:r>
              <a:rPr lang="en-US" sz="1700" dirty="0">
                <a:solidFill>
                  <a:srgbClr val="0F1A2B"/>
                </a:solidFill>
              </a:rPr>
              <a:t>Scale 0.85 to 1.15</a:t>
            </a:r>
            <a:endParaRPr lang="en-US" sz="2200" dirty="0"/>
          </a:p>
          <a:p>
            <a:pPr algn="l" marL="342900" indent="-342900">
              <a:spcAft>
                <a:spcPts val="800"/>
              </a:spcAft>
              <a:buSzPct val="100000"/>
              <a:buChar char="•"/>
            </a:pPr>
            <a:r>
              <a:rPr lang="en-US" sz="1700" dirty="0">
                <a:solidFill>
                  <a:srgbClr val="0F1A2B"/>
                </a:solidFill>
              </a:rPr>
              <a:t>Shift and jitter the points</a:t>
            </a:r>
            <a:endParaRPr lang="en-US" sz="2200" dirty="0"/>
          </a:p>
          <a:p>
            <a:pPr algn="l" marL="342900" indent="-342900">
              <a:spcAft>
                <a:spcPts val="800"/>
              </a:spcAft>
              <a:buSzPct val="100000"/>
              <a:buChar char="•"/>
            </a:pPr>
            <a:r>
              <a:rPr lang="en-US" sz="1700" dirty="0">
                <a:solidFill>
                  <a:srgbClr val="0F1A2B"/>
                </a:solidFill>
              </a:rPr>
              <a:t>Drop 8% of the frames</a:t>
            </a:r>
            <a:endParaRPr lang="en-US" sz="2200" dirty="0"/>
          </a:p>
          <a:p>
            <a:pPr algn="l" marL="342900" indent="-342900">
              <a:spcAft>
                <a:spcPts val="800"/>
              </a:spcAft>
              <a:buSzPct val="100000"/>
              <a:buChar char="•"/>
            </a:pPr>
            <a:r>
              <a:rPr lang="en-US" sz="1700" dirty="0">
                <a:solidFill>
                  <a:srgbClr val="0F1A2B"/>
                </a:solidFill>
              </a:rPr>
              <a:t>Random temporal crop</a:t>
            </a:r>
            <a:endParaRPr lang="en-US"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725912" cy="822960"/>
          </a:xfrm>
          <a:prstGeom prst="rect">
            <a:avLst/>
          </a:prstGeom>
          <a:noFill/>
          <a:ln/>
        </p:spPr>
        <p:txBody>
          <a:bodyPr wrap="square" lIns="0" tIns="0" rIns="0" bIns="0" rtlCol="0" anchor="ctr"/>
          <a:lstStyle/>
          <a:p>
            <a:pPr algn="l" indent="0" marL="0">
              <a:buNone/>
            </a:pPr>
            <a:r>
              <a:rPr lang="en-US" sz="3600" b="1" dirty="0">
                <a:solidFill>
                  <a:srgbClr val="F4F6F8"/>
                </a:solidFill>
              </a:rPr>
              <a:t>Results on held-out test clips</a:t>
            </a:r>
            <a:endParaRPr lang="en-US" sz="3600" dirty="0"/>
          </a:p>
        </p:txBody>
      </p:sp>
      <p:sp>
        <p:nvSpPr>
          <p:cNvPr id="3" name="res-1"/>
          <p:cNvSpPr/>
          <p:nvPr/>
        </p:nvSpPr>
        <p:spPr>
          <a:xfrm>
            <a:off x="731520" y="1691640"/>
            <a:ext cx="5257800" cy="3520440"/>
          </a:xfrm>
          <a:prstGeom prst="roundRect">
            <a:avLst>
              <a:gd name="adj" fmla="val 3117"/>
            </a:avLst>
          </a:prstGeom>
          <a:solidFill>
            <a:srgbClr val="1B2A41"/>
          </a:solidFill>
          <a:ln/>
        </p:spPr>
      </p:sp>
      <p:sp>
        <p:nvSpPr>
          <p:cNvPr id="4" name="Text 2"/>
          <p:cNvSpPr txBox="1"/>
          <p:nvPr/>
        </p:nvSpPr>
        <p:spPr>
          <a:xfrm>
            <a:off x="1097280" y="1874520"/>
            <a:ext cx="4526280" cy="3200400"/>
          </a:xfrm>
          <a:prstGeom prst="rect">
            <a:avLst/>
          </a:prstGeom>
          <a:noFill/>
          <a:ln/>
        </p:spPr>
        <p:txBody>
          <a:bodyPr wrap="square" lIns="0" tIns="0" rIns="0" bIns="0" rtlCol="0" anchor="t"/>
          <a:lstStyle/>
          <a:p>
            <a:pPr algn="l" indent="0" marL="0">
              <a:buNone/>
            </a:pPr>
            <a:r>
              <a:rPr lang="en-US" sz="2200" b="1" dirty="0">
                <a:solidFill>
                  <a:srgbClr val="F4F6F8"/>
                </a:solidFill>
              </a:rPr>
              <a:t>ASL · 23 words</a:t>
            </a:r>
            <a:endParaRPr lang="en-US" sz="2200" dirty="0"/>
          </a:p>
          <a:p>
            <a:pPr algn="l" indent="0" marL="0">
              <a:buNone/>
            </a:pPr>
            <a:r>
              <a:rPr lang="en-US" sz="8000" b="1" dirty="0">
                <a:solidFill>
                  <a:srgbClr val="2BB5A5"/>
                </a:solidFill>
              </a:rPr>
              <a:t>86.3%</a:t>
            </a:r>
            <a:endParaRPr lang="en-US" sz="2200" dirty="0"/>
          </a:p>
          <a:p>
            <a:pPr algn="l" indent="0" marL="0">
              <a:spcAft>
                <a:spcPts val="600"/>
              </a:spcAft>
              <a:buNone/>
            </a:pPr>
            <a:r>
              <a:rPr lang="en-US" sz="1800" dirty="0">
                <a:solidFill>
                  <a:srgbClr val="F4F6F8"/>
                </a:solidFill>
              </a:rPr>
              <a:t>top-1 accuracy</a:t>
            </a:r>
            <a:endParaRPr lang="en-US" sz="2200" dirty="0"/>
          </a:p>
          <a:p>
            <a:pPr algn="l" indent="0" marL="0">
              <a:buNone/>
            </a:pPr>
            <a:r>
              <a:rPr lang="en-US" sz="1800" b="1" dirty="0">
                <a:solidFill>
                  <a:srgbClr val="F2A93B"/>
                </a:solidFill>
              </a:rPr>
              <a:t>95.4%</a:t>
            </a:r>
            <a:pPr algn="l" indent="0" marL="0">
              <a:buNone/>
            </a:pPr>
            <a:r>
              <a:rPr lang="en-US" sz="1800" dirty="0">
                <a:solidFill>
                  <a:srgbClr val="B8C4D6"/>
                </a:solidFill>
              </a:rPr>
              <a:t> top-3  ·  629 test clips</a:t>
            </a:r>
            <a:endParaRPr lang="en-US" sz="2200" dirty="0"/>
          </a:p>
        </p:txBody>
      </p:sp>
      <p:sp>
        <p:nvSpPr>
          <p:cNvPr id="5" name="res-2"/>
          <p:cNvSpPr/>
          <p:nvPr/>
        </p:nvSpPr>
        <p:spPr>
          <a:xfrm>
            <a:off x="6199632" y="1691640"/>
            <a:ext cx="5257800" cy="3520440"/>
          </a:xfrm>
          <a:prstGeom prst="roundRect">
            <a:avLst>
              <a:gd name="adj" fmla="val 3117"/>
            </a:avLst>
          </a:prstGeom>
          <a:solidFill>
            <a:srgbClr val="1B2A41"/>
          </a:solidFill>
          <a:ln/>
        </p:spPr>
      </p:sp>
      <p:sp>
        <p:nvSpPr>
          <p:cNvPr id="6" name="Text 4"/>
          <p:cNvSpPr txBox="1"/>
          <p:nvPr/>
        </p:nvSpPr>
        <p:spPr>
          <a:xfrm>
            <a:off x="6565392" y="1874520"/>
            <a:ext cx="4526280" cy="3200400"/>
          </a:xfrm>
          <a:prstGeom prst="rect">
            <a:avLst/>
          </a:prstGeom>
          <a:noFill/>
          <a:ln/>
        </p:spPr>
        <p:txBody>
          <a:bodyPr wrap="square" lIns="0" tIns="0" rIns="0" bIns="0" rtlCol="0" anchor="t"/>
          <a:lstStyle/>
          <a:p>
            <a:pPr algn="l" indent="0" marL="0">
              <a:buNone/>
            </a:pPr>
            <a:r>
              <a:rPr lang="en-US" sz="2200" b="1" dirty="0">
                <a:solidFill>
                  <a:srgbClr val="F4F6F8"/>
                </a:solidFill>
              </a:rPr>
              <a:t>ISL · 51 words</a:t>
            </a:r>
            <a:endParaRPr lang="en-US" sz="2200" dirty="0"/>
          </a:p>
          <a:p>
            <a:pPr algn="l" indent="0" marL="0">
              <a:buNone/>
            </a:pPr>
            <a:r>
              <a:rPr lang="en-US" sz="8000" b="1" dirty="0">
                <a:solidFill>
                  <a:srgbClr val="2BB5A5"/>
                </a:solidFill>
              </a:rPr>
              <a:t>94.6%</a:t>
            </a:r>
            <a:endParaRPr lang="en-US" sz="2200" dirty="0"/>
          </a:p>
          <a:p>
            <a:pPr algn="l" indent="0" marL="0">
              <a:spcAft>
                <a:spcPts val="600"/>
              </a:spcAft>
              <a:buNone/>
            </a:pPr>
            <a:r>
              <a:rPr lang="en-US" sz="1800" dirty="0">
                <a:solidFill>
                  <a:srgbClr val="F4F6F8"/>
                </a:solidFill>
              </a:rPr>
              <a:t>top-1 accuracy</a:t>
            </a:r>
            <a:endParaRPr lang="en-US" sz="2200" dirty="0"/>
          </a:p>
          <a:p>
            <a:pPr algn="l" indent="0" marL="0">
              <a:buNone/>
            </a:pPr>
            <a:r>
              <a:rPr lang="en-US" sz="1800" b="1" dirty="0">
                <a:solidFill>
                  <a:srgbClr val="F2A93B"/>
                </a:solidFill>
              </a:rPr>
              <a:t>99.4%</a:t>
            </a:r>
            <a:pPr algn="l" indent="0" marL="0">
              <a:buNone/>
            </a:pPr>
            <a:r>
              <a:rPr lang="en-US" sz="1800" dirty="0">
                <a:solidFill>
                  <a:srgbClr val="B8C4D6"/>
                </a:solidFill>
              </a:rPr>
              <a:t> top-3  ·  167 test clips</a:t>
            </a:r>
            <a:endParaRPr lang="en-US" sz="2200" dirty="0"/>
          </a:p>
        </p:txBody>
      </p:sp>
      <p:sp>
        <p:nvSpPr>
          <p:cNvPr id="7" name="Text 5"/>
          <p:cNvSpPr txBox="1"/>
          <p:nvPr/>
        </p:nvSpPr>
        <p:spPr>
          <a:xfrm>
            <a:off x="731520" y="5486400"/>
            <a:ext cx="10725912" cy="731520"/>
          </a:xfrm>
          <a:prstGeom prst="rect">
            <a:avLst/>
          </a:prstGeom>
          <a:noFill/>
          <a:ln/>
        </p:spPr>
        <p:txBody>
          <a:bodyPr wrap="square" lIns="0" tIns="0" rIns="0" bIns="0" rtlCol="0" anchor="t"/>
          <a:lstStyle/>
          <a:p>
            <a:pPr algn="l" indent="0" marL="0">
              <a:buNone/>
            </a:pPr>
            <a:r>
              <a:rPr lang="en-US" sz="1500" dirty="0">
                <a:solidFill>
                  <a:srgbClr val="B8C4D6"/>
                </a:solidFill>
              </a:rPr>
              <a:t>Top-3 means the right word is among the model’s three best guesses. The ISL test set is small (167 clips), so its number is less certain than ASL’s.</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725912" cy="822960"/>
          </a:xfrm>
          <a:prstGeom prst="rect">
            <a:avLst/>
          </a:prstGeom>
          <a:noFill/>
          <a:ln/>
        </p:spPr>
        <p:txBody>
          <a:bodyPr wrap="square" lIns="0" tIns="0" rIns="0" bIns="0" rtlCol="0" anchor="ctr"/>
          <a:lstStyle/>
          <a:p>
            <a:pPr algn="l" indent="0" marL="0">
              <a:buNone/>
            </a:pPr>
            <a:r>
              <a:rPr lang="en-US" sz="3600" b="1" dirty="0">
                <a:solidFill>
                  <a:srgbClr val="0F1A2B"/>
                </a:solidFill>
              </a:rPr>
              <a:t>The live app</a:t>
            </a:r>
            <a:endParaRPr lang="en-US" sz="3600" dirty="0"/>
          </a:p>
        </p:txBody>
      </p:sp>
      <p:sp>
        <p:nvSpPr>
          <p:cNvPr id="3" name="flow-1"/>
          <p:cNvSpPr/>
          <p:nvPr/>
        </p:nvSpPr>
        <p:spPr>
          <a:xfrm>
            <a:off x="731520" y="1691640"/>
            <a:ext cx="4937760" cy="548640"/>
          </a:xfrm>
          <a:prstGeom prst="roundRect">
            <a:avLst>
              <a:gd name="adj" fmla="val 16667"/>
            </a:avLst>
          </a:prstGeom>
          <a:solidFill>
            <a:srgbClr val="FFFFFF"/>
          </a:solidFill>
          <a:ln w="12700">
            <a:solidFill>
              <a:srgbClr val="D5DAE0"/>
            </a:solidFill>
            <a:prstDash val="solid"/>
          </a:ln>
        </p:spPr>
      </p:sp>
      <p:sp>
        <p:nvSpPr>
          <p:cNvPr id="4" name="Text 2"/>
          <p:cNvSpPr txBox="1"/>
          <p:nvPr/>
        </p:nvSpPr>
        <p:spPr>
          <a:xfrm>
            <a:off x="914400" y="1691640"/>
            <a:ext cx="4572000" cy="548640"/>
          </a:xfrm>
          <a:prstGeom prst="rect">
            <a:avLst/>
          </a:prstGeom>
          <a:noFill/>
          <a:ln/>
        </p:spPr>
        <p:txBody>
          <a:bodyPr wrap="square" lIns="0" tIns="0" rIns="0" bIns="0" rtlCol="0" anchor="ctr"/>
          <a:lstStyle/>
          <a:p>
            <a:pPr algn="l" indent="0" marL="0">
              <a:buNone/>
            </a:pPr>
            <a:r>
              <a:rPr lang="en-US" sz="1600" dirty="0">
                <a:solidFill>
                  <a:srgbClr val="0F1A2B"/>
                </a:solidFill>
              </a:rPr>
              <a:t>Camera frame</a:t>
            </a:r>
            <a:endParaRPr lang="en-US" sz="1600" dirty="0"/>
          </a:p>
        </p:txBody>
      </p:sp>
      <p:sp>
        <p:nvSpPr>
          <p:cNvPr id="5" name="Shape 3"/>
          <p:cNvSpPr/>
          <p:nvPr/>
        </p:nvSpPr>
        <p:spPr>
          <a:xfrm>
            <a:off x="3200400" y="2276856"/>
            <a:ext cx="0" cy="292608"/>
          </a:xfrm>
          <a:prstGeom prst="line">
            <a:avLst/>
          </a:prstGeom>
          <a:noFill/>
          <a:ln w="28575">
            <a:solidFill>
              <a:srgbClr val="0F766E"/>
            </a:solidFill>
            <a:prstDash val="solid"/>
            <a:tailEnd type="triangle"/>
          </a:ln>
        </p:spPr>
      </p:sp>
      <p:sp>
        <p:nvSpPr>
          <p:cNvPr id="6" name="flow-2"/>
          <p:cNvSpPr/>
          <p:nvPr/>
        </p:nvSpPr>
        <p:spPr>
          <a:xfrm>
            <a:off x="731520" y="2606040"/>
            <a:ext cx="4937760" cy="548640"/>
          </a:xfrm>
          <a:prstGeom prst="roundRect">
            <a:avLst>
              <a:gd name="adj" fmla="val 16667"/>
            </a:avLst>
          </a:prstGeom>
          <a:solidFill>
            <a:srgbClr val="FFFFFF"/>
          </a:solidFill>
          <a:ln w="12700">
            <a:solidFill>
              <a:srgbClr val="D5DAE0"/>
            </a:solidFill>
            <a:prstDash val="solid"/>
          </a:ln>
        </p:spPr>
      </p:sp>
      <p:sp>
        <p:nvSpPr>
          <p:cNvPr id="7" name="Text 5"/>
          <p:cNvSpPr txBox="1"/>
          <p:nvPr/>
        </p:nvSpPr>
        <p:spPr>
          <a:xfrm>
            <a:off x="914400" y="2606040"/>
            <a:ext cx="4572000" cy="548640"/>
          </a:xfrm>
          <a:prstGeom prst="rect">
            <a:avLst/>
          </a:prstGeom>
          <a:noFill/>
          <a:ln/>
        </p:spPr>
        <p:txBody>
          <a:bodyPr wrap="square" lIns="0" tIns="0" rIns="0" bIns="0" rtlCol="0" anchor="ctr"/>
          <a:lstStyle/>
          <a:p>
            <a:pPr algn="l" indent="0" marL="0">
              <a:buNone/>
            </a:pPr>
            <a:r>
              <a:rPr lang="en-US" sz="1600" dirty="0">
                <a:solidFill>
                  <a:srgbClr val="0F1A2B"/>
                </a:solidFill>
              </a:rPr>
              <a:t>MediaPipe tracker: pose + hands</a:t>
            </a:r>
            <a:endParaRPr lang="en-US" sz="1600" dirty="0"/>
          </a:p>
        </p:txBody>
      </p:sp>
      <p:sp>
        <p:nvSpPr>
          <p:cNvPr id="8" name="Shape 6"/>
          <p:cNvSpPr/>
          <p:nvPr/>
        </p:nvSpPr>
        <p:spPr>
          <a:xfrm>
            <a:off x="3200400" y="3191256"/>
            <a:ext cx="0" cy="292608"/>
          </a:xfrm>
          <a:prstGeom prst="line">
            <a:avLst/>
          </a:prstGeom>
          <a:noFill/>
          <a:ln w="28575">
            <a:solidFill>
              <a:srgbClr val="0F766E"/>
            </a:solidFill>
            <a:prstDash val="solid"/>
            <a:tailEnd type="triangle"/>
          </a:ln>
        </p:spPr>
      </p:sp>
      <p:sp>
        <p:nvSpPr>
          <p:cNvPr id="9" name="flow-3"/>
          <p:cNvSpPr/>
          <p:nvPr/>
        </p:nvSpPr>
        <p:spPr>
          <a:xfrm>
            <a:off x="731520" y="3520440"/>
            <a:ext cx="4937760" cy="548640"/>
          </a:xfrm>
          <a:prstGeom prst="roundRect">
            <a:avLst>
              <a:gd name="adj" fmla="val 16667"/>
            </a:avLst>
          </a:prstGeom>
          <a:solidFill>
            <a:srgbClr val="E6E9EE"/>
          </a:solidFill>
          <a:ln/>
        </p:spPr>
      </p:sp>
      <p:sp>
        <p:nvSpPr>
          <p:cNvPr id="10" name="Text 8"/>
          <p:cNvSpPr txBox="1"/>
          <p:nvPr/>
        </p:nvSpPr>
        <p:spPr>
          <a:xfrm>
            <a:off x="914400" y="3520440"/>
            <a:ext cx="4572000" cy="548640"/>
          </a:xfrm>
          <a:prstGeom prst="rect">
            <a:avLst/>
          </a:prstGeom>
          <a:noFill/>
          <a:ln/>
        </p:spPr>
        <p:txBody>
          <a:bodyPr wrap="square" lIns="0" tIns="0" rIns="0" bIns="0" rtlCol="0" anchor="ctr"/>
          <a:lstStyle/>
          <a:p>
            <a:pPr algn="l" indent="0" marL="0">
              <a:buNone/>
            </a:pPr>
            <a:r>
              <a:rPr lang="en-US" sz="1600" dirty="0">
                <a:solidFill>
                  <a:srgbClr val="0F1A2B"/>
                </a:solidFill>
              </a:rPr>
              <a:t>Letter stabiliser or word segmenter</a:t>
            </a:r>
            <a:endParaRPr lang="en-US" sz="1600" dirty="0"/>
          </a:p>
        </p:txBody>
      </p:sp>
      <p:sp>
        <p:nvSpPr>
          <p:cNvPr id="11" name="Shape 9"/>
          <p:cNvSpPr/>
          <p:nvPr/>
        </p:nvSpPr>
        <p:spPr>
          <a:xfrm>
            <a:off x="3200400" y="4105656"/>
            <a:ext cx="0" cy="292608"/>
          </a:xfrm>
          <a:prstGeom prst="line">
            <a:avLst/>
          </a:prstGeom>
          <a:noFill/>
          <a:ln w="28575">
            <a:solidFill>
              <a:srgbClr val="0F766E"/>
            </a:solidFill>
            <a:prstDash val="solid"/>
            <a:tailEnd type="triangle"/>
          </a:ln>
        </p:spPr>
      </p:sp>
      <p:sp>
        <p:nvSpPr>
          <p:cNvPr id="12" name="flow-4"/>
          <p:cNvSpPr/>
          <p:nvPr/>
        </p:nvSpPr>
        <p:spPr>
          <a:xfrm>
            <a:off x="731520" y="4434840"/>
            <a:ext cx="4937760" cy="548640"/>
          </a:xfrm>
          <a:prstGeom prst="roundRect">
            <a:avLst>
              <a:gd name="adj" fmla="val 16667"/>
            </a:avLst>
          </a:prstGeom>
          <a:solidFill>
            <a:srgbClr val="F8E6C8"/>
          </a:solidFill>
          <a:ln/>
        </p:spPr>
      </p:sp>
      <p:sp>
        <p:nvSpPr>
          <p:cNvPr id="13" name="Text 11"/>
          <p:cNvSpPr txBox="1"/>
          <p:nvPr/>
        </p:nvSpPr>
        <p:spPr>
          <a:xfrm>
            <a:off x="914400" y="4434840"/>
            <a:ext cx="4572000" cy="548640"/>
          </a:xfrm>
          <a:prstGeom prst="rect">
            <a:avLst/>
          </a:prstGeom>
          <a:noFill/>
          <a:ln/>
        </p:spPr>
        <p:txBody>
          <a:bodyPr wrap="square" lIns="0" tIns="0" rIns="0" bIns="0" rtlCol="0" anchor="ctr"/>
          <a:lstStyle/>
          <a:p>
            <a:pPr algn="l" indent="0" marL="0">
              <a:buNone/>
            </a:pPr>
            <a:r>
              <a:rPr lang="en-US" sz="1600" dirty="0">
                <a:solidFill>
                  <a:srgbClr val="0F1A2B"/>
                </a:solidFill>
              </a:rPr>
              <a:t>Model prediction, in plain numpy</a:t>
            </a:r>
            <a:endParaRPr lang="en-US" sz="1600" dirty="0"/>
          </a:p>
        </p:txBody>
      </p:sp>
      <p:sp>
        <p:nvSpPr>
          <p:cNvPr id="14" name="Shape 12"/>
          <p:cNvSpPr/>
          <p:nvPr/>
        </p:nvSpPr>
        <p:spPr>
          <a:xfrm>
            <a:off x="3200400" y="5020056"/>
            <a:ext cx="0" cy="292608"/>
          </a:xfrm>
          <a:prstGeom prst="line">
            <a:avLst/>
          </a:prstGeom>
          <a:noFill/>
          <a:ln w="28575">
            <a:solidFill>
              <a:srgbClr val="0F766E"/>
            </a:solidFill>
            <a:prstDash val="solid"/>
            <a:tailEnd type="triangle"/>
          </a:ln>
        </p:spPr>
      </p:sp>
      <p:sp>
        <p:nvSpPr>
          <p:cNvPr id="15" name="flow-5"/>
          <p:cNvSpPr/>
          <p:nvPr/>
        </p:nvSpPr>
        <p:spPr>
          <a:xfrm>
            <a:off x="731520" y="5349240"/>
            <a:ext cx="4937760" cy="548640"/>
          </a:xfrm>
          <a:prstGeom prst="roundRect">
            <a:avLst>
              <a:gd name="adj" fmla="val 16667"/>
            </a:avLst>
          </a:prstGeom>
          <a:solidFill>
            <a:srgbClr val="DCEEEB"/>
          </a:solidFill>
          <a:ln/>
        </p:spPr>
      </p:sp>
      <p:sp>
        <p:nvSpPr>
          <p:cNvPr id="16" name="Text 14"/>
          <p:cNvSpPr txBox="1"/>
          <p:nvPr/>
        </p:nvSpPr>
        <p:spPr>
          <a:xfrm>
            <a:off x="914400" y="5349240"/>
            <a:ext cx="4572000" cy="548640"/>
          </a:xfrm>
          <a:prstGeom prst="rect">
            <a:avLst/>
          </a:prstGeom>
          <a:noFill/>
          <a:ln/>
        </p:spPr>
        <p:txBody>
          <a:bodyPr wrap="square" lIns="0" tIns="0" rIns="0" bIns="0" rtlCol="0" anchor="ctr"/>
          <a:lstStyle/>
          <a:p>
            <a:pPr algn="l" indent="0" marL="0">
              <a:buNone/>
            </a:pPr>
            <a:r>
              <a:rPr lang="en-US" sz="1600" dirty="0">
                <a:solidFill>
                  <a:srgbClr val="0F1A2B"/>
                </a:solidFill>
              </a:rPr>
              <a:t>Text on screen</a:t>
            </a:r>
            <a:endParaRPr lang="en-US" sz="1600" dirty="0"/>
          </a:p>
        </p:txBody>
      </p:sp>
      <p:sp>
        <p:nvSpPr>
          <p:cNvPr id="17" name="app-card"/>
          <p:cNvSpPr/>
          <p:nvPr/>
        </p:nvSpPr>
        <p:spPr>
          <a:xfrm>
            <a:off x="6035040" y="1691640"/>
            <a:ext cx="5422392" cy="4023360"/>
          </a:xfrm>
          <a:prstGeom prst="roundRect">
            <a:avLst>
              <a:gd name="adj" fmla="val 2727"/>
            </a:avLst>
          </a:prstGeom>
          <a:solidFill>
            <a:srgbClr val="FFFFFF"/>
          </a:solidFill>
          <a:ln w="12700">
            <a:solidFill>
              <a:srgbClr val="D5DAE0"/>
            </a:solidFill>
            <a:prstDash val="solid"/>
          </a:ln>
        </p:spPr>
      </p:sp>
      <p:sp>
        <p:nvSpPr>
          <p:cNvPr id="18" name="Text 16"/>
          <p:cNvSpPr txBox="1"/>
          <p:nvPr/>
        </p:nvSpPr>
        <p:spPr>
          <a:xfrm>
            <a:off x="6309360" y="1920240"/>
            <a:ext cx="4892040" cy="3657600"/>
          </a:xfrm>
          <a:prstGeom prst="rect">
            <a:avLst/>
          </a:prstGeom>
          <a:noFill/>
          <a:ln/>
        </p:spPr>
        <p:txBody>
          <a:bodyPr wrap="square" lIns="0" tIns="0" rIns="0" bIns="0" rtlCol="0" anchor="t"/>
          <a:lstStyle/>
          <a:p>
            <a:pPr algn="l" indent="0" marL="0">
              <a:spcAft>
                <a:spcPts val="1200"/>
              </a:spcAft>
              <a:buNone/>
            </a:pPr>
            <a:r>
              <a:rPr lang="en-US" sz="2000" b="1" dirty="0">
                <a:solidFill>
                  <a:srgbClr val="0F1A2B"/>
                </a:solidFill>
              </a:rPr>
              <a:t>What makes it work in real time</a:t>
            </a:r>
            <a:endParaRPr lang="en-US" sz="2000" dirty="0"/>
          </a:p>
          <a:p>
            <a:pPr algn="l" marL="342900" indent="-342900">
              <a:spcAft>
                <a:spcPts val="1000"/>
              </a:spcAft>
              <a:buSzPct val="100000"/>
              <a:buChar char="•"/>
            </a:pPr>
            <a:r>
              <a:rPr lang="en-US" sz="1600" dirty="0">
                <a:solidFill>
                  <a:srgbClr val="0F1A2B"/>
                </a:solidFill>
              </a:rPr>
              <a:t>A letter is typed after the same prediction holds for 8 frames at 0.6 confidence or more</a:t>
            </a:r>
            <a:endParaRPr lang="en-US" sz="2000" dirty="0"/>
          </a:p>
          <a:p>
            <a:pPr algn="l" marL="342900" indent="-342900">
              <a:spcAft>
                <a:spcPts val="1000"/>
              </a:spcAft>
              <a:buSzPct val="100000"/>
              <a:buChar char="•"/>
            </a:pPr>
            <a:r>
              <a:rPr lang="en-US" sz="1600" dirty="0">
                <a:solidFill>
                  <a:srgbClr val="0F1A2B"/>
                </a:solidFill>
              </a:rPr>
              <a:t>A word starts when hands appear and ends after a short pause with no hands; it is accepted at 0.5 confidence or more</a:t>
            </a:r>
            <a:endParaRPr lang="en-US" sz="2000" dirty="0"/>
          </a:p>
          <a:p>
            <a:pPr algn="l" marL="342900" indent="-342900">
              <a:spcAft>
                <a:spcPts val="1000"/>
              </a:spcAft>
              <a:buSzPct val="100000"/>
              <a:buChar char="•"/>
            </a:pPr>
            <a:r>
              <a:rPr lang="en-US" sz="1600" dirty="0">
                <a:solidFill>
                  <a:srgbClr val="0F1A2B"/>
                </a:solidFill>
              </a:rPr>
              <a:t>Inference uses plain numpy, with no PyTorch, which saves about 175 MB of memory</a:t>
            </a:r>
            <a:endParaRPr lang="en-US" sz="2000" dirty="0"/>
          </a:p>
          <a:p>
            <a:pPr algn="l" marL="342900" indent="-342900">
              <a:spcAft>
                <a:spcPts val="1000"/>
              </a:spcAft>
              <a:buSzPct val="100000"/>
              <a:buChar char="•"/>
            </a:pPr>
            <a:r>
              <a:rPr lang="en-US" sz="1600" dirty="0">
                <a:solidFill>
                  <a:srgbClr val="0F1A2B"/>
                </a:solidFill>
              </a:rPr>
              <a:t>Hosted on Render with gunicorn app:app</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725912" cy="822960"/>
          </a:xfrm>
          <a:prstGeom prst="rect">
            <a:avLst/>
          </a:prstGeom>
          <a:noFill/>
          <a:ln/>
        </p:spPr>
        <p:txBody>
          <a:bodyPr wrap="square" lIns="0" tIns="0" rIns="0" bIns="0" rtlCol="0" anchor="ctr"/>
          <a:lstStyle/>
          <a:p>
            <a:pPr algn="l" indent="0" marL="0">
              <a:buNone/>
            </a:pPr>
            <a:r>
              <a:rPr lang="en-US" sz="3600" b="1" dirty="0">
                <a:solidFill>
                  <a:srgbClr val="0F1A2B"/>
                </a:solidFill>
              </a:rPr>
              <a:t>Where everything is in the code</a:t>
            </a:r>
            <a:endParaRPr lang="en-US" sz="36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731520" y="1600200"/>
          <a:ext cx="10725912" cy="914400"/>
        </p:xfrm>
        <a:graphic>
          <a:graphicData uri="http://schemas.openxmlformats.org/drawingml/2006/table">
            <a:tbl>
              <a:tblPr/>
              <a:tblGrid>
                <a:gridCol w="3931920"/>
                <a:gridCol w="6793992"/>
              </a:tblGrid>
              <a:tr h="429768">
                <a:tc>
                  <a:txBody>
                    <a:bodyPr/>
                    <a:lstStyle/>
                    <a:p>
                      <a:pPr indent="0" marL="0">
                        <a:buNone/>
                      </a:pPr>
                      <a:r>
                        <a:rPr lang="en-US" sz="1600" b="1" dirty="0">
                          <a:solidFill>
                            <a:srgbClr val="FFFFFF"/>
                          </a:solidFill>
                        </a:rPr>
                        <a:t>File or folder</a:t>
                      </a:r>
                      <a:endParaRPr lang="en-US" sz="1600" dirty="0"/>
                    </a:p>
                  </a:txBody>
                  <a:tcPr marL="109728" marR="109728"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0F1A2B"/>
                    </a:solidFill>
                  </a:tcPr>
                </a:tc>
                <a:tc>
                  <a:txBody>
                    <a:bodyPr/>
                    <a:lstStyle/>
                    <a:p>
                      <a:pPr indent="0" marL="0">
                        <a:buNone/>
                      </a:pPr>
                      <a:r>
                        <a:rPr lang="en-US" sz="1600" b="1" dirty="0">
                          <a:solidFill>
                            <a:srgbClr val="FFFFFF"/>
                          </a:solidFill>
                        </a:rPr>
                        <a:t>What it does</a:t>
                      </a:r>
                      <a:endParaRPr lang="en-US" sz="1600" dirty="0"/>
                    </a:p>
                  </a:txBody>
                  <a:tcPr marL="109728" marR="109728"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0F1A2B"/>
                    </a:solidFill>
                  </a:tcPr>
                </a:tc>
              </a:tr>
              <a:tr h="429768">
                <a:tc>
                  <a:txBody>
                    <a:bodyPr/>
                    <a:lstStyle/>
                    <a:p>
                      <a:pPr indent="0" marL="0">
                        <a:buNone/>
                      </a:pPr>
                      <a:r>
                        <a:rPr lang="en-US" sz="1600" b="1" dirty="0">
                          <a:solidFill>
                            <a:srgbClr val="0F1A2B"/>
                          </a:solidFill>
                        </a:rPr>
                        <a:t>notebooks/</a:t>
                      </a:r>
                      <a:endParaRPr lang="en-US" sz="1600" dirty="0"/>
                    </a:p>
                  </a:txBody>
                  <a:tcPr marL="109728" marR="109728"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600" dirty="0">
                          <a:solidFill>
                            <a:srgbClr val="0F1A2B"/>
                          </a:solidFill>
                        </a:rPr>
                        <a:t>Day 1 letters + INCLUDE · Day 2a ASL · Day 2b ISL</a:t>
                      </a:r>
                      <a:endParaRPr lang="en-US" sz="1600" dirty="0"/>
                    </a:p>
                  </a:txBody>
                  <a:tcPr marL="109728" marR="109728"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429768">
                <a:tc>
                  <a:txBody>
                    <a:bodyPr/>
                    <a:lstStyle/>
                    <a:p>
                      <a:pPr indent="0" marL="0">
                        <a:buNone/>
                      </a:pPr>
                      <a:r>
                        <a:rPr lang="en-US" sz="1600" b="1" dirty="0">
                          <a:solidFill>
                            <a:srgbClr val="0F1A2B"/>
                          </a:solidFill>
                        </a:rPr>
                        <a:t>scripts/</a:t>
                      </a:r>
                      <a:endParaRPr lang="en-US" sz="1600" dirty="0"/>
                    </a:p>
                  </a:txBody>
                  <a:tcPr marL="109728" marR="109728"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600" dirty="0">
                          <a:solidFill>
                            <a:srgbClr val="0F1A2B"/>
                          </a:solidFill>
                        </a:rPr>
                        <a:t>Extract keypoints and train the models</a:t>
                      </a:r>
                      <a:endParaRPr lang="en-US" sz="1600" dirty="0"/>
                    </a:p>
                  </a:txBody>
                  <a:tcPr marL="109728" marR="109728"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429768">
                <a:tc>
                  <a:txBody>
                    <a:bodyPr/>
                    <a:lstStyle/>
                    <a:p>
                      <a:pPr indent="0" marL="0">
                        <a:buNone/>
                      </a:pPr>
                      <a:r>
                        <a:rPr lang="en-US" sz="1600" b="1" dirty="0">
                          <a:solidFill>
                            <a:srgbClr val="0F1A2B"/>
                          </a:solidFill>
                        </a:rPr>
                        <a:t>slr/landmarks.py</a:t>
                      </a:r>
                      <a:endParaRPr lang="en-US" sz="1600" dirty="0"/>
                    </a:p>
                  </a:txBody>
                  <a:tcPr marL="109728" marR="109728"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600" dirty="0">
                          <a:solidFill>
                            <a:srgbClr val="0F1A2B"/>
                          </a:solidFill>
                        </a:rPr>
                        <a:t>MediaPipe wrappers: 67-point frames</a:t>
                      </a:r>
                      <a:endParaRPr lang="en-US" sz="1600" dirty="0"/>
                    </a:p>
                  </a:txBody>
                  <a:tcPr marL="109728" marR="109728"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429768">
                <a:tc>
                  <a:txBody>
                    <a:bodyPr/>
                    <a:lstStyle/>
                    <a:p>
                      <a:pPr indent="0" marL="0">
                        <a:buNone/>
                      </a:pPr>
                      <a:r>
                        <a:rPr lang="en-US" sz="1600" b="1" dirty="0">
                          <a:solidFill>
                            <a:srgbClr val="0F1A2B"/>
                          </a:solidFill>
                        </a:rPr>
                        <a:t>slr/features.py</a:t>
                      </a:r>
                      <a:endParaRPr lang="en-US" sz="1600" dirty="0"/>
                    </a:p>
                  </a:txBody>
                  <a:tcPr marL="109728" marR="109728"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600" dirty="0">
                          <a:solidFill>
                            <a:srgbClr val="0F1A2B"/>
                          </a:solidFill>
                        </a:rPr>
                        <a:t>Trim, resample, normalise, augment</a:t>
                      </a:r>
                      <a:endParaRPr lang="en-US" sz="1600" dirty="0"/>
                    </a:p>
                  </a:txBody>
                  <a:tcPr marL="109728" marR="109728"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429768">
                <a:tc>
                  <a:txBody>
                    <a:bodyPr/>
                    <a:lstStyle/>
                    <a:p>
                      <a:pPr indent="0" marL="0">
                        <a:buNone/>
                      </a:pPr>
                      <a:r>
                        <a:rPr lang="en-US" sz="1600" b="1" dirty="0">
                          <a:solidFill>
                            <a:srgbClr val="0F1A2B"/>
                          </a:solidFill>
                        </a:rPr>
                        <a:t>slr/word_model.py</a:t>
                      </a:r>
                      <a:endParaRPr lang="en-US" sz="1600" dirty="0"/>
                    </a:p>
                  </a:txBody>
                  <a:tcPr marL="109728" marR="109728"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600" dirty="0">
                          <a:solidFill>
                            <a:srgbClr val="0F1A2B"/>
                          </a:solidFill>
                        </a:rPr>
                        <a:t>WordTransformer and its training loop</a:t>
                      </a:r>
                      <a:endParaRPr lang="en-US" sz="1600" dirty="0"/>
                    </a:p>
                  </a:txBody>
                  <a:tcPr marL="109728" marR="109728"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429768">
                <a:tc>
                  <a:txBody>
                    <a:bodyPr/>
                    <a:lstStyle/>
                    <a:p>
                      <a:pPr indent="0" marL="0">
                        <a:buNone/>
                      </a:pPr>
                      <a:r>
                        <a:rPr lang="en-US" sz="1600" b="1" dirty="0">
                          <a:solidFill>
                            <a:srgbClr val="0F1A2B"/>
                          </a:solidFill>
                        </a:rPr>
                        <a:t>slr/numpy_word_model.py</a:t>
                      </a:r>
                      <a:endParaRPr lang="en-US" sz="1600" dirty="0"/>
                    </a:p>
                  </a:txBody>
                  <a:tcPr marL="109728" marR="109728"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600" dirty="0">
                          <a:solidFill>
                            <a:srgbClr val="0F1A2B"/>
                          </a:solidFill>
                        </a:rPr>
                        <a:t>The same transformer in plain numpy</a:t>
                      </a:r>
                      <a:endParaRPr lang="en-US" sz="1600" dirty="0"/>
                    </a:p>
                  </a:txBody>
                  <a:tcPr marL="109728" marR="109728"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429768">
                <a:tc>
                  <a:txBody>
                    <a:bodyPr/>
                    <a:lstStyle/>
                    <a:p>
                      <a:pPr indent="0" marL="0">
                        <a:buNone/>
                      </a:pPr>
                      <a:r>
                        <a:rPr lang="en-US" sz="1600" b="1" dirty="0">
                          <a:solidFill>
                            <a:srgbClr val="0F1A2B"/>
                          </a:solidFill>
                        </a:rPr>
                        <a:t>slr/inference.py · slr/live.py</a:t>
                      </a:r>
                      <a:endParaRPr lang="en-US" sz="1600" dirty="0"/>
                    </a:p>
                  </a:txBody>
                  <a:tcPr marL="109728" marR="109728"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600" dirty="0">
                          <a:solidFill>
                            <a:srgbClr val="0F1A2B"/>
                          </a:solidFill>
                        </a:rPr>
                        <a:t>Load models, predict, segment words</a:t>
                      </a:r>
                      <a:endParaRPr lang="en-US" sz="1600" dirty="0"/>
                    </a:p>
                  </a:txBody>
                  <a:tcPr marL="109728" marR="109728"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429768">
                <a:tc>
                  <a:txBody>
                    <a:bodyPr/>
                    <a:lstStyle/>
                    <a:p>
                      <a:pPr indent="0" marL="0">
                        <a:buNone/>
                      </a:pPr>
                      <a:r>
                        <a:rPr lang="en-US" sz="1600" b="1" dirty="0">
                          <a:solidFill>
                            <a:srgbClr val="0F1A2B"/>
                          </a:solidFill>
                        </a:rPr>
                        <a:t>app.py · web/</a:t>
                      </a:r>
                      <a:endParaRPr lang="en-US" sz="1600" dirty="0"/>
                    </a:p>
                  </a:txBody>
                  <a:tcPr marL="109728" marR="109728"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600" dirty="0">
                          <a:solidFill>
                            <a:srgbClr val="0F1A2B"/>
                          </a:solidFill>
                        </a:rPr>
                        <a:t>The Flask web app deployed on Render</a:t>
                      </a:r>
                      <a:endParaRPr lang="en-US" sz="1600" dirty="0"/>
                    </a:p>
                  </a:txBody>
                  <a:tcPr marL="109728" marR="109728"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429768">
                <a:tc>
                  <a:txBody>
                    <a:bodyPr/>
                    <a:lstStyle/>
                    <a:p>
                      <a:pPr indent="0" marL="0">
                        <a:buNone/>
                      </a:pPr>
                      <a:r>
                        <a:rPr lang="en-US" sz="1600" b="1" dirty="0">
                          <a:solidFill>
                            <a:srgbClr val="0F1A2B"/>
                          </a:solidFill>
                        </a:rPr>
                        <a:t>models/</a:t>
                      </a:r>
                      <a:endParaRPr lang="en-US" sz="1600" dirty="0"/>
                    </a:p>
                  </a:txBody>
                  <a:tcPr marL="109728" marR="109728"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600" dirty="0">
                          <a:solidFill>
                            <a:srgbClr val="0F1A2B"/>
                          </a:solidFill>
                        </a:rPr>
                        <a:t>Saved weights: .pt and numpy .npz files</a:t>
                      </a:r>
                      <a:endParaRPr lang="en-US" sz="1600" dirty="0"/>
                    </a:p>
                  </a:txBody>
                  <a:tcPr marL="109728" marR="109728"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725912" cy="822960"/>
          </a:xfrm>
          <a:prstGeom prst="rect">
            <a:avLst/>
          </a:prstGeom>
          <a:noFill/>
          <a:ln/>
        </p:spPr>
        <p:txBody>
          <a:bodyPr wrap="square" lIns="0" tIns="0" rIns="0" bIns="0" rtlCol="0" anchor="ctr"/>
          <a:lstStyle/>
          <a:p>
            <a:pPr algn="l" indent="0" marL="0">
              <a:buNone/>
            </a:pPr>
            <a:r>
              <a:rPr lang="en-US" sz="3600" b="1" dirty="0">
                <a:solidFill>
                  <a:srgbClr val="F4F6F8"/>
                </a:solidFill>
              </a:rPr>
              <a:t>Limits and what comes next</a:t>
            </a:r>
            <a:endParaRPr lang="en-US" sz="3600" dirty="0"/>
          </a:p>
        </p:txBody>
      </p:sp>
      <p:sp>
        <p:nvSpPr>
          <p:cNvPr id="3" name="limits"/>
          <p:cNvSpPr/>
          <p:nvPr/>
        </p:nvSpPr>
        <p:spPr>
          <a:xfrm>
            <a:off x="731520" y="1645920"/>
            <a:ext cx="5257800" cy="3108960"/>
          </a:xfrm>
          <a:prstGeom prst="roundRect">
            <a:avLst>
              <a:gd name="adj" fmla="val 3529"/>
            </a:avLst>
          </a:prstGeom>
          <a:solidFill>
            <a:srgbClr val="1B2A41"/>
          </a:solidFill>
          <a:ln/>
        </p:spPr>
      </p:sp>
      <p:sp>
        <p:nvSpPr>
          <p:cNvPr id="4" name="Text 2"/>
          <p:cNvSpPr txBox="1"/>
          <p:nvPr/>
        </p:nvSpPr>
        <p:spPr>
          <a:xfrm>
            <a:off x="1005840" y="1874520"/>
            <a:ext cx="4709160" cy="2743200"/>
          </a:xfrm>
          <a:prstGeom prst="rect">
            <a:avLst/>
          </a:prstGeom>
          <a:noFill/>
          <a:ln/>
        </p:spPr>
        <p:txBody>
          <a:bodyPr wrap="square" lIns="0" tIns="0" rIns="0" bIns="0" rtlCol="0" anchor="t"/>
          <a:lstStyle/>
          <a:p>
            <a:pPr algn="l" indent="0" marL="0">
              <a:spcAft>
                <a:spcPts val="1200"/>
              </a:spcAft>
              <a:buNone/>
            </a:pPr>
            <a:r>
              <a:rPr lang="en-US" sz="2400" b="1" dirty="0">
                <a:solidFill>
                  <a:srgbClr val="F2A93B"/>
                </a:solidFill>
              </a:rPr>
              <a:t>Limits</a:t>
            </a:r>
            <a:endParaRPr lang="en-US" sz="2400" dirty="0"/>
          </a:p>
          <a:p>
            <a:pPr algn="l" marL="342900" indent="-342900">
              <a:spcAft>
                <a:spcPts val="1000"/>
              </a:spcAft>
              <a:buSzPct val="100000"/>
              <a:buChar char="•"/>
            </a:pPr>
            <a:r>
              <a:rPr lang="en-US" sz="1800" dirty="0">
                <a:solidFill>
                  <a:srgbClr val="F4F6F8"/>
                </a:solidFill>
              </a:rPr>
              <a:t>A fixed vocabulary: 23 ASL and 51 ISL words</a:t>
            </a:r>
            <a:endParaRPr lang="en-US" sz="2400" dirty="0"/>
          </a:p>
          <a:p>
            <a:pPr algn="l" marL="342900" indent="-342900">
              <a:spcAft>
                <a:spcPts val="1000"/>
              </a:spcAft>
              <a:buSzPct val="100000"/>
              <a:buChar char="•"/>
            </a:pPr>
            <a:r>
              <a:rPr lang="en-US" sz="1800" dirty="0">
                <a:solidFill>
                  <a:srgbClr val="F4F6F8"/>
                </a:solidFill>
              </a:rPr>
              <a:t>Single signs, not full sentences</a:t>
            </a:r>
            <a:endParaRPr lang="en-US" sz="2400" dirty="0"/>
          </a:p>
          <a:p>
            <a:pPr algn="l" marL="342900" indent="-342900">
              <a:spcAft>
                <a:spcPts val="1000"/>
              </a:spcAft>
              <a:buSzPct val="100000"/>
              <a:buChar char="•"/>
            </a:pPr>
            <a:r>
              <a:rPr lang="en-US" sz="1800" dirty="0">
                <a:solidFill>
                  <a:srgbClr val="F4F6F8"/>
                </a:solidFill>
              </a:rPr>
              <a:t>Lower accuracy on unseen signers (ASL 86%)</a:t>
            </a:r>
            <a:endParaRPr lang="en-US" sz="2400" dirty="0"/>
          </a:p>
          <a:p>
            <a:pPr algn="l" marL="342900" indent="-342900">
              <a:spcAft>
                <a:spcPts val="1000"/>
              </a:spcAft>
              <a:buSzPct val="100000"/>
              <a:buChar char="•"/>
            </a:pPr>
            <a:r>
              <a:rPr lang="en-US" sz="1800" dirty="0">
                <a:solidFill>
                  <a:srgbClr val="F4F6F8"/>
                </a:solidFill>
              </a:rPr>
              <a:t>The ISL test set is small</a:t>
            </a:r>
            <a:endParaRPr lang="en-US" sz="2400" dirty="0"/>
          </a:p>
        </p:txBody>
      </p:sp>
      <p:sp>
        <p:nvSpPr>
          <p:cNvPr id="5" name="next"/>
          <p:cNvSpPr/>
          <p:nvPr/>
        </p:nvSpPr>
        <p:spPr>
          <a:xfrm>
            <a:off x="6199632" y="1645920"/>
            <a:ext cx="5257800" cy="3108960"/>
          </a:xfrm>
          <a:prstGeom prst="roundRect">
            <a:avLst>
              <a:gd name="adj" fmla="val 3529"/>
            </a:avLst>
          </a:prstGeom>
          <a:solidFill>
            <a:srgbClr val="1B2A41"/>
          </a:solidFill>
          <a:ln/>
        </p:spPr>
      </p:sp>
      <p:sp>
        <p:nvSpPr>
          <p:cNvPr id="6" name="Text 4"/>
          <p:cNvSpPr txBox="1"/>
          <p:nvPr/>
        </p:nvSpPr>
        <p:spPr>
          <a:xfrm>
            <a:off x="6473952" y="1874520"/>
            <a:ext cx="4709160" cy="2743200"/>
          </a:xfrm>
          <a:prstGeom prst="rect">
            <a:avLst/>
          </a:prstGeom>
          <a:noFill/>
          <a:ln/>
        </p:spPr>
        <p:txBody>
          <a:bodyPr wrap="square" lIns="0" tIns="0" rIns="0" bIns="0" rtlCol="0" anchor="t"/>
          <a:lstStyle/>
          <a:p>
            <a:pPr algn="l" indent="0" marL="0">
              <a:spcAft>
                <a:spcPts val="1200"/>
              </a:spcAft>
              <a:buNone/>
            </a:pPr>
            <a:r>
              <a:rPr lang="en-US" sz="2400" b="1" dirty="0">
                <a:solidFill>
                  <a:srgbClr val="2BB5A5"/>
                </a:solidFill>
              </a:rPr>
              <a:t>Ideas for next steps</a:t>
            </a:r>
            <a:endParaRPr lang="en-US" sz="2400" dirty="0"/>
          </a:p>
          <a:p>
            <a:pPr algn="l" marL="342900" indent="-342900">
              <a:spcAft>
                <a:spcPts val="1000"/>
              </a:spcAft>
              <a:buSzPct val="100000"/>
              <a:buChar char="•"/>
            </a:pPr>
            <a:r>
              <a:rPr lang="en-US" sz="1800" dirty="0">
                <a:solidFill>
                  <a:srgbClr val="F4F6F8"/>
                </a:solidFill>
              </a:rPr>
              <a:t>More words and more signers</a:t>
            </a:r>
            <a:endParaRPr lang="en-US" sz="2400" dirty="0"/>
          </a:p>
          <a:p>
            <a:pPr algn="l" marL="342900" indent="-342900">
              <a:spcAft>
                <a:spcPts val="1000"/>
              </a:spcAft>
              <a:buSzPct val="100000"/>
              <a:buChar char="•"/>
            </a:pPr>
            <a:r>
              <a:rPr lang="en-US" sz="1800" dirty="0">
                <a:solidFill>
                  <a:srgbClr val="F4F6F8"/>
                </a:solidFill>
              </a:rPr>
              <a:t>Continuous signing, so sentences</a:t>
            </a:r>
            <a:endParaRPr lang="en-US" sz="2400" dirty="0"/>
          </a:p>
          <a:p>
            <a:pPr algn="l" marL="342900" indent="-342900">
              <a:spcAft>
                <a:spcPts val="1000"/>
              </a:spcAft>
              <a:buSzPct val="100000"/>
              <a:buChar char="•"/>
            </a:pPr>
            <a:r>
              <a:rPr lang="en-US" sz="1800" dirty="0">
                <a:solidFill>
                  <a:srgbClr val="F4F6F8"/>
                </a:solidFill>
              </a:rPr>
              <a:t>More ISL test data for firmer numbers</a:t>
            </a:r>
            <a:endParaRPr lang="en-US" sz="2400" dirty="0"/>
          </a:p>
        </p:txBody>
      </p:sp>
      <p:sp>
        <p:nvSpPr>
          <p:cNvPr id="7" name="Text 5"/>
          <p:cNvSpPr txBox="1"/>
          <p:nvPr/>
        </p:nvSpPr>
        <p:spPr>
          <a:xfrm>
            <a:off x="731520" y="5120640"/>
            <a:ext cx="10725912" cy="822960"/>
          </a:xfrm>
          <a:prstGeom prst="rect">
            <a:avLst/>
          </a:prstGeom>
          <a:noFill/>
          <a:ln/>
        </p:spPr>
        <p:txBody>
          <a:bodyPr wrap="square" lIns="0" tIns="0" rIns="0" bIns="0" rtlCol="0" anchor="t"/>
          <a:lstStyle/>
          <a:p>
            <a:pPr algn="l" indent="0" marL="0">
              <a:buNone/>
            </a:pPr>
            <a:r>
              <a:rPr lang="en-US" sz="3600" b="1" dirty="0">
                <a:solidFill>
                  <a:srgbClr val="F4F6F8"/>
                </a:solidFill>
              </a:rPr>
              <a:t>Thank you  ·  Questions?</a:t>
            </a:r>
            <a:endParaRPr lang="en-US" sz="3600" dirty="0"/>
          </a:p>
        </p:txBody>
      </p:sp>
    </p:spTree>
  </p:cSld>
  <p:clrMapOvr>
    <a:masterClrMapping/>
  </p:clrMapOvr>
</p:sld>
</file>

<file path=ppt/theme/theme1.xml><?xml version="1.0" encoding="utf-8"?>
<a:theme xmlns:a="http://schemas.openxmlformats.org/drawingml/2006/main" name="Sign Language">
  <a:themeElements>
    <a:clrScheme name="Sign Language">
      <a:dk1>
        <a:srgbClr val="0F1A2B"/>
      </a:dk1>
      <a:lt1>
        <a:srgbClr val="FFFFFF"/>
      </a:lt1>
      <a:dk2>
        <a:srgbClr val="1B2A41"/>
      </a:dk2>
      <a:lt2>
        <a:srgbClr val="F4F6F8"/>
      </a:lt2>
      <a:accent1>
        <a:srgbClr val="2BB5A5"/>
      </a:accent1>
      <a:accent2>
        <a:srgbClr val="0F766E"/>
      </a:accent2>
      <a:accent3>
        <a:srgbClr val="F2A93B"/>
      </a:accent3>
      <a:accent4>
        <a:srgbClr val="B45309"/>
      </a:accent4>
      <a:accent5>
        <a:srgbClr val="6C82A3"/>
      </a:accent5>
      <a:accent6>
        <a:srgbClr val="4A5568"/>
      </a:accent6>
      <a:hlink>
        <a:srgbClr val="0F766E"/>
      </a:hlink>
      <a:folHlink>
        <a:srgbClr val="6C82A3"/>
      </a:folHlink>
    </a:clrScheme>
    <a:fontScheme name="Sign Languag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ASL and ISL Sign Language Recognition</dc:title>
  <dc:subject>PptxGenJS Presentation</dc:subject>
  <dc:creator>Gulshan</dc:creator>
  <cp:lastModifiedBy>Gulshan</cp:lastModifiedBy>
  <cp:revision>1</cp:revision>
  <dcterms:created xsi:type="dcterms:W3CDTF">2026-10-27T19:29:16Z</dcterms:created>
  <dcterms:modified xsi:type="dcterms:W3CDTF">2026-10-27T19:29:16Z</dcterms:modified>
</cp:coreProperties>
</file>